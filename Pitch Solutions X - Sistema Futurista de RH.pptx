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rgbClr val="03EFF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03EFF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03EFF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rgbClr val="03EFF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926673"/>
            <a:ext cx="20080605" cy="777875"/>
          </a:xfrm>
          <a:custGeom>
            <a:avLst/>
            <a:gdLst/>
            <a:ahLst/>
            <a:cxnLst/>
            <a:rect l="l" t="t" r="r" b="b"/>
            <a:pathLst>
              <a:path w="20080605" h="777875">
                <a:moveTo>
                  <a:pt x="20080541" y="777463"/>
                </a:moveTo>
                <a:lnTo>
                  <a:pt x="0" y="77746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77463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2200" y="815809"/>
            <a:ext cx="9484081" cy="850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rgbClr val="03EFF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4214" y="2224796"/>
            <a:ext cx="8109584" cy="3694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Relationship Id="rId8" Type="http://schemas.openxmlformats.org/officeDocument/2006/relationships/image" Target="../media/image26.jpg"/><Relationship Id="rId9" Type="http://schemas.openxmlformats.org/officeDocument/2006/relationships/image" Target="../media/image27.jpg"/><Relationship Id="rId10" Type="http://schemas.openxmlformats.org/officeDocument/2006/relationships/image" Target="../media/image2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5173" y="864891"/>
            <a:ext cx="4151629" cy="79121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801745" algn="l"/>
              </a:tabLst>
            </a:pPr>
            <a:r>
              <a:rPr dirty="0" sz="5000" spc="-835">
                <a:solidFill>
                  <a:srgbClr val="00F2FD"/>
                </a:solidFill>
              </a:rPr>
              <a:t>)</a:t>
            </a:r>
            <a:r>
              <a:rPr dirty="0" sz="5000" spc="570">
                <a:solidFill>
                  <a:srgbClr val="00F2FD"/>
                </a:solidFill>
              </a:rPr>
              <a:t> </a:t>
            </a:r>
            <a:r>
              <a:rPr dirty="0" sz="5000" spc="-500"/>
              <a:t>SOLUTIONS</a:t>
            </a:r>
            <a:r>
              <a:rPr dirty="0" sz="5000"/>
              <a:t>	</a:t>
            </a:r>
            <a:r>
              <a:rPr dirty="0" sz="5000" spc="-755">
                <a:solidFill>
                  <a:srgbClr val="00F2F6"/>
                </a:solidFill>
              </a:rPr>
              <a:t>X</a:t>
            </a:r>
            <a:endParaRPr sz="5000"/>
          </a:p>
        </p:txBody>
      </p:sp>
      <p:sp>
        <p:nvSpPr>
          <p:cNvPr id="3" name="object 3" descr=""/>
          <p:cNvSpPr/>
          <p:nvPr/>
        </p:nvSpPr>
        <p:spPr>
          <a:xfrm>
            <a:off x="15706" y="2355949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5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A0A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43272" y="2159353"/>
            <a:ext cx="5377815" cy="594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700" spc="-125">
                <a:solidFill>
                  <a:srgbClr val="FFFFFF"/>
                </a:solidFill>
                <a:latin typeface="Courier New"/>
                <a:cs typeface="Courier New"/>
              </a:rPr>
              <a:t>OFUTURODORHDONEDTADO</a:t>
            </a:r>
            <a:endParaRPr sz="37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5706" y="3141265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706" y="3549630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706" y="3957994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5706" y="4711898"/>
            <a:ext cx="20088860" cy="236220"/>
            <a:chOff x="15706" y="4711898"/>
            <a:chExt cx="20088860" cy="23622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506" y="4719751"/>
              <a:ext cx="7798191" cy="22774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4711898"/>
              <a:ext cx="20088393" cy="235594"/>
            </a:xfrm>
            <a:prstGeom prst="rect">
              <a:avLst/>
            </a:prstGeom>
          </p:spPr>
        </p:pic>
      </p:grpSp>
      <p:sp>
        <p:nvSpPr>
          <p:cNvPr id="11" name="object 11" descr=""/>
          <p:cNvSpPr/>
          <p:nvPr/>
        </p:nvSpPr>
        <p:spPr>
          <a:xfrm>
            <a:off x="15706" y="5010318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4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5706" y="5528627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70E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5706" y="5842754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4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70E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89960" y="2968884"/>
            <a:ext cx="8188959" cy="3122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3025" marR="5080" indent="-3175">
              <a:lnSpc>
                <a:spcPct val="130700"/>
              </a:lnSpc>
              <a:spcBef>
                <a:spcPts val="95"/>
              </a:spcBef>
            </a:pPr>
            <a:r>
              <a:rPr dirty="0" sz="2050" spc="-25">
                <a:solidFill>
                  <a:srgbClr val="AEAEAE"/>
                </a:solidFill>
                <a:latin typeface="Arial MT"/>
                <a:cs typeface="Arial MT"/>
              </a:rPr>
              <a:t>Nossa</a:t>
            </a:r>
            <a:r>
              <a:rPr dirty="0" sz="2050" spc="6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FAFAF"/>
                </a:solidFill>
                <a:latin typeface="Arial MT"/>
                <a:cs typeface="Arial MT"/>
              </a:rPr>
              <a:t>inte</a:t>
            </a:r>
            <a:r>
              <a:rPr dirty="0" sz="2050" spc="-35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AAAAA"/>
                </a:solidFill>
                <a:latin typeface="Arial MT"/>
                <a:cs typeface="Arial MT"/>
              </a:rPr>
              <a:t>lig</a:t>
            </a:r>
            <a:r>
              <a:rPr dirty="0" sz="2050" spc="-37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B3B3B3"/>
                </a:solidFill>
                <a:latin typeface="Arial MT"/>
                <a:cs typeface="Arial MT"/>
              </a:rPr>
              <a:t>ôncia</a:t>
            </a:r>
            <a:r>
              <a:rPr dirty="0" sz="2050" spc="-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050" spc="-60">
                <a:solidFill>
                  <a:srgbClr val="B5B5B5"/>
                </a:solidFill>
                <a:latin typeface="Arial MT"/>
                <a:cs typeface="Arial MT"/>
              </a:rPr>
              <a:t>art</a:t>
            </a:r>
            <a:r>
              <a:rPr dirty="0" sz="2050" spc="-34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AFAFAF"/>
                </a:solidFill>
                <a:latin typeface="Arial MT"/>
                <a:cs typeface="Arial MT"/>
              </a:rPr>
              <a:t>inc</a:t>
            </a:r>
            <a:r>
              <a:rPr dirty="0" sz="2050" spc="-29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EAEAE"/>
                </a:solidFill>
                <a:latin typeface="Arial MT"/>
                <a:cs typeface="Arial MT"/>
              </a:rPr>
              <a:t>ial</a:t>
            </a:r>
            <a:r>
              <a:rPr dirty="0" sz="2050" spc="-2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050" spc="50">
                <a:solidFill>
                  <a:srgbClr val="B3B3B3"/>
                </a:solidFill>
                <a:latin typeface="Arial MT"/>
                <a:cs typeface="Arial MT"/>
              </a:rPr>
              <a:t>de</a:t>
            </a:r>
            <a:r>
              <a:rPr dirty="0" sz="2050" spc="-3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AAAAA"/>
                </a:solidFill>
                <a:latin typeface="Arial MT"/>
                <a:cs typeface="Arial MT"/>
              </a:rPr>
              <a:t>última</a:t>
            </a:r>
            <a:r>
              <a:rPr dirty="0" sz="2050" spc="5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114">
                <a:solidFill>
                  <a:srgbClr val="9CAEBD"/>
                </a:solidFill>
                <a:latin typeface="Arial MT"/>
                <a:cs typeface="Arial MT"/>
              </a:rPr>
              <a:t>g</a:t>
            </a:r>
            <a:r>
              <a:rPr dirty="0" sz="2050" spc="-114">
                <a:solidFill>
                  <a:srgbClr val="AFAFAF"/>
                </a:solidFill>
                <a:latin typeface="Arial MT"/>
                <a:cs typeface="Arial MT"/>
              </a:rPr>
              <a:t>erașáo</a:t>
            </a:r>
            <a:r>
              <a:rPr dirty="0" sz="2050" spc="-1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 spc="-100">
                <a:solidFill>
                  <a:srgbClr val="B1B1B1"/>
                </a:solidFill>
                <a:latin typeface="Arial MT"/>
                <a:cs typeface="Arial MT"/>
              </a:rPr>
              <a:t>re</a:t>
            </a:r>
            <a:r>
              <a:rPr dirty="0" sz="2050" spc="-28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050" spc="-350">
                <a:solidFill>
                  <a:srgbClr val="AFAFAF"/>
                </a:solidFill>
                <a:latin typeface="Arial MT"/>
                <a:cs typeface="Arial MT"/>
              </a:rPr>
              <a:t>soİve</a:t>
            </a:r>
            <a:r>
              <a:rPr dirty="0" sz="2050" spc="5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 spc="55">
                <a:solidFill>
                  <a:srgbClr val="AFAFAF"/>
                </a:solidFill>
                <a:latin typeface="Arial MT"/>
                <a:cs typeface="Arial MT"/>
              </a:rPr>
              <a:t>a</a:t>
            </a:r>
            <a:r>
              <a:rPr dirty="0" sz="2050" spc="-13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FAFAF"/>
                </a:solidFill>
                <a:latin typeface="Arial MT"/>
                <a:cs typeface="Arial MT"/>
              </a:rPr>
              <a:t>g</a:t>
            </a:r>
            <a:r>
              <a:rPr dirty="0" sz="2050">
                <a:solidFill>
                  <a:srgbClr val="A8A8A8"/>
                </a:solidFill>
                <a:latin typeface="Arial MT"/>
                <a:cs typeface="Arial MT"/>
              </a:rPr>
              <a:t>arg</a:t>
            </a:r>
            <a:r>
              <a:rPr dirty="0" sz="2050" spc="-32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AFAFAF"/>
                </a:solidFill>
                <a:latin typeface="Arial MT"/>
                <a:cs typeface="Arial MT"/>
              </a:rPr>
              <a:t>alo </a:t>
            </a:r>
            <a:r>
              <a:rPr dirty="0" sz="2050" spc="-40">
                <a:solidFill>
                  <a:srgbClr val="B5B5B5"/>
                </a:solidFill>
                <a:latin typeface="Arial MT"/>
                <a:cs typeface="Arial MT"/>
              </a:rPr>
              <a:t>oDerac</a:t>
            </a:r>
            <a:r>
              <a:rPr dirty="0" sz="2050" spc="-12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155">
                <a:solidFill>
                  <a:srgbClr val="A7A7A7"/>
                </a:solidFill>
                <a:latin typeface="Arial MT"/>
                <a:cs typeface="Arial MT"/>
              </a:rPr>
              <a:t>sonal</a:t>
            </a:r>
            <a:r>
              <a:rPr dirty="0" sz="2050" spc="85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8A8A8"/>
                </a:solidFill>
                <a:latin typeface="Arial MT"/>
                <a:cs typeface="Arial MT"/>
              </a:rPr>
              <a:t>e</a:t>
            </a:r>
            <a:r>
              <a:rPr dirty="0" sz="2050" spc="2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165">
                <a:solidFill>
                  <a:srgbClr val="A8A8A8"/>
                </a:solidFill>
                <a:latin typeface="Arial MT"/>
                <a:cs typeface="Arial MT"/>
              </a:rPr>
              <a:t>a</a:t>
            </a:r>
            <a:r>
              <a:rPr dirty="0" sz="2050" spc="-4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B5B5B5"/>
                </a:solidFill>
                <a:latin typeface="Arial MT"/>
                <a:cs typeface="Arial MT"/>
              </a:rPr>
              <a:t>perda</a:t>
            </a:r>
            <a:r>
              <a:rPr dirty="0" sz="2050" spc="-1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50">
                <a:solidFill>
                  <a:srgbClr val="999999"/>
                </a:solidFill>
                <a:latin typeface="Arial MT"/>
                <a:cs typeface="Arial MT"/>
              </a:rPr>
              <a:t>de</a:t>
            </a:r>
            <a:r>
              <a:rPr dirty="0" sz="2050" spc="7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B1B1B1"/>
                </a:solidFill>
                <a:latin typeface="Arial MT"/>
                <a:cs typeface="Arial MT"/>
              </a:rPr>
              <a:t>talentos</a:t>
            </a:r>
            <a:r>
              <a:rPr dirty="0" sz="2050" spc="2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050" spc="-30">
                <a:solidFill>
                  <a:srgbClr val="ACACAC"/>
                </a:solidFill>
                <a:latin typeface="Arial MT"/>
                <a:cs typeface="Arial MT"/>
              </a:rPr>
              <a:t>c</a:t>
            </a:r>
            <a:r>
              <a:rPr dirty="0" sz="2050" spc="-32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ACACAC"/>
                </a:solidFill>
                <a:latin typeface="Arial MT"/>
                <a:cs typeface="Arial MT"/>
              </a:rPr>
              <a:t>ritïc</a:t>
            </a:r>
            <a:r>
              <a:rPr dirty="0" sz="2050" spc="-28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FAFAF"/>
                </a:solidFill>
                <a:latin typeface="Arial MT"/>
                <a:cs typeface="Arial MT"/>
              </a:rPr>
              <a:t>as</a:t>
            </a:r>
            <a:r>
              <a:rPr dirty="0" sz="2050" spc="-3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 spc="-110">
                <a:solidFill>
                  <a:srgbClr val="ACACAC"/>
                </a:solidFill>
                <a:latin typeface="Arial MT"/>
                <a:cs typeface="Arial MT"/>
              </a:rPr>
              <a:t>na</a:t>
            </a:r>
            <a:r>
              <a:rPr dirty="0" sz="2050" spc="-1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B8B8B8"/>
                </a:solidFill>
                <a:latin typeface="Arial MT"/>
                <a:cs typeface="Arial MT"/>
              </a:rPr>
              <a:t>sua</a:t>
            </a:r>
            <a:r>
              <a:rPr dirty="0" sz="2050" spc="-15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B1B1B1"/>
                </a:solidFill>
                <a:latin typeface="Arial MT"/>
                <a:cs typeface="Arial MT"/>
              </a:rPr>
              <a:t>org</a:t>
            </a:r>
            <a:r>
              <a:rPr dirty="0" sz="2050" spc="-35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050" spc="-60">
                <a:solidFill>
                  <a:srgbClr val="B5B5B5"/>
                </a:solidFill>
                <a:latin typeface="Arial MT"/>
                <a:cs typeface="Arial MT"/>
              </a:rPr>
              <a:t>an</a:t>
            </a:r>
            <a:r>
              <a:rPr dirty="0" sz="2050" spc="-60">
                <a:solidFill>
                  <a:srgbClr val="B3B3B3"/>
                </a:solidFill>
                <a:latin typeface="Arial MT"/>
                <a:cs typeface="Arial MT"/>
              </a:rPr>
              <a:t>izaç</a:t>
            </a:r>
            <a:r>
              <a:rPr dirty="0" sz="2050" spc="-25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B5B5B5"/>
                </a:solidFill>
                <a:latin typeface="Arial MT"/>
                <a:cs typeface="Arial MT"/>
              </a:rPr>
              <a:t>áo</a:t>
            </a:r>
            <a:r>
              <a:rPr dirty="0" sz="2050" spc="-8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235">
                <a:solidFill>
                  <a:srgbClr val="A8A8A8"/>
                </a:solidFill>
                <a:latin typeface="Arial MT"/>
                <a:cs typeface="Arial MT"/>
              </a:rPr>
              <a:t>a</a:t>
            </a:r>
            <a:r>
              <a:rPr dirty="0" sz="2050" spc="-32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ACACAC"/>
                </a:solidFill>
                <a:latin typeface="Arial MT"/>
                <a:cs typeface="Arial MT"/>
              </a:rPr>
              <a:t>travé</a:t>
            </a:r>
            <a:r>
              <a:rPr dirty="0" sz="2050" spc="-28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A5A5A5"/>
                </a:solidFill>
                <a:latin typeface="Arial MT"/>
                <a:cs typeface="Arial MT"/>
              </a:rPr>
              <a:t>s </a:t>
            </a:r>
            <a:r>
              <a:rPr dirty="0" sz="2050" spc="50">
                <a:solidFill>
                  <a:srgbClr val="ACACAC"/>
                </a:solidFill>
                <a:latin typeface="Arial MT"/>
                <a:cs typeface="Arial MT"/>
              </a:rPr>
              <a:t>de</a:t>
            </a:r>
            <a:r>
              <a:rPr dirty="0" sz="2050" spc="11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3A3A3"/>
                </a:solidFill>
                <a:latin typeface="Arial MT"/>
                <a:cs typeface="Arial MT"/>
              </a:rPr>
              <a:t>ï</a:t>
            </a:r>
            <a:r>
              <a:rPr dirty="0" sz="2050">
                <a:solidFill>
                  <a:srgbClr val="B8B8B8"/>
                </a:solidFill>
                <a:latin typeface="Arial MT"/>
                <a:cs typeface="Arial MT"/>
              </a:rPr>
              <a:t>nte</a:t>
            </a:r>
            <a:r>
              <a:rPr dirty="0" sz="2050" spc="25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FAFAF"/>
                </a:solidFill>
                <a:latin typeface="Arial MT"/>
                <a:cs typeface="Arial MT"/>
              </a:rPr>
              <a:t>ïg</a:t>
            </a:r>
            <a:r>
              <a:rPr dirty="0" sz="2050">
                <a:solidFill>
                  <a:srgbClr val="9AA3B3"/>
                </a:solidFill>
                <a:latin typeface="Arial MT"/>
                <a:cs typeface="Arial MT"/>
              </a:rPr>
              <a:t>ô</a:t>
            </a:r>
            <a:r>
              <a:rPr dirty="0" sz="2050">
                <a:solidFill>
                  <a:srgbClr val="AAAAAA"/>
                </a:solidFill>
                <a:latin typeface="Arial MT"/>
                <a:cs typeface="Arial MT"/>
              </a:rPr>
              <a:t>nc</a:t>
            </a:r>
            <a:r>
              <a:rPr dirty="0" sz="2050" spc="-18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235">
                <a:solidFill>
                  <a:srgbClr val="A7A7A7"/>
                </a:solidFill>
                <a:latin typeface="Arial MT"/>
                <a:cs typeface="Arial MT"/>
              </a:rPr>
              <a:t>ïa</a:t>
            </a:r>
            <a:r>
              <a:rPr dirty="0" sz="205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050" spc="-335">
                <a:solidFill>
                  <a:srgbClr val="9AA3B3"/>
                </a:solidFill>
                <a:latin typeface="Arial MT"/>
                <a:cs typeface="Arial MT"/>
              </a:rPr>
              <a:t>cue</a:t>
            </a:r>
            <a:r>
              <a:rPr dirty="0" sz="2050" spc="75">
                <a:solidFill>
                  <a:srgbClr val="9AA3B3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AFAFAF"/>
                </a:solidFill>
                <a:latin typeface="Arial MT"/>
                <a:cs typeface="Arial MT"/>
              </a:rPr>
              <a:t>cïados</a:t>
            </a:r>
            <a:r>
              <a:rPr dirty="0" sz="2050" spc="3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 spc="80">
                <a:solidFill>
                  <a:srgbClr val="A8A8A8"/>
                </a:solidFill>
                <a:latin typeface="Arial MT"/>
                <a:cs typeface="Arial MT"/>
              </a:rPr>
              <a:t>p</a:t>
            </a:r>
            <a:r>
              <a:rPr dirty="0" sz="2050" spc="80">
                <a:solidFill>
                  <a:srgbClr val="AFAFAF"/>
                </a:solidFill>
                <a:latin typeface="Arial MT"/>
                <a:cs typeface="Arial MT"/>
              </a:rPr>
              <a:t>red</a:t>
            </a:r>
            <a:r>
              <a:rPr dirty="0" sz="2050" spc="-33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 spc="-70">
                <a:solidFill>
                  <a:srgbClr val="AAAAAA"/>
                </a:solidFill>
                <a:latin typeface="Arial MT"/>
                <a:cs typeface="Arial MT"/>
              </a:rPr>
              <a:t>ïtïva</a:t>
            </a:r>
            <a:r>
              <a:rPr dirty="0" sz="2050" spc="-4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9AA3B3"/>
                </a:solidFill>
                <a:latin typeface="Arial MT"/>
                <a:cs typeface="Arial MT"/>
              </a:rPr>
              <a:t>e</a:t>
            </a:r>
            <a:r>
              <a:rPr dirty="0" sz="2050">
                <a:solidFill>
                  <a:srgbClr val="AAAAAA"/>
                </a:solidFill>
                <a:latin typeface="Arial MT"/>
                <a:cs typeface="Arial MT"/>
              </a:rPr>
              <a:t>m</a:t>
            </a:r>
            <a:r>
              <a:rPr dirty="0" sz="2050" spc="-2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CACAC"/>
                </a:solidFill>
                <a:latin typeface="Arial MT"/>
                <a:cs typeface="Arial MT"/>
              </a:rPr>
              <a:t>te</a:t>
            </a:r>
            <a:r>
              <a:rPr dirty="0" sz="2050">
                <a:solidFill>
                  <a:srgbClr val="A3A3A3"/>
                </a:solidFill>
                <a:latin typeface="Arial MT"/>
                <a:cs typeface="Arial MT"/>
              </a:rPr>
              <a:t>m</a:t>
            </a:r>
            <a:r>
              <a:rPr dirty="0" sz="2050">
                <a:solidFill>
                  <a:srgbClr val="A8A8A8"/>
                </a:solidFill>
                <a:latin typeface="Arial MT"/>
                <a:cs typeface="Arial MT"/>
              </a:rPr>
              <a:t>Do</a:t>
            </a:r>
            <a:r>
              <a:rPr dirty="0" sz="2050" spc="-10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AFAFAF"/>
                </a:solidFill>
                <a:latin typeface="Arial MT"/>
                <a:cs typeface="Arial MT"/>
              </a:rPr>
              <a:t>real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2050">
              <a:latin typeface="Arial MT"/>
              <a:cs typeface="Arial MT"/>
            </a:endParaRPr>
          </a:p>
          <a:p>
            <a:pPr marL="513080">
              <a:lnSpc>
                <a:spcPct val="100000"/>
              </a:lnSpc>
              <a:tabLst>
                <a:tab pos="4690110" algn="l"/>
              </a:tabLst>
            </a:pPr>
            <a:r>
              <a:rPr dirty="0" sz="2050" spc="-10">
                <a:solidFill>
                  <a:srgbClr val="AEAEAE"/>
                </a:solidFill>
                <a:latin typeface="Arial MT"/>
                <a:cs typeface="Arial MT"/>
              </a:rPr>
              <a:t>decis</a:t>
            </a:r>
            <a:r>
              <a:rPr dirty="0" sz="2050" spc="-10">
                <a:solidFill>
                  <a:srgbClr val="AAAAAA"/>
                </a:solidFill>
                <a:latin typeface="Arial MT"/>
                <a:cs typeface="Arial MT"/>
              </a:rPr>
              <a:t>ões</a:t>
            </a:r>
            <a:r>
              <a:rPr dirty="0" sz="2050" spc="-13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175">
                <a:solidFill>
                  <a:srgbClr val="AAAAAA"/>
                </a:solidFill>
                <a:latin typeface="Arial MT"/>
                <a:cs typeface="Arial MT"/>
              </a:rPr>
              <a:t>ra</a:t>
            </a:r>
            <a:r>
              <a:rPr dirty="0" sz="2050" spc="-28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30">
                <a:solidFill>
                  <a:srgbClr val="A8A8A8"/>
                </a:solidFill>
                <a:latin typeface="Arial MT"/>
                <a:cs typeface="Arial MT"/>
              </a:rPr>
              <a:t>oid</a:t>
            </a:r>
            <a:r>
              <a:rPr dirty="0" sz="2050" spc="-30">
                <a:solidFill>
                  <a:srgbClr val="AEAEAE"/>
                </a:solidFill>
                <a:latin typeface="Arial MT"/>
                <a:cs typeface="Arial MT"/>
              </a:rPr>
              <a:t>as</a:t>
            </a:r>
            <a:r>
              <a:rPr dirty="0" sz="2050" spc="-114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050" spc="-165">
                <a:solidFill>
                  <a:srgbClr val="AAAAAA"/>
                </a:solidFill>
                <a:latin typeface="Arial MT"/>
                <a:cs typeface="Arial MT"/>
              </a:rPr>
              <a:t>e</a:t>
            </a:r>
            <a:r>
              <a:rPr dirty="0" sz="2050" spc="-9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B1B1B1"/>
                </a:solidFill>
                <a:latin typeface="Arial MT"/>
                <a:cs typeface="Arial MT"/>
              </a:rPr>
              <a:t>taxas</a:t>
            </a:r>
            <a:r>
              <a:rPr dirty="0" sz="2050" spc="-3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B1B1B1"/>
                </a:solidFill>
                <a:latin typeface="Arial MT"/>
                <a:cs typeface="Arial MT"/>
              </a:rPr>
              <a:t>de</a:t>
            </a:r>
            <a:r>
              <a:rPr dirty="0" sz="2050" spc="-11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FAFAF"/>
                </a:solidFill>
                <a:latin typeface="Arial MT"/>
                <a:cs typeface="Arial MT"/>
              </a:rPr>
              <a:t>tu</a:t>
            </a:r>
            <a:r>
              <a:rPr dirty="0" sz="2050" spc="-10">
                <a:solidFill>
                  <a:srgbClr val="ACACAC"/>
                </a:solidFill>
                <a:latin typeface="Arial MT"/>
                <a:cs typeface="Arial MT"/>
              </a:rPr>
              <a:t>move</a:t>
            </a:r>
            <a:r>
              <a:rPr dirty="0" sz="2050">
                <a:solidFill>
                  <a:srgbClr val="ACACAC"/>
                </a:solidFill>
                <a:latin typeface="Arial MT"/>
                <a:cs typeface="Arial MT"/>
              </a:rPr>
              <a:t>	</a:t>
            </a:r>
            <a:r>
              <a:rPr dirty="0" sz="2050" spc="-120">
                <a:solidFill>
                  <a:srgbClr val="B3B3B3"/>
                </a:solidFill>
                <a:latin typeface="Arial MT"/>
                <a:cs typeface="Arial MT"/>
              </a:rPr>
              <a:t>eleva</a:t>
            </a:r>
            <a:r>
              <a:rPr dirty="0" sz="2050" spc="-21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ACACAC"/>
                </a:solidFill>
                <a:latin typeface="Arial MT"/>
                <a:cs typeface="Arial MT"/>
              </a:rPr>
              <a:t>das</a:t>
            </a:r>
            <a:endParaRPr sz="2050">
              <a:latin typeface="Arial MT"/>
              <a:cs typeface="Arial MT"/>
            </a:endParaRPr>
          </a:p>
          <a:p>
            <a:pPr marL="511809" marR="217170" indent="-499745">
              <a:lnSpc>
                <a:spcPts val="2350"/>
              </a:lnSpc>
              <a:spcBef>
                <a:spcPts val="1914"/>
              </a:spcBef>
              <a:tabLst>
                <a:tab pos="500380" algn="l"/>
              </a:tabLst>
            </a:pPr>
            <a:r>
              <a:rPr dirty="0" sz="2200" spc="10">
                <a:solidFill>
                  <a:srgbClr val="00F4E4"/>
                </a:solidFill>
                <a:latin typeface="Arial MT"/>
                <a:cs typeface="Arial MT"/>
              </a:rPr>
              <a:t>0</a:t>
            </a:r>
            <a:r>
              <a:rPr dirty="0" sz="2200">
                <a:solidFill>
                  <a:srgbClr val="00F4E4"/>
                </a:solidFill>
                <a:latin typeface="Arial MT"/>
                <a:cs typeface="Arial MT"/>
              </a:rPr>
              <a:t>	</a:t>
            </a:r>
            <a:r>
              <a:rPr dirty="0" sz="2200" spc="-70">
                <a:solidFill>
                  <a:srgbClr val="007574"/>
                </a:solidFill>
                <a:latin typeface="Arial MT"/>
                <a:cs typeface="Arial MT"/>
              </a:rPr>
              <a:t>Proposta</a:t>
            </a:r>
            <a:r>
              <a:rPr dirty="0" sz="2200" spc="-85">
                <a:solidFill>
                  <a:srgbClr val="007574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00384F"/>
                </a:solidFill>
                <a:latin typeface="Arial MT"/>
                <a:cs typeface="Arial MT"/>
              </a:rPr>
              <a:t>de</a:t>
            </a:r>
            <a:r>
              <a:rPr dirty="0" sz="2200" spc="-155">
                <a:solidFill>
                  <a:srgbClr val="00384F"/>
                </a:solidFill>
                <a:latin typeface="Arial MT"/>
                <a:cs typeface="Arial MT"/>
              </a:rPr>
              <a:t> </a:t>
            </a:r>
            <a:r>
              <a:rPr dirty="0" sz="2200" spc="-135">
                <a:solidFill>
                  <a:srgbClr val="004641"/>
                </a:solidFill>
                <a:latin typeface="Arial MT"/>
                <a:cs typeface="Arial MT"/>
              </a:rPr>
              <a:t>Valor:</a:t>
            </a:r>
            <a:r>
              <a:rPr dirty="0" sz="2200" spc="-60">
                <a:solidFill>
                  <a:srgbClr val="004641"/>
                </a:solidFill>
                <a:latin typeface="Arial MT"/>
                <a:cs typeface="Arial MT"/>
              </a:rPr>
              <a:t> </a:t>
            </a:r>
            <a:r>
              <a:rPr dirty="0" sz="2200" spc="-95">
                <a:solidFill>
                  <a:srgbClr val="B1B1B1"/>
                </a:solidFill>
                <a:latin typeface="Arial MT"/>
                <a:cs typeface="Arial MT"/>
              </a:rPr>
              <a:t>Automatizacáo</a:t>
            </a:r>
            <a:r>
              <a:rPr dirty="0" sz="2200" spc="2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200" spc="-125">
                <a:solidFill>
                  <a:srgbClr val="ACACAC"/>
                </a:solidFill>
                <a:latin typeface="Arial MT"/>
                <a:cs typeface="Arial MT"/>
              </a:rPr>
              <a:t>de </a:t>
            </a:r>
            <a:r>
              <a:rPr dirty="0" sz="2200" spc="-100">
                <a:solidFill>
                  <a:srgbClr val="AEAEAE"/>
                </a:solidFill>
                <a:latin typeface="Arial MT"/>
                <a:cs typeface="Arial MT"/>
              </a:rPr>
              <a:t>90%</a:t>
            </a:r>
            <a:r>
              <a:rPr dirty="0" sz="2200" spc="-6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200" spc="-170">
                <a:solidFill>
                  <a:srgbClr val="B1B1B1"/>
                </a:solidFill>
                <a:latin typeface="Arial MT"/>
                <a:cs typeface="Arial MT"/>
              </a:rPr>
              <a:t>da</a:t>
            </a:r>
            <a:r>
              <a:rPr dirty="0" sz="2200" spc="-3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200" spc="-65">
                <a:solidFill>
                  <a:srgbClr val="ACACAC"/>
                </a:solidFill>
                <a:latin typeface="Arial MT"/>
                <a:cs typeface="Arial MT"/>
              </a:rPr>
              <a:t>oseracáo</a:t>
            </a:r>
            <a:r>
              <a:rPr dirty="0" sz="2200" spc="1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ACACAC"/>
                </a:solidFill>
                <a:latin typeface="Arial MT"/>
                <a:cs typeface="Arial MT"/>
              </a:rPr>
              <a:t>e </a:t>
            </a:r>
            <a:r>
              <a:rPr dirty="0" sz="2200" spc="-70">
                <a:solidFill>
                  <a:srgbClr val="B5B5B5"/>
                </a:solidFill>
                <a:latin typeface="Arial MT"/>
                <a:cs typeface="Arial MT"/>
              </a:rPr>
              <a:t>antecioacao</a:t>
            </a:r>
            <a:r>
              <a:rPr dirty="0" sz="2200" spc="-8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000A1A"/>
                </a:solidFill>
                <a:latin typeface="Arial MT"/>
                <a:cs typeface="Arial MT"/>
              </a:rPr>
              <a:t>de</a:t>
            </a:r>
            <a:r>
              <a:rPr dirty="0" sz="2200" spc="-160">
                <a:solidFill>
                  <a:srgbClr val="000A1A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AFAFAF"/>
                </a:solidFill>
                <a:latin typeface="Arial MT"/>
                <a:cs typeface="Arial MT"/>
              </a:rPr>
              <a:t>at</a:t>
            </a:r>
            <a:r>
              <a:rPr dirty="0" sz="2200" spc="-60">
                <a:solidFill>
                  <a:srgbClr val="AAAAAA"/>
                </a:solidFill>
                <a:latin typeface="Arial MT"/>
                <a:cs typeface="Arial MT"/>
              </a:rPr>
              <a:t>ritos</a:t>
            </a:r>
            <a:r>
              <a:rPr dirty="0" sz="2200" spc="-7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AFAFAF"/>
                </a:solidFill>
                <a:latin typeface="Arial MT"/>
                <a:cs typeface="Arial MT"/>
              </a:rPr>
              <a:t>de</a:t>
            </a:r>
            <a:r>
              <a:rPr dirty="0" sz="2200" spc="-17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676D7B"/>
                </a:solidFill>
                <a:latin typeface="Arial MT"/>
                <a:cs typeface="Arial MT"/>
              </a:rPr>
              <a:t>clim</a:t>
            </a:r>
            <a:r>
              <a:rPr dirty="0" sz="2200" spc="-140">
                <a:solidFill>
                  <a:srgbClr val="9195A8"/>
                </a:solidFill>
                <a:latin typeface="Arial MT"/>
                <a:cs typeface="Arial MT"/>
              </a:rPr>
              <a:t>a</a:t>
            </a:r>
            <a:r>
              <a:rPr dirty="0" sz="2200" spc="-50">
                <a:solidFill>
                  <a:srgbClr val="9195A8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B3B3B3"/>
                </a:solidFill>
                <a:latin typeface="Arial MT"/>
                <a:cs typeface="Arial MT"/>
              </a:rPr>
              <a:t>coroorativo</a:t>
            </a:r>
            <a:r>
              <a:rPr dirty="0" sz="2200" spc="5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A8A8A8"/>
                </a:solidFill>
                <a:latin typeface="Arial MT"/>
                <a:cs typeface="Arial MT"/>
              </a:rPr>
              <a:t>antes</a:t>
            </a:r>
            <a:r>
              <a:rPr dirty="0" sz="2200" spc="-3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AEAEAE"/>
                </a:solidFill>
                <a:latin typeface="Arial MT"/>
                <a:cs typeface="Arial MT"/>
              </a:rPr>
              <a:t>aue</a:t>
            </a:r>
            <a:r>
              <a:rPr dirty="0" sz="2200" spc="-14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B1B1B1"/>
                </a:solidFill>
                <a:latin typeface="Arial MT"/>
                <a:cs typeface="Arial MT"/>
              </a:rPr>
              <a:t>acontecam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  <a:tabLst>
                <a:tab pos="4775835" algn="l"/>
              </a:tabLst>
            </a:pPr>
            <a:r>
              <a:rPr dirty="0" sz="5250" spc="-875">
                <a:solidFill>
                  <a:srgbClr val="00F2FD"/>
                </a:solidFill>
              </a:rPr>
              <a:t>)</a:t>
            </a:r>
            <a:r>
              <a:rPr dirty="0" sz="5250" spc="430">
                <a:solidFill>
                  <a:srgbClr val="00F2FD"/>
                </a:solidFill>
              </a:rPr>
              <a:t> </a:t>
            </a:r>
            <a:r>
              <a:rPr dirty="0" sz="5250" spc="-535">
                <a:solidFill>
                  <a:srgbClr val="0AEBFF"/>
                </a:solidFill>
              </a:rPr>
              <a:t>PÚBLICO-</a:t>
            </a:r>
            <a:r>
              <a:rPr dirty="0" sz="5250" spc="-620">
                <a:solidFill>
                  <a:srgbClr val="0AEBFF"/>
                </a:solidFill>
              </a:rPr>
              <a:t>ALVO</a:t>
            </a:r>
            <a:r>
              <a:rPr dirty="0" sz="5250">
                <a:solidFill>
                  <a:srgbClr val="0AEBFF"/>
                </a:solidFill>
              </a:rPr>
              <a:t>	</a:t>
            </a:r>
            <a:r>
              <a:rPr dirty="0" sz="5250" spc="-1120">
                <a:solidFill>
                  <a:srgbClr val="05EDFF"/>
                </a:solidFill>
              </a:rPr>
              <a:t>E</a:t>
            </a:r>
            <a:r>
              <a:rPr dirty="0" sz="5250" spc="280">
                <a:solidFill>
                  <a:srgbClr val="05EDFF"/>
                </a:solidFill>
              </a:rPr>
              <a:t> </a:t>
            </a:r>
            <a:r>
              <a:rPr dirty="0" sz="5250" spc="-760">
                <a:solidFill>
                  <a:srgbClr val="00F2FB"/>
                </a:solidFill>
              </a:rPr>
              <a:t>SEGMENTAÇÃO</a:t>
            </a:r>
            <a:endParaRPr sz="5250"/>
          </a:p>
        </p:txBody>
      </p:sp>
      <p:sp>
        <p:nvSpPr>
          <p:cNvPr id="3" name="object 3" descr=""/>
          <p:cNvSpPr/>
          <p:nvPr/>
        </p:nvSpPr>
        <p:spPr>
          <a:xfrm>
            <a:off x="15706" y="3345447"/>
            <a:ext cx="20080605" cy="683260"/>
          </a:xfrm>
          <a:custGeom>
            <a:avLst/>
            <a:gdLst/>
            <a:ahLst/>
            <a:cxnLst/>
            <a:rect l="l" t="t" r="r" b="b"/>
            <a:pathLst>
              <a:path w="20080605" h="683260">
                <a:moveTo>
                  <a:pt x="20080541" y="683225"/>
                </a:moveTo>
                <a:lnTo>
                  <a:pt x="0" y="68322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83225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706" y="4382065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39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706" y="4759017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706" y="5135969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706" y="5512921"/>
            <a:ext cx="20080605" cy="212090"/>
          </a:xfrm>
          <a:custGeom>
            <a:avLst/>
            <a:gdLst/>
            <a:ahLst/>
            <a:cxnLst/>
            <a:rect l="l" t="t" r="r" b="b"/>
            <a:pathLst>
              <a:path w="20080605" h="212089">
                <a:moveTo>
                  <a:pt x="20080541" y="212035"/>
                </a:moveTo>
                <a:lnTo>
                  <a:pt x="0" y="21203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12035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731446" y="3560489"/>
            <a:ext cx="8322945" cy="22174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73685">
              <a:lnSpc>
                <a:spcPct val="100000"/>
              </a:lnSpc>
              <a:spcBef>
                <a:spcPts val="90"/>
              </a:spcBef>
              <a:tabLst>
                <a:tab pos="703580" algn="l"/>
              </a:tabLst>
            </a:pPr>
            <a:r>
              <a:rPr dirty="0" sz="3100" spc="-415">
                <a:solidFill>
                  <a:srgbClr val="C65BF6"/>
                </a:solidFill>
                <a:latin typeface="Arial MT"/>
                <a:cs typeface="Arial MT"/>
              </a:rPr>
              <a:t>o</a:t>
            </a:r>
            <a:r>
              <a:rPr dirty="0" sz="3100">
                <a:solidFill>
                  <a:srgbClr val="C65BF6"/>
                </a:solidFill>
                <a:latin typeface="Arial MT"/>
                <a:cs typeface="Arial MT"/>
              </a:rPr>
              <a:t>	</a:t>
            </a:r>
            <a:r>
              <a:rPr dirty="0" sz="3100" spc="-275">
                <a:solidFill>
                  <a:srgbClr val="BF54F2"/>
                </a:solidFill>
                <a:latin typeface="Arial MT"/>
                <a:cs typeface="Arial MT"/>
              </a:rPr>
              <a:t>PEBFIL</a:t>
            </a:r>
            <a:r>
              <a:rPr dirty="0" sz="3100" spc="380">
                <a:solidFill>
                  <a:srgbClr val="BF54F2"/>
                </a:solidFill>
                <a:latin typeface="Arial MT"/>
                <a:cs typeface="Arial MT"/>
              </a:rPr>
              <a:t> </a:t>
            </a:r>
            <a:r>
              <a:rPr dirty="0" sz="3100" spc="-585">
                <a:solidFill>
                  <a:srgbClr val="C656F9"/>
                </a:solidFill>
                <a:latin typeface="Arial MT"/>
                <a:cs typeface="Arial MT"/>
              </a:rPr>
              <a:t>DE</a:t>
            </a:r>
            <a:r>
              <a:rPr dirty="0" sz="3100" spc="330">
                <a:solidFill>
                  <a:srgbClr val="C656F9"/>
                </a:solidFill>
                <a:latin typeface="Arial MT"/>
                <a:cs typeface="Arial MT"/>
              </a:rPr>
              <a:t> </a:t>
            </a:r>
            <a:r>
              <a:rPr dirty="0" sz="3100" spc="-509">
                <a:solidFill>
                  <a:srgbClr val="BF54FF"/>
                </a:solidFill>
                <a:latin typeface="Arial MT"/>
                <a:cs typeface="Arial MT"/>
              </a:rPr>
              <a:t>COM</a:t>
            </a:r>
            <a:r>
              <a:rPr dirty="0" sz="3100" spc="-465">
                <a:solidFill>
                  <a:srgbClr val="BF54FF"/>
                </a:solidFill>
                <a:latin typeface="Arial MT"/>
                <a:cs typeface="Arial MT"/>
              </a:rPr>
              <a:t> </a:t>
            </a:r>
            <a:r>
              <a:rPr dirty="0" sz="3100" spc="-395">
                <a:solidFill>
                  <a:srgbClr val="C352F2"/>
                </a:solidFill>
                <a:latin typeface="Arial MT"/>
                <a:cs typeface="Arial MT"/>
              </a:rPr>
              <a:t>PRABOB</a:t>
            </a:r>
            <a:r>
              <a:rPr dirty="0" sz="3100" spc="420">
                <a:solidFill>
                  <a:srgbClr val="C352F2"/>
                </a:solidFill>
                <a:latin typeface="Arial MT"/>
                <a:cs typeface="Arial MT"/>
              </a:rPr>
              <a:t> </a:t>
            </a:r>
            <a:r>
              <a:rPr dirty="0" sz="3100" spc="-295">
                <a:solidFill>
                  <a:srgbClr val="C65BF4"/>
                </a:solidFill>
                <a:latin typeface="Arial MT"/>
                <a:cs typeface="Arial MT"/>
              </a:rPr>
              <a:t>IDEAL</a:t>
            </a:r>
            <a:r>
              <a:rPr dirty="0" sz="3100" spc="385">
                <a:solidFill>
                  <a:srgbClr val="C65BF4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AA67CD"/>
                </a:solidFill>
                <a:latin typeface="Arial MT"/>
                <a:cs typeface="Arial MT"/>
              </a:rPr>
              <a:t>(ICP)</a:t>
            </a:r>
            <a:endParaRPr sz="3100">
              <a:latin typeface="Arial MT"/>
              <a:cs typeface="Arial MT"/>
            </a:endParaRPr>
          </a:p>
          <a:p>
            <a:pPr marL="16510" marR="5080" indent="-4445">
              <a:lnSpc>
                <a:spcPct val="114999"/>
              </a:lnSpc>
              <a:spcBef>
                <a:spcPts val="1610"/>
              </a:spcBef>
            </a:pPr>
            <a:r>
              <a:rPr dirty="0" sz="2200" spc="-85">
                <a:solidFill>
                  <a:srgbClr val="A8A8A8"/>
                </a:solidFill>
                <a:latin typeface="Arial MT"/>
                <a:cs typeface="Arial MT"/>
              </a:rPr>
              <a:t>Focado</a:t>
            </a:r>
            <a:r>
              <a:rPr dirty="0" sz="2200" spc="-4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A8A8A8"/>
                </a:solidFill>
                <a:latin typeface="Arial MT"/>
                <a:cs typeface="Arial MT"/>
              </a:rPr>
              <a:t>em</a:t>
            </a:r>
            <a:r>
              <a:rPr dirty="0" sz="2200" spc="-10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013F49"/>
                </a:solidFill>
                <a:latin typeface="Arial MT"/>
                <a:cs typeface="Arial MT"/>
              </a:rPr>
              <a:t>CHROs,</a:t>
            </a:r>
            <a:r>
              <a:rPr dirty="0" sz="2200" spc="-90">
                <a:solidFill>
                  <a:srgbClr val="013F49"/>
                </a:solidFill>
                <a:latin typeface="Arial MT"/>
                <a:cs typeface="Arial MT"/>
              </a:rPr>
              <a:t> </a:t>
            </a:r>
            <a:r>
              <a:rPr dirty="0" sz="2200" spc="-100">
                <a:solidFill>
                  <a:srgbClr val="001A46"/>
                </a:solidFill>
                <a:latin typeface="Arial MT"/>
                <a:cs typeface="Arial MT"/>
              </a:rPr>
              <a:t>Diretores</a:t>
            </a:r>
            <a:r>
              <a:rPr dirty="0" sz="2200" spc="-15">
                <a:solidFill>
                  <a:srgbClr val="001A46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00112F"/>
                </a:solidFill>
                <a:latin typeface="Arial MT"/>
                <a:cs typeface="Arial MT"/>
              </a:rPr>
              <a:t>de</a:t>
            </a:r>
            <a:r>
              <a:rPr dirty="0" sz="2200" spc="-265">
                <a:solidFill>
                  <a:srgbClr val="00112F"/>
                </a:solidFill>
                <a:latin typeface="Arial MT"/>
                <a:cs typeface="Arial MT"/>
              </a:rPr>
              <a:t> </a:t>
            </a:r>
            <a:r>
              <a:rPr dirty="0" sz="2200" spc="-320">
                <a:solidFill>
                  <a:srgbClr val="0CCAC3"/>
                </a:solidFill>
                <a:latin typeface="Arial MT"/>
                <a:cs typeface="Arial MT"/>
              </a:rPr>
              <a:t>RH</a:t>
            </a:r>
            <a:r>
              <a:rPr dirty="0" sz="2200" spc="-175">
                <a:solidFill>
                  <a:srgbClr val="0CCAC3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001D3D"/>
                </a:solidFill>
                <a:latin typeface="Arial MT"/>
                <a:cs typeface="Arial MT"/>
              </a:rPr>
              <a:t>e</a:t>
            </a:r>
            <a:r>
              <a:rPr dirty="0" sz="2200" spc="-235">
                <a:solidFill>
                  <a:srgbClr val="001D3D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001844"/>
                </a:solidFill>
                <a:latin typeface="Arial MT"/>
                <a:cs typeface="Arial MT"/>
              </a:rPr>
              <a:t>Gestores</a:t>
            </a:r>
            <a:r>
              <a:rPr dirty="0" sz="2200">
                <a:solidFill>
                  <a:srgbClr val="001844"/>
                </a:solidFill>
                <a:latin typeface="Arial MT"/>
                <a:cs typeface="Arial MT"/>
              </a:rPr>
              <a:t> </a:t>
            </a:r>
            <a:r>
              <a:rPr dirty="0" sz="2200" spc="-125">
                <a:solidFill>
                  <a:srgbClr val="00081A"/>
                </a:solidFill>
                <a:latin typeface="Arial MT"/>
                <a:cs typeface="Arial MT"/>
              </a:rPr>
              <a:t>de</a:t>
            </a:r>
            <a:r>
              <a:rPr dirty="0" sz="2200" spc="-114">
                <a:solidFill>
                  <a:srgbClr val="00081A"/>
                </a:solidFill>
                <a:latin typeface="Arial MT"/>
                <a:cs typeface="Arial MT"/>
              </a:rPr>
              <a:t> </a:t>
            </a:r>
            <a:r>
              <a:rPr dirty="0" sz="2200" spc="-135">
                <a:solidFill>
                  <a:srgbClr val="ACACAC"/>
                </a:solidFill>
                <a:latin typeface="Arial MT"/>
                <a:cs typeface="Arial MT"/>
              </a:rPr>
              <a:t>empresas</a:t>
            </a:r>
            <a:r>
              <a:rPr dirty="0" sz="2200" spc="10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ACACAC"/>
                </a:solidFill>
                <a:latin typeface="Arial MT"/>
                <a:cs typeface="Arial MT"/>
              </a:rPr>
              <a:t>de </a:t>
            </a:r>
            <a:r>
              <a:rPr dirty="0" sz="2200" spc="-90">
                <a:solidFill>
                  <a:srgbClr val="A3A3A3"/>
                </a:solidFill>
                <a:latin typeface="Arial MT"/>
                <a:cs typeface="Arial MT"/>
              </a:rPr>
              <a:t>crescimento</a:t>
            </a:r>
            <a:r>
              <a:rPr dirty="0" sz="2200" spc="5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AEAEAE"/>
                </a:solidFill>
                <a:latin typeface="Arial MT"/>
                <a:cs typeface="Arial MT"/>
              </a:rPr>
              <a:t>acelerado.</a:t>
            </a:r>
            <a:r>
              <a:rPr dirty="0" sz="2200" spc="-1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200" spc="-215">
                <a:solidFill>
                  <a:srgbClr val="A3A3A3"/>
                </a:solidFill>
                <a:latin typeface="Arial MT"/>
                <a:cs typeface="Arial MT"/>
              </a:rPr>
              <a:t>Seus</a:t>
            </a:r>
            <a:r>
              <a:rPr dirty="0" sz="2200" spc="4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A3A3A3"/>
                </a:solidFill>
                <a:latin typeface="Arial MT"/>
                <a:cs typeface="Arial MT"/>
              </a:rPr>
              <a:t>maiores</a:t>
            </a:r>
            <a:r>
              <a:rPr dirty="0" sz="2200" spc="3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AAAAAA"/>
                </a:solidFill>
                <a:latin typeface="Arial MT"/>
                <a:cs typeface="Arial MT"/>
              </a:rPr>
              <a:t>parpalos</a:t>
            </a:r>
            <a:r>
              <a:rPr dirty="0" sz="2200" spc="12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AAAAAA"/>
                </a:solidFill>
                <a:latin typeface="Arial MT"/>
                <a:cs typeface="Arial MT"/>
              </a:rPr>
              <a:t>sáo</a:t>
            </a:r>
            <a:r>
              <a:rPr dirty="0" sz="2200" spc="-4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200" spc="-320">
                <a:solidFill>
                  <a:srgbClr val="858C9E"/>
                </a:solidFill>
                <a:latin typeface="Arial MT"/>
                <a:cs typeface="Arial MT"/>
              </a:rPr>
              <a:t>a</a:t>
            </a:r>
            <a:r>
              <a:rPr dirty="0" sz="2200" spc="-30">
                <a:solidFill>
                  <a:srgbClr val="858C9E"/>
                </a:solidFill>
                <a:latin typeface="Arial MT"/>
                <a:cs typeface="Arial MT"/>
              </a:rPr>
              <a:t> </a:t>
            </a:r>
            <a:r>
              <a:rPr dirty="0" sz="2200" spc="-95">
                <a:solidFill>
                  <a:srgbClr val="B3B3B3"/>
                </a:solidFill>
                <a:latin typeface="Arial MT"/>
                <a:cs typeface="Arial MT"/>
              </a:rPr>
              <a:t>descentralizaçáo</a:t>
            </a:r>
            <a:r>
              <a:rPr dirty="0" sz="2200" spc="-17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000818"/>
                </a:solidFill>
                <a:latin typeface="Arial MT"/>
                <a:cs typeface="Arial MT"/>
              </a:rPr>
              <a:t>de </a:t>
            </a:r>
            <a:r>
              <a:rPr dirty="0" sz="2050" spc="-10">
                <a:solidFill>
                  <a:srgbClr val="A8A8A8"/>
                </a:solidFill>
                <a:latin typeface="Arial MT"/>
                <a:cs typeface="Arial MT"/>
              </a:rPr>
              <a:t>informaçöes,</a:t>
            </a:r>
            <a:r>
              <a:rPr dirty="0" sz="2050" spc="-8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235">
                <a:solidFill>
                  <a:srgbClr val="82909A"/>
                </a:solidFill>
                <a:latin typeface="Arial MT"/>
                <a:cs typeface="Arial MT"/>
              </a:rPr>
              <a:t>a</a:t>
            </a:r>
            <a:r>
              <a:rPr dirty="0" sz="2050" spc="-5">
                <a:solidFill>
                  <a:srgbClr val="82909A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5A5A5"/>
                </a:solidFill>
                <a:latin typeface="Arial MT"/>
                <a:cs typeface="Arial MT"/>
              </a:rPr>
              <a:t>perda</a:t>
            </a:r>
            <a:r>
              <a:rPr dirty="0" sz="2050" spc="-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A3A3A3"/>
                </a:solidFill>
                <a:latin typeface="Arial MT"/>
                <a:cs typeface="Arial MT"/>
              </a:rPr>
              <a:t>de</a:t>
            </a:r>
            <a:r>
              <a:rPr dirty="0" sz="2050" spc="-15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CACAC"/>
                </a:solidFill>
                <a:latin typeface="Arial MT"/>
                <a:cs typeface="Arial MT"/>
              </a:rPr>
              <a:t>talentos</a:t>
            </a:r>
            <a:r>
              <a:rPr dirty="0" sz="2050" spc="3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30">
                <a:solidFill>
                  <a:srgbClr val="A8A8A8"/>
                </a:solidFill>
                <a:latin typeface="Arial MT"/>
                <a:cs typeface="Arial MT"/>
              </a:rPr>
              <a:t>estrat</a:t>
            </a:r>
            <a:r>
              <a:rPr dirty="0" sz="2050" spc="-32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80">
                <a:solidFill>
                  <a:srgbClr val="606972"/>
                </a:solidFill>
                <a:latin typeface="Arial MT"/>
                <a:cs typeface="Arial MT"/>
              </a:rPr>
              <a:t>Óg</a:t>
            </a:r>
            <a:r>
              <a:rPr dirty="0" sz="2050" spc="-80">
                <a:solidFill>
                  <a:srgbClr val="00081F"/>
                </a:solidFill>
                <a:latin typeface="Arial MT"/>
                <a:cs typeface="Arial MT"/>
              </a:rPr>
              <a:t>icos</a:t>
            </a:r>
            <a:r>
              <a:rPr dirty="0" sz="2050" spc="-35">
                <a:solidFill>
                  <a:srgbClr val="00081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CACAC"/>
                </a:solidFill>
                <a:latin typeface="Arial MT"/>
                <a:cs typeface="Arial MT"/>
              </a:rPr>
              <a:t>por</a:t>
            </a:r>
            <a:r>
              <a:rPr dirty="0" sz="2050" spc="-11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CACAC"/>
                </a:solidFill>
                <a:latin typeface="Arial MT"/>
                <a:cs typeface="Arial MT"/>
              </a:rPr>
              <a:t>descontentamento</a:t>
            </a:r>
            <a:r>
              <a:rPr dirty="0" sz="2050" spc="509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200" spc="-145">
                <a:solidFill>
                  <a:srgbClr val="A5A5A5"/>
                </a:solidFill>
                <a:latin typeface="Arial MT"/>
                <a:cs typeface="Arial MT"/>
              </a:rPr>
              <a:t>náo</a:t>
            </a:r>
            <a:r>
              <a:rPr dirty="0" sz="2200" spc="-6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200" spc="-30">
                <a:solidFill>
                  <a:srgbClr val="ACACAC"/>
                </a:solidFill>
                <a:latin typeface="Arial MT"/>
                <a:cs typeface="Arial MT"/>
              </a:rPr>
              <a:t>detectado</a:t>
            </a:r>
            <a:r>
              <a:rPr dirty="0" sz="2200" spc="-12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200" spc="-245">
                <a:solidFill>
                  <a:srgbClr val="010A1A"/>
                </a:solidFill>
                <a:latin typeface="Arial MT"/>
                <a:cs typeface="Arial MT"/>
              </a:rPr>
              <a:t>e</a:t>
            </a:r>
            <a:r>
              <a:rPr dirty="0" sz="2200" spc="-114">
                <a:solidFill>
                  <a:srgbClr val="010A1A"/>
                </a:solidFill>
                <a:latin typeface="Arial MT"/>
                <a:cs typeface="Arial MT"/>
              </a:rPr>
              <a:t> </a:t>
            </a:r>
            <a:r>
              <a:rPr dirty="0" sz="2200" spc="-320">
                <a:solidFill>
                  <a:srgbClr val="7E8590"/>
                </a:solidFill>
                <a:latin typeface="Arial MT"/>
                <a:cs typeface="Arial MT"/>
              </a:rPr>
              <a:t>a</a:t>
            </a:r>
            <a:r>
              <a:rPr dirty="0" sz="2200" spc="-50">
                <a:solidFill>
                  <a:srgbClr val="7E8590"/>
                </a:solidFill>
                <a:latin typeface="Arial MT"/>
                <a:cs typeface="Arial MT"/>
              </a:rPr>
              <a:t> </a:t>
            </a:r>
            <a:r>
              <a:rPr dirty="0" sz="2200" spc="-100">
                <a:solidFill>
                  <a:srgbClr val="AFAFAF"/>
                </a:solidFill>
                <a:latin typeface="Arial MT"/>
                <a:cs typeface="Arial MT"/>
              </a:rPr>
              <a:t>ineficiôncia</a:t>
            </a:r>
            <a:r>
              <a:rPr dirty="0" sz="2200" spc="3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000816"/>
                </a:solidFill>
                <a:latin typeface="Arial MT"/>
                <a:cs typeface="Arial MT"/>
              </a:rPr>
              <a:t>de</a:t>
            </a:r>
            <a:r>
              <a:rPr dirty="0" sz="2200" spc="-185">
                <a:solidFill>
                  <a:srgbClr val="000816"/>
                </a:solidFill>
                <a:latin typeface="Arial MT"/>
                <a:cs typeface="Arial MT"/>
              </a:rPr>
              <a:t> </a:t>
            </a:r>
            <a:r>
              <a:rPr dirty="0" sz="2200" spc="-75">
                <a:solidFill>
                  <a:srgbClr val="A5A5A5"/>
                </a:solidFill>
                <a:latin typeface="Arial MT"/>
                <a:cs typeface="Arial MT"/>
              </a:rPr>
              <a:t>tarefas</a:t>
            </a:r>
            <a:r>
              <a:rPr dirty="0" sz="2200" spc="-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A8A8A8"/>
                </a:solidFill>
                <a:latin typeface="Arial MT"/>
                <a:cs typeface="Arial MT"/>
              </a:rPr>
              <a:t>recorrentes.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5706" y="7177792"/>
            <a:ext cx="20080605" cy="479425"/>
          </a:xfrm>
          <a:custGeom>
            <a:avLst/>
            <a:gdLst/>
            <a:ahLst/>
            <a:cxnLst/>
            <a:rect l="l" t="t" r="r" b="b"/>
            <a:pathLst>
              <a:path w="20080605" h="479425">
                <a:moveTo>
                  <a:pt x="20080541" y="479043"/>
                </a:moveTo>
                <a:lnTo>
                  <a:pt x="0" y="47904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79043"/>
                </a:lnTo>
                <a:close/>
              </a:path>
            </a:pathLst>
          </a:custGeom>
          <a:solidFill>
            <a:srgbClr val="080F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5706" y="7963108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711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5706" y="8340059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40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711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5706" y="8732718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40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711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720468" y="7125171"/>
            <a:ext cx="8275955" cy="185673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20"/>
              </a:spcBef>
              <a:tabLst>
                <a:tab pos="655955" algn="l"/>
                <a:tab pos="3352165" algn="l"/>
              </a:tabLst>
            </a:pPr>
            <a:r>
              <a:rPr dirty="0" sz="3200" spc="-25">
                <a:solidFill>
                  <a:srgbClr val="1AEBFF"/>
                </a:solidFill>
                <a:latin typeface="Arial MT"/>
                <a:cs typeface="Arial MT"/>
              </a:rPr>
              <a:t>@'</a:t>
            </a:r>
            <a:r>
              <a:rPr dirty="0" sz="3200">
                <a:solidFill>
                  <a:srgbClr val="1AEBFF"/>
                </a:solidFill>
                <a:latin typeface="Arial MT"/>
                <a:cs typeface="Arial MT"/>
              </a:rPr>
              <a:t>	</a:t>
            </a:r>
            <a:r>
              <a:rPr dirty="0" sz="3200" spc="-465">
                <a:solidFill>
                  <a:srgbClr val="00EDEF"/>
                </a:solidFill>
                <a:latin typeface="Arial MT"/>
                <a:cs typeface="Arial MT"/>
              </a:rPr>
              <a:t>SEGNENTAÇÂO</a:t>
            </a:r>
            <a:r>
              <a:rPr dirty="0" sz="3200">
                <a:solidFill>
                  <a:srgbClr val="00EDEF"/>
                </a:solidFill>
                <a:latin typeface="Arial MT"/>
                <a:cs typeface="Arial MT"/>
              </a:rPr>
              <a:t>	</a:t>
            </a:r>
            <a:r>
              <a:rPr dirty="0" sz="3200" spc="-650">
                <a:solidFill>
                  <a:srgbClr val="00F0FF"/>
                </a:solidFill>
                <a:latin typeface="Arial MT"/>
                <a:cs typeface="Arial MT"/>
              </a:rPr>
              <a:t>DE</a:t>
            </a:r>
            <a:r>
              <a:rPr dirty="0" sz="3200" spc="265">
                <a:solidFill>
                  <a:srgbClr val="00F0FF"/>
                </a:solidFill>
                <a:latin typeface="Arial MT"/>
                <a:cs typeface="Arial MT"/>
              </a:rPr>
              <a:t> </a:t>
            </a:r>
            <a:r>
              <a:rPr dirty="0" sz="3200" spc="-475">
                <a:solidFill>
                  <a:srgbClr val="03F0FD"/>
                </a:solidFill>
                <a:latin typeface="Arial MT"/>
                <a:cs typeface="Arial MT"/>
              </a:rPr>
              <a:t>NERCADO</a:t>
            </a:r>
            <a:endParaRPr sz="3200">
              <a:latin typeface="Arial MT"/>
              <a:cs typeface="Arial MT"/>
            </a:endParaRPr>
          </a:p>
          <a:p>
            <a:pPr marL="12700" marR="5080" indent="11430">
              <a:lnSpc>
                <a:spcPct val="112400"/>
              </a:lnSpc>
              <a:spcBef>
                <a:spcPts val="1655"/>
              </a:spcBef>
            </a:pPr>
            <a:r>
              <a:rPr dirty="0" sz="2200" spc="-195">
                <a:solidFill>
                  <a:srgbClr val="AEAEAE"/>
                </a:solidFill>
                <a:latin typeface="Arial MT"/>
                <a:cs typeface="Arial MT"/>
              </a:rPr>
              <a:t>Empres</a:t>
            </a:r>
            <a:r>
              <a:rPr dirty="0" sz="2200" spc="-27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200" spc="-240">
                <a:solidFill>
                  <a:srgbClr val="AAAAAA"/>
                </a:solidFill>
                <a:latin typeface="Arial MT"/>
                <a:cs typeface="Arial MT"/>
              </a:rPr>
              <a:t>as</a:t>
            </a:r>
            <a:r>
              <a:rPr dirty="0" sz="2200" spc="-1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A3A3A3"/>
                </a:solidFill>
                <a:latin typeface="Arial MT"/>
                <a:cs typeface="Arial MT"/>
              </a:rPr>
              <a:t>de</a:t>
            </a:r>
            <a:r>
              <a:rPr dirty="0" sz="2200" spc="-19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200" spc="-95">
                <a:solidFill>
                  <a:srgbClr val="A869B3"/>
                </a:solidFill>
                <a:latin typeface="Arial MT"/>
                <a:cs typeface="Arial MT"/>
              </a:rPr>
              <a:t>Tecnologia.</a:t>
            </a:r>
            <a:r>
              <a:rPr dirty="0" sz="2200" spc="-50">
                <a:solidFill>
                  <a:srgbClr val="A869B3"/>
                </a:solidFill>
                <a:latin typeface="Arial MT"/>
                <a:cs typeface="Arial MT"/>
              </a:rPr>
              <a:t> </a:t>
            </a:r>
            <a:r>
              <a:rPr dirty="0" sz="2200" spc="-130">
                <a:solidFill>
                  <a:srgbClr val="644283"/>
                </a:solidFill>
                <a:latin typeface="Arial MT"/>
                <a:cs typeface="Arial MT"/>
              </a:rPr>
              <a:t>Finanças</a:t>
            </a:r>
            <a:r>
              <a:rPr dirty="0" sz="2200" spc="100">
                <a:solidFill>
                  <a:srgbClr val="644283"/>
                </a:solidFill>
                <a:latin typeface="Arial MT"/>
                <a:cs typeface="Arial MT"/>
              </a:rPr>
              <a:t> </a:t>
            </a:r>
            <a:r>
              <a:rPr dirty="0" sz="2200" spc="-180">
                <a:solidFill>
                  <a:srgbClr val="B85EED"/>
                </a:solidFill>
                <a:latin typeface="Arial MT"/>
                <a:cs typeface="Arial MT"/>
              </a:rPr>
              <a:t>e</a:t>
            </a:r>
            <a:r>
              <a:rPr dirty="0" sz="2200" spc="-204">
                <a:solidFill>
                  <a:srgbClr val="B85EED"/>
                </a:solidFill>
                <a:latin typeface="Arial MT"/>
                <a:cs typeface="Arial MT"/>
              </a:rPr>
              <a:t> </a:t>
            </a:r>
            <a:r>
              <a:rPr dirty="0" sz="2200" spc="-120">
                <a:solidFill>
                  <a:srgbClr val="85429E"/>
                </a:solidFill>
                <a:latin typeface="Arial MT"/>
                <a:cs typeface="Arial MT"/>
              </a:rPr>
              <a:t>Serviços</a:t>
            </a:r>
            <a:r>
              <a:rPr dirty="0" sz="2200" spc="-35">
                <a:solidFill>
                  <a:srgbClr val="85429E"/>
                </a:solidFill>
                <a:latin typeface="Arial MT"/>
                <a:cs typeface="Arial MT"/>
              </a:rPr>
              <a:t> </a:t>
            </a:r>
            <a:r>
              <a:rPr dirty="0" sz="2200" spc="-130">
                <a:solidFill>
                  <a:srgbClr val="7C489C"/>
                </a:solidFill>
                <a:latin typeface="Arial MT"/>
                <a:cs typeface="Arial MT"/>
              </a:rPr>
              <a:t>Escaláveis</a:t>
            </a:r>
            <a:r>
              <a:rPr dirty="0" sz="2200" spc="65">
                <a:solidFill>
                  <a:srgbClr val="7C489C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0E1101"/>
                </a:solidFill>
                <a:latin typeface="Arial MT"/>
                <a:cs typeface="Arial MT"/>
              </a:rPr>
              <a:t>com</a:t>
            </a:r>
            <a:r>
              <a:rPr dirty="0" sz="2200" spc="-65">
                <a:solidFill>
                  <a:srgbClr val="0E1101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AEAEAE"/>
                </a:solidFill>
                <a:latin typeface="Arial MT"/>
                <a:cs typeface="Arial MT"/>
              </a:rPr>
              <a:t>times</a:t>
            </a:r>
            <a:r>
              <a:rPr dirty="0" sz="2200" spc="-1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B3B3B3"/>
                </a:solidFill>
                <a:latin typeface="Arial MT"/>
                <a:cs typeface="Arial MT"/>
              </a:rPr>
              <a:t>de </a:t>
            </a:r>
            <a:r>
              <a:rPr dirty="0" sz="2200" spc="-225">
                <a:solidFill>
                  <a:srgbClr val="898989"/>
                </a:solidFill>
                <a:latin typeface="Arial MT"/>
                <a:cs typeface="Arial MT"/>
              </a:rPr>
              <a:t>IOO</a:t>
            </a:r>
            <a:r>
              <a:rPr dirty="0" sz="2200" spc="-65">
                <a:solidFill>
                  <a:srgbClr val="898989"/>
                </a:solidFill>
                <a:latin typeface="Arial MT"/>
                <a:cs typeface="Arial MT"/>
              </a:rPr>
              <a:t> </a:t>
            </a:r>
            <a:r>
              <a:rPr dirty="0" sz="2200" spc="-320">
                <a:solidFill>
                  <a:srgbClr val="AFAFAF"/>
                </a:solidFill>
                <a:latin typeface="Arial MT"/>
                <a:cs typeface="Arial MT"/>
              </a:rPr>
              <a:t>a</a:t>
            </a:r>
            <a:r>
              <a:rPr dirty="0" sz="2200" spc="-5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00C13"/>
                </a:solidFill>
                <a:latin typeface="Arial MT"/>
                <a:cs typeface="Arial MT"/>
              </a:rPr>
              <a:t>5.000</a:t>
            </a:r>
            <a:r>
              <a:rPr dirty="0" sz="2200" spc="-155">
                <a:solidFill>
                  <a:srgbClr val="000C13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B5B5B5"/>
                </a:solidFill>
                <a:latin typeface="Arial MT"/>
                <a:cs typeface="Arial MT"/>
              </a:rPr>
              <a:t>colaboradores</a:t>
            </a:r>
            <a:r>
              <a:rPr dirty="0" sz="2200" spc="14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200" spc="-120">
                <a:solidFill>
                  <a:srgbClr val="A3A3A3"/>
                </a:solidFill>
                <a:latin typeface="Arial MT"/>
                <a:cs typeface="Arial MT"/>
              </a:rPr>
              <a:t>que</a:t>
            </a:r>
            <a:r>
              <a:rPr dirty="0" sz="2200" spc="-14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A8A8A8"/>
                </a:solidFill>
                <a:latin typeface="Arial MT"/>
                <a:cs typeface="Arial MT"/>
              </a:rPr>
              <a:t>buscam</a:t>
            </a:r>
            <a:r>
              <a:rPr dirty="0" sz="2200" spc="-2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200" spc="-135">
                <a:solidFill>
                  <a:srgbClr val="ACACAC"/>
                </a:solidFill>
                <a:latin typeface="Arial MT"/>
                <a:cs typeface="Arial MT"/>
              </a:rPr>
              <a:t>acelerar</a:t>
            </a:r>
            <a:r>
              <a:rPr dirty="0" sz="2200" spc="-3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200" spc="-320">
                <a:solidFill>
                  <a:srgbClr val="A8A8A8"/>
                </a:solidFill>
                <a:latin typeface="Arial MT"/>
                <a:cs typeface="Arial MT"/>
              </a:rPr>
              <a:t>a</a:t>
            </a:r>
            <a:r>
              <a:rPr dirty="0" sz="2200" spc="-4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200" spc="-100">
                <a:solidFill>
                  <a:srgbClr val="AAAAAA"/>
                </a:solidFill>
                <a:latin typeface="Arial MT"/>
                <a:cs typeface="Arial MT"/>
              </a:rPr>
              <a:t>eficiôncia</a:t>
            </a:r>
            <a:r>
              <a:rPr dirty="0" sz="2200" spc="6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BABABA"/>
                </a:solidFill>
                <a:latin typeface="Arial MT"/>
                <a:cs typeface="Arial MT"/>
              </a:rPr>
              <a:t>operacional </a:t>
            </a:r>
            <a:r>
              <a:rPr dirty="0" sz="2200" spc="-245">
                <a:solidFill>
                  <a:srgbClr val="010C1F"/>
                </a:solidFill>
                <a:latin typeface="Arial MT"/>
                <a:cs typeface="Arial MT"/>
              </a:rPr>
              <a:t>e</a:t>
            </a:r>
            <a:r>
              <a:rPr dirty="0" sz="2200" spc="-120">
                <a:solidFill>
                  <a:srgbClr val="010C1F"/>
                </a:solidFill>
                <a:latin typeface="Arial MT"/>
                <a:cs typeface="Arial MT"/>
              </a:rPr>
              <a:t> </a:t>
            </a:r>
            <a:r>
              <a:rPr dirty="0" sz="2200" spc="-120">
                <a:solidFill>
                  <a:srgbClr val="9A9A9A"/>
                </a:solidFill>
                <a:latin typeface="Arial MT"/>
                <a:cs typeface="Arial MT"/>
              </a:rPr>
              <a:t>centralizar</a:t>
            </a:r>
            <a:r>
              <a:rPr dirty="0" sz="2200" spc="-35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200" spc="-320">
                <a:solidFill>
                  <a:srgbClr val="939393"/>
                </a:solidFill>
                <a:latin typeface="Arial MT"/>
                <a:cs typeface="Arial MT"/>
              </a:rPr>
              <a:t>a</a:t>
            </a:r>
            <a:r>
              <a:rPr dirty="0" sz="2200" spc="-11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A1A1A1"/>
                </a:solidFill>
                <a:latin typeface="Arial MT"/>
                <a:cs typeface="Arial MT"/>
              </a:rPr>
              <a:t>pestáo</a:t>
            </a:r>
            <a:r>
              <a:rPr dirty="0" sz="2200" spc="-5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A5A5A5"/>
                </a:solidFill>
                <a:latin typeface="Arial MT"/>
                <a:cs typeface="Arial MT"/>
              </a:rPr>
              <a:t>de</a:t>
            </a:r>
            <a:r>
              <a:rPr dirty="0" sz="2200" spc="-16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BABABA"/>
                </a:solidFill>
                <a:latin typeface="Arial MT"/>
                <a:cs typeface="Arial MT"/>
              </a:rPr>
              <a:t>ponta</a:t>
            </a:r>
            <a:r>
              <a:rPr dirty="0" sz="2200" spc="-20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200" spc="-320">
                <a:solidFill>
                  <a:srgbClr val="A7A7A7"/>
                </a:solidFill>
                <a:latin typeface="Arial MT"/>
                <a:cs typeface="Arial MT"/>
              </a:rPr>
              <a:t>a</a:t>
            </a:r>
            <a:r>
              <a:rPr dirty="0" sz="2200" spc="-45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A7A7A7"/>
                </a:solidFill>
                <a:latin typeface="Arial MT"/>
                <a:cs typeface="Arial MT"/>
              </a:rPr>
              <a:t>ponta.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6809" y="0"/>
            <a:ext cx="8167290" cy="11308556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240799" y="0"/>
            <a:ext cx="8128634" cy="11285220"/>
            <a:chOff x="1240799" y="0"/>
            <a:chExt cx="8128634" cy="1128522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8358" y="7751072"/>
              <a:ext cx="1374303" cy="20418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240799" y="0"/>
              <a:ext cx="8128634" cy="11285220"/>
            </a:xfrm>
            <a:custGeom>
              <a:avLst/>
              <a:gdLst/>
              <a:ahLst/>
              <a:cxnLst/>
              <a:rect l="l" t="t" r="r" b="b"/>
              <a:pathLst>
                <a:path w="8128634" h="11285220">
                  <a:moveTo>
                    <a:pt x="8128025" y="11284997"/>
                  </a:moveTo>
                  <a:lnTo>
                    <a:pt x="0" y="11284997"/>
                  </a:lnTo>
                  <a:lnTo>
                    <a:pt x="0" y="0"/>
                  </a:lnTo>
                  <a:lnTo>
                    <a:pt x="8128025" y="0"/>
                  </a:lnTo>
                  <a:lnTo>
                    <a:pt x="8128025" y="11284997"/>
                  </a:lnTo>
                  <a:close/>
                </a:path>
              </a:pathLst>
            </a:custGeom>
            <a:solidFill>
              <a:srgbClr val="0311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400" spc="-940">
                <a:solidFill>
                  <a:srgbClr val="00F2FD"/>
                </a:solidFill>
              </a:rPr>
              <a:t>)</a:t>
            </a:r>
            <a:r>
              <a:rPr dirty="0" sz="5400" spc="390">
                <a:solidFill>
                  <a:srgbClr val="00F2FD"/>
                </a:solidFill>
              </a:rPr>
              <a:t> </a:t>
            </a:r>
            <a:r>
              <a:rPr dirty="0" sz="5400" spc="-730">
                <a:solidFill>
                  <a:srgbClr val="08E6FB"/>
                </a:solidFill>
              </a:rPr>
              <a:t>PREVISÀO</a:t>
            </a:r>
            <a:r>
              <a:rPr dirty="0" sz="5400" spc="665">
                <a:solidFill>
                  <a:srgbClr val="08E6FB"/>
                </a:solidFill>
              </a:rPr>
              <a:t> </a:t>
            </a:r>
            <a:r>
              <a:rPr dirty="0" sz="5400" spc="-1055">
                <a:solidFill>
                  <a:srgbClr val="03F0FD"/>
                </a:solidFill>
              </a:rPr>
              <a:t>DE</a:t>
            </a:r>
            <a:r>
              <a:rPr dirty="0" sz="5400" spc="250">
                <a:solidFill>
                  <a:srgbClr val="03F0FD"/>
                </a:solidFill>
              </a:rPr>
              <a:t> </a:t>
            </a:r>
            <a:r>
              <a:rPr dirty="0" sz="5400" spc="-715">
                <a:solidFill>
                  <a:srgbClr val="01EFFF"/>
                </a:solidFill>
              </a:rPr>
              <a:t>TENDÊNCIAS</a:t>
            </a:r>
            <a:endParaRPr sz="5400"/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20"/>
              </a:spcBef>
              <a:tabLst>
                <a:tab pos="2905125" algn="l"/>
              </a:tabLst>
            </a:pPr>
            <a:r>
              <a:rPr dirty="0"/>
              <a:t>0</a:t>
            </a:r>
            <a:r>
              <a:rPr dirty="0" spc="105"/>
              <a:t> </a:t>
            </a:r>
            <a:r>
              <a:rPr dirty="0" spc="-265"/>
              <a:t>DIFERENCIAL</a:t>
            </a:r>
            <a:r>
              <a:rPr dirty="0"/>
              <a:t>	</a:t>
            </a:r>
            <a:r>
              <a:rPr dirty="0" spc="-320"/>
              <a:t>COMPETITIVO</a:t>
            </a:r>
          </a:p>
          <a:p>
            <a:pPr marL="17780" marR="272415" indent="-3810">
              <a:lnSpc>
                <a:spcPct val="121800"/>
              </a:lnSpc>
              <a:spcBef>
                <a:spcPts val="2025"/>
              </a:spcBef>
            </a:pPr>
            <a:r>
              <a:rPr dirty="0" sz="2200" spc="-75">
                <a:solidFill>
                  <a:srgbClr val="56606B"/>
                </a:solidFill>
              </a:rPr>
              <a:t>O</a:t>
            </a:r>
            <a:r>
              <a:rPr dirty="0" sz="2200" spc="-130">
                <a:solidFill>
                  <a:srgbClr val="56606B"/>
                </a:solidFill>
              </a:rPr>
              <a:t> </a:t>
            </a:r>
            <a:r>
              <a:rPr dirty="0" sz="2200" spc="-50">
                <a:solidFill>
                  <a:srgbClr val="B8B8B8"/>
                </a:solidFill>
              </a:rPr>
              <a:t>grande</a:t>
            </a:r>
            <a:r>
              <a:rPr dirty="0" sz="2200" spc="-105">
                <a:solidFill>
                  <a:srgbClr val="B8B8B8"/>
                </a:solidFill>
              </a:rPr>
              <a:t> </a:t>
            </a:r>
            <a:r>
              <a:rPr dirty="0" sz="2200" spc="-10">
                <a:solidFill>
                  <a:srgbClr val="B1B1B1"/>
                </a:solidFill>
              </a:rPr>
              <a:t>diferencial</a:t>
            </a:r>
            <a:r>
              <a:rPr dirty="0" sz="2200" spc="-15">
                <a:solidFill>
                  <a:srgbClr val="B1B1B1"/>
                </a:solidFill>
              </a:rPr>
              <a:t> </a:t>
            </a:r>
            <a:r>
              <a:rPr dirty="0" sz="2200">
                <a:solidFill>
                  <a:srgbClr val="898989"/>
                </a:solidFill>
              </a:rPr>
              <a:t>do</a:t>
            </a:r>
            <a:r>
              <a:rPr dirty="0" sz="2200" spc="-200">
                <a:solidFill>
                  <a:srgbClr val="898989"/>
                </a:solidFill>
              </a:rPr>
              <a:t> </a:t>
            </a:r>
            <a:r>
              <a:rPr dirty="0" sz="2200" spc="-65">
                <a:solidFill>
                  <a:srgbClr val="001C49"/>
                </a:solidFill>
              </a:rPr>
              <a:t>Solutions</a:t>
            </a:r>
            <a:r>
              <a:rPr dirty="0" sz="2200" spc="-45">
                <a:solidFill>
                  <a:srgbClr val="001C49"/>
                </a:solidFill>
              </a:rPr>
              <a:t> </a:t>
            </a:r>
            <a:r>
              <a:rPr dirty="0" sz="2200" spc="-385">
                <a:solidFill>
                  <a:srgbClr val="13EBDB"/>
                </a:solidFill>
              </a:rPr>
              <a:t>X</a:t>
            </a:r>
            <a:r>
              <a:rPr dirty="0" sz="2200" spc="-110">
                <a:solidFill>
                  <a:srgbClr val="13EBDB"/>
                </a:solidFill>
              </a:rPr>
              <a:t> </a:t>
            </a:r>
            <a:r>
              <a:rPr dirty="0" sz="2200" spc="-50">
                <a:solidFill>
                  <a:srgbClr val="B1B1B1"/>
                </a:solidFill>
              </a:rPr>
              <a:t>reside</a:t>
            </a:r>
            <a:r>
              <a:rPr dirty="0" sz="2200" spc="-55">
                <a:solidFill>
                  <a:srgbClr val="B1B1B1"/>
                </a:solidFill>
              </a:rPr>
              <a:t> </a:t>
            </a:r>
            <a:r>
              <a:rPr dirty="0" sz="2200" spc="-60">
                <a:solidFill>
                  <a:srgbClr val="AFAFAF"/>
                </a:solidFill>
              </a:rPr>
              <a:t>em</a:t>
            </a:r>
            <a:r>
              <a:rPr dirty="0" sz="2200" spc="-90">
                <a:solidFill>
                  <a:srgbClr val="AFAFAF"/>
                </a:solidFill>
              </a:rPr>
              <a:t> </a:t>
            </a:r>
            <a:r>
              <a:rPr dirty="0" sz="2200" spc="-190">
                <a:solidFill>
                  <a:srgbClr val="AAAAAA"/>
                </a:solidFill>
              </a:rPr>
              <a:t>sua</a:t>
            </a:r>
            <a:r>
              <a:rPr dirty="0" sz="2200" spc="-80">
                <a:solidFill>
                  <a:srgbClr val="AAAAAA"/>
                </a:solidFill>
              </a:rPr>
              <a:t> </a:t>
            </a:r>
            <a:r>
              <a:rPr dirty="0" sz="2200">
                <a:solidFill>
                  <a:srgbClr val="B3B3B3"/>
                </a:solidFill>
              </a:rPr>
              <a:t>capacidade</a:t>
            </a:r>
            <a:r>
              <a:rPr dirty="0" sz="2200" spc="50">
                <a:solidFill>
                  <a:srgbClr val="B3B3B3"/>
                </a:solidFill>
              </a:rPr>
              <a:t> </a:t>
            </a:r>
            <a:r>
              <a:rPr dirty="0" sz="2200" spc="-25">
                <a:solidFill>
                  <a:srgbClr val="B3B3B3"/>
                </a:solidFill>
              </a:rPr>
              <a:t>de </a:t>
            </a:r>
            <a:r>
              <a:rPr dirty="0" sz="2200" spc="-30">
                <a:solidFill>
                  <a:srgbClr val="B1B1B1"/>
                </a:solidFill>
              </a:rPr>
              <a:t>antecipaç</a:t>
            </a:r>
            <a:r>
              <a:rPr dirty="0" sz="2200" spc="-250">
                <a:solidFill>
                  <a:srgbClr val="B1B1B1"/>
                </a:solidFill>
              </a:rPr>
              <a:t> </a:t>
            </a:r>
            <a:r>
              <a:rPr dirty="0" sz="2200" spc="-110">
                <a:solidFill>
                  <a:srgbClr val="AFAFAF"/>
                </a:solidFill>
              </a:rPr>
              <a:t>áo</a:t>
            </a:r>
            <a:r>
              <a:rPr dirty="0" sz="2200" spc="-160">
                <a:solidFill>
                  <a:srgbClr val="AFAFAF"/>
                </a:solidFill>
              </a:rPr>
              <a:t> </a:t>
            </a:r>
            <a:r>
              <a:rPr dirty="0" sz="2200" spc="-85">
                <a:solidFill>
                  <a:srgbClr val="B3B3B3"/>
                </a:solidFill>
              </a:rPr>
              <a:t>ativa</a:t>
            </a:r>
            <a:r>
              <a:rPr dirty="0" sz="2200" spc="-70">
                <a:solidFill>
                  <a:srgbClr val="B3B3B3"/>
                </a:solidFill>
              </a:rPr>
              <a:t> </a:t>
            </a:r>
            <a:r>
              <a:rPr dirty="0" sz="2200" spc="-55">
                <a:solidFill>
                  <a:srgbClr val="ACACAC"/>
                </a:solidFill>
              </a:rPr>
              <a:t>baseada</a:t>
            </a:r>
            <a:r>
              <a:rPr dirty="0" sz="2200" spc="-100">
                <a:solidFill>
                  <a:srgbClr val="ACACAC"/>
                </a:solidFill>
              </a:rPr>
              <a:t> </a:t>
            </a:r>
            <a:r>
              <a:rPr dirty="0" sz="2200" spc="-65">
                <a:solidFill>
                  <a:srgbClr val="ACACAC"/>
                </a:solidFill>
              </a:rPr>
              <a:t>em</a:t>
            </a:r>
            <a:r>
              <a:rPr dirty="0" sz="2200" spc="-100">
                <a:solidFill>
                  <a:srgbClr val="ACACAC"/>
                </a:solidFill>
              </a:rPr>
              <a:t> </a:t>
            </a:r>
            <a:r>
              <a:rPr dirty="0" sz="2200" spc="-45">
                <a:solidFill>
                  <a:srgbClr val="B6B6B6"/>
                </a:solidFill>
              </a:rPr>
              <a:t>aprendizado</a:t>
            </a:r>
            <a:r>
              <a:rPr dirty="0" sz="2200" spc="30">
                <a:solidFill>
                  <a:srgbClr val="B6B6B6"/>
                </a:solidFill>
              </a:rPr>
              <a:t> </a:t>
            </a:r>
            <a:r>
              <a:rPr dirty="0" sz="2200">
                <a:solidFill>
                  <a:srgbClr val="999999"/>
                </a:solidFill>
              </a:rPr>
              <a:t>de</a:t>
            </a:r>
            <a:r>
              <a:rPr dirty="0" sz="2200" spc="-155">
                <a:solidFill>
                  <a:srgbClr val="999999"/>
                </a:solidFill>
              </a:rPr>
              <a:t> </a:t>
            </a:r>
            <a:r>
              <a:rPr dirty="0" sz="2200" spc="-80">
                <a:solidFill>
                  <a:srgbClr val="ACACAC"/>
                </a:solidFill>
              </a:rPr>
              <a:t>máquina</a:t>
            </a:r>
            <a:r>
              <a:rPr dirty="0" sz="2200" spc="-5">
                <a:solidFill>
                  <a:srgbClr val="ACACAC"/>
                </a:solidFill>
              </a:rPr>
              <a:t> </a:t>
            </a:r>
            <a:r>
              <a:rPr dirty="0" sz="2200" spc="-35">
                <a:solidFill>
                  <a:srgbClr val="AFAFAF"/>
                </a:solidFill>
              </a:rPr>
              <a:t>contínuo.</a:t>
            </a:r>
            <a:endParaRPr sz="2200"/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200"/>
          </a:p>
          <a:p>
            <a:pPr marL="456565" marR="5080" indent="-10795">
              <a:lnSpc>
                <a:spcPts val="2350"/>
              </a:lnSpc>
              <a:spcBef>
                <a:spcPts val="5"/>
              </a:spcBef>
            </a:pPr>
            <a:r>
              <a:rPr dirty="0" sz="2200" spc="-135">
                <a:solidFill>
                  <a:srgbClr val="001A41"/>
                </a:solidFill>
              </a:rPr>
              <a:t>Previsão</a:t>
            </a:r>
            <a:r>
              <a:rPr dirty="0" sz="2200" spc="-5">
                <a:solidFill>
                  <a:srgbClr val="001A41"/>
                </a:solidFill>
              </a:rPr>
              <a:t> </a:t>
            </a:r>
            <a:r>
              <a:rPr dirty="0" sz="2200" spc="-70">
                <a:solidFill>
                  <a:srgbClr val="001C4D"/>
                </a:solidFill>
              </a:rPr>
              <a:t>de</a:t>
            </a:r>
            <a:r>
              <a:rPr dirty="0" sz="2200" spc="-270">
                <a:solidFill>
                  <a:srgbClr val="001C4D"/>
                </a:solidFill>
              </a:rPr>
              <a:t> </a:t>
            </a:r>
            <a:r>
              <a:rPr dirty="0" sz="2200" spc="-155">
                <a:solidFill>
                  <a:srgbClr val="002F33"/>
                </a:solidFill>
              </a:rPr>
              <a:t>Turnover:</a:t>
            </a:r>
            <a:r>
              <a:rPr dirty="0" sz="2200" spc="20">
                <a:solidFill>
                  <a:srgbClr val="002F33"/>
                </a:solidFill>
              </a:rPr>
              <a:t> </a:t>
            </a:r>
            <a:r>
              <a:rPr dirty="0" sz="2200" spc="-95">
                <a:solidFill>
                  <a:srgbClr val="AEAEAE"/>
                </a:solidFill>
              </a:rPr>
              <a:t>Algoritmos</a:t>
            </a:r>
            <a:r>
              <a:rPr dirty="0" sz="2200" spc="90">
                <a:solidFill>
                  <a:srgbClr val="AEAEAE"/>
                </a:solidFill>
              </a:rPr>
              <a:t> </a:t>
            </a:r>
            <a:r>
              <a:rPr dirty="0" sz="2200" spc="-170">
                <a:solidFill>
                  <a:srgbClr val="B8B8B8"/>
                </a:solidFill>
              </a:rPr>
              <a:t>neurais</a:t>
            </a:r>
            <a:r>
              <a:rPr dirty="0" sz="2200" spc="20">
                <a:solidFill>
                  <a:srgbClr val="B8B8B8"/>
                </a:solidFill>
              </a:rPr>
              <a:t> </a:t>
            </a:r>
            <a:r>
              <a:rPr dirty="0" sz="2200" spc="-105">
                <a:solidFill>
                  <a:srgbClr val="AFAFAF"/>
                </a:solidFill>
              </a:rPr>
              <a:t>indicam</a:t>
            </a:r>
            <a:r>
              <a:rPr dirty="0" sz="2200" spc="10">
                <a:solidFill>
                  <a:srgbClr val="AFAFAF"/>
                </a:solidFill>
              </a:rPr>
              <a:t> </a:t>
            </a:r>
            <a:r>
              <a:rPr dirty="0" sz="2200" spc="-150">
                <a:solidFill>
                  <a:srgbClr val="ACACAC"/>
                </a:solidFill>
              </a:rPr>
              <a:t>quais</a:t>
            </a:r>
            <a:r>
              <a:rPr dirty="0" sz="2200" spc="20">
                <a:solidFill>
                  <a:srgbClr val="ACACAC"/>
                </a:solidFill>
              </a:rPr>
              <a:t> </a:t>
            </a:r>
            <a:r>
              <a:rPr dirty="0" sz="2200" spc="-75">
                <a:solidFill>
                  <a:srgbClr val="AAAAAA"/>
                </a:solidFill>
              </a:rPr>
              <a:t>profis</a:t>
            </a:r>
            <a:r>
              <a:rPr dirty="0" sz="2200" spc="-75">
                <a:solidFill>
                  <a:srgbClr val="AEAEAE"/>
                </a:solidFill>
              </a:rPr>
              <a:t>cionais </a:t>
            </a:r>
            <a:r>
              <a:rPr dirty="0" sz="2200" spc="-110">
                <a:solidFill>
                  <a:srgbClr val="A8A8A8"/>
                </a:solidFill>
              </a:rPr>
              <a:t>correm</a:t>
            </a:r>
            <a:r>
              <a:rPr dirty="0" sz="2200" spc="-45">
                <a:solidFill>
                  <a:srgbClr val="A8A8A8"/>
                </a:solidFill>
              </a:rPr>
              <a:t> </a:t>
            </a:r>
            <a:r>
              <a:rPr dirty="0" sz="2200" spc="-114">
                <a:solidFill>
                  <a:srgbClr val="A8A8A8"/>
                </a:solidFill>
              </a:rPr>
              <a:t>risco</a:t>
            </a:r>
            <a:r>
              <a:rPr dirty="0" sz="2200" spc="-40">
                <a:solidFill>
                  <a:srgbClr val="A8A8A8"/>
                </a:solidFill>
              </a:rPr>
              <a:t> </a:t>
            </a:r>
            <a:r>
              <a:rPr dirty="0" sz="2200" spc="-125">
                <a:solidFill>
                  <a:srgbClr val="A3A3A3"/>
                </a:solidFill>
              </a:rPr>
              <a:t>de</a:t>
            </a:r>
            <a:r>
              <a:rPr dirty="0" sz="2200" spc="-110">
                <a:solidFill>
                  <a:srgbClr val="A3A3A3"/>
                </a:solidFill>
              </a:rPr>
              <a:t> </a:t>
            </a:r>
            <a:r>
              <a:rPr dirty="0" sz="2200" spc="-90">
                <a:solidFill>
                  <a:srgbClr val="AEAEAE"/>
                </a:solidFill>
              </a:rPr>
              <a:t>desligamento</a:t>
            </a:r>
            <a:r>
              <a:rPr dirty="0" sz="2200" spc="60">
                <a:solidFill>
                  <a:srgbClr val="AEAEAE"/>
                </a:solidFill>
              </a:rPr>
              <a:t> </a:t>
            </a:r>
            <a:r>
              <a:rPr dirty="0" sz="2200" spc="-100">
                <a:solidFill>
                  <a:srgbClr val="AEAEAE"/>
                </a:solidFill>
              </a:rPr>
              <a:t>com</a:t>
            </a:r>
            <a:r>
              <a:rPr dirty="0" sz="2200" spc="-55">
                <a:solidFill>
                  <a:srgbClr val="AEAEAE"/>
                </a:solidFill>
              </a:rPr>
              <a:t> </a:t>
            </a:r>
            <a:r>
              <a:rPr dirty="0" sz="2200" spc="-55">
                <a:solidFill>
                  <a:srgbClr val="B3B3B3"/>
                </a:solidFill>
              </a:rPr>
              <a:t>90</a:t>
            </a:r>
            <a:r>
              <a:rPr dirty="0" sz="2200" spc="-114">
                <a:solidFill>
                  <a:srgbClr val="B3B3B3"/>
                </a:solidFill>
              </a:rPr>
              <a:t> </a:t>
            </a:r>
            <a:r>
              <a:rPr dirty="0" sz="2200" spc="-155">
                <a:solidFill>
                  <a:srgbClr val="AFAFAF"/>
                </a:solidFill>
              </a:rPr>
              <a:t>dias</a:t>
            </a:r>
            <a:r>
              <a:rPr dirty="0" sz="2200" spc="5">
                <a:solidFill>
                  <a:srgbClr val="AFAFAF"/>
                </a:solidFill>
              </a:rPr>
              <a:t> </a:t>
            </a:r>
            <a:r>
              <a:rPr dirty="0" sz="2200" spc="-110">
                <a:solidFill>
                  <a:srgbClr val="A7A7A7"/>
                </a:solidFill>
              </a:rPr>
              <a:t>de</a:t>
            </a:r>
            <a:r>
              <a:rPr dirty="0" sz="2200" spc="-160">
                <a:solidFill>
                  <a:srgbClr val="A7A7A7"/>
                </a:solidFill>
              </a:rPr>
              <a:t> </a:t>
            </a:r>
            <a:r>
              <a:rPr dirty="0" sz="2200" spc="-10">
                <a:solidFill>
                  <a:srgbClr val="B3B3B3"/>
                </a:solidFill>
              </a:rPr>
              <a:t>antecedôncia.</a:t>
            </a:r>
            <a:endParaRPr sz="2200"/>
          </a:p>
          <a:p>
            <a:pPr marL="459105" marR="55880" indent="-447040">
              <a:lnSpc>
                <a:spcPts val="2350"/>
              </a:lnSpc>
              <a:spcBef>
                <a:spcPts val="1855"/>
              </a:spcBef>
              <a:tabLst>
                <a:tab pos="453390" algn="l"/>
              </a:tabLst>
            </a:pPr>
            <a:r>
              <a:rPr dirty="0" sz="2200" spc="-50">
                <a:solidFill>
                  <a:srgbClr val="00F0FF"/>
                </a:solidFill>
              </a:rPr>
              <a:t>A</a:t>
            </a:r>
            <a:r>
              <a:rPr dirty="0" sz="2200">
                <a:solidFill>
                  <a:srgbClr val="00F0FF"/>
                </a:solidFill>
              </a:rPr>
              <a:t>	</a:t>
            </a:r>
            <a:r>
              <a:rPr dirty="0" sz="2200" spc="-114">
                <a:solidFill>
                  <a:srgbClr val="15003A"/>
                </a:solidFill>
              </a:rPr>
              <a:t>Recomendaçáo</a:t>
            </a:r>
            <a:r>
              <a:rPr dirty="0" sz="2200" spc="-20">
                <a:solidFill>
                  <a:srgbClr val="15003A"/>
                </a:solidFill>
              </a:rPr>
              <a:t> </a:t>
            </a:r>
            <a:r>
              <a:rPr dirty="0" sz="2200" spc="-65">
                <a:solidFill>
                  <a:srgbClr val="BF5BBD"/>
                </a:solidFill>
              </a:rPr>
              <a:t>Proativa</a:t>
            </a:r>
            <a:r>
              <a:rPr dirty="0" sz="2200" spc="-65">
                <a:solidFill>
                  <a:srgbClr val="460C3F"/>
                </a:solidFill>
              </a:rPr>
              <a:t>:</a:t>
            </a:r>
            <a:r>
              <a:rPr dirty="0" sz="2200" spc="-65">
                <a:solidFill>
                  <a:srgbClr val="B8B8B8"/>
                </a:solidFill>
              </a:rPr>
              <a:t>Supestôes</a:t>
            </a:r>
            <a:r>
              <a:rPr dirty="0" sz="2200" spc="40">
                <a:solidFill>
                  <a:srgbClr val="B8B8B8"/>
                </a:solidFill>
              </a:rPr>
              <a:t> </a:t>
            </a:r>
            <a:r>
              <a:rPr dirty="0" sz="2200" spc="-70">
                <a:solidFill>
                  <a:srgbClr val="B8B8B8"/>
                </a:solidFill>
              </a:rPr>
              <a:t>automáticas</a:t>
            </a:r>
            <a:r>
              <a:rPr dirty="0" sz="2200" spc="70">
                <a:solidFill>
                  <a:srgbClr val="B8B8B8"/>
                </a:solidFill>
              </a:rPr>
              <a:t> </a:t>
            </a:r>
            <a:r>
              <a:rPr dirty="0" sz="2200" spc="-110">
                <a:solidFill>
                  <a:srgbClr val="A5A5A5"/>
                </a:solidFill>
              </a:rPr>
              <a:t>de</a:t>
            </a:r>
            <a:r>
              <a:rPr dirty="0" sz="2200" spc="-165">
                <a:solidFill>
                  <a:srgbClr val="A5A5A5"/>
                </a:solidFill>
              </a:rPr>
              <a:t> </a:t>
            </a:r>
            <a:r>
              <a:rPr dirty="0" sz="2200" spc="-80">
                <a:solidFill>
                  <a:srgbClr val="B6B6B6"/>
                </a:solidFill>
              </a:rPr>
              <a:t>readequaçao </a:t>
            </a:r>
            <a:r>
              <a:rPr dirty="0" sz="2200" spc="-155">
                <a:solidFill>
                  <a:srgbClr val="ACACAC"/>
                </a:solidFill>
              </a:rPr>
              <a:t>salarial.</a:t>
            </a:r>
            <a:r>
              <a:rPr dirty="0" sz="2200" spc="-30">
                <a:solidFill>
                  <a:srgbClr val="ACACAC"/>
                </a:solidFill>
              </a:rPr>
              <a:t> </a:t>
            </a:r>
            <a:r>
              <a:rPr dirty="0" sz="2200" spc="-130">
                <a:solidFill>
                  <a:srgbClr val="B1B1B1"/>
                </a:solidFill>
              </a:rPr>
              <a:t>movimentaçÕes</a:t>
            </a:r>
            <a:r>
              <a:rPr dirty="0" sz="2200" spc="20">
                <a:solidFill>
                  <a:srgbClr val="B1B1B1"/>
                </a:solidFill>
              </a:rPr>
              <a:t> </a:t>
            </a:r>
            <a:r>
              <a:rPr dirty="0" sz="2200" spc="-114">
                <a:solidFill>
                  <a:srgbClr val="A8A8A8"/>
                </a:solidFill>
              </a:rPr>
              <a:t>internas</a:t>
            </a:r>
            <a:r>
              <a:rPr dirty="0" sz="2200" spc="20">
                <a:solidFill>
                  <a:srgbClr val="A8A8A8"/>
                </a:solidFill>
              </a:rPr>
              <a:t> </a:t>
            </a:r>
            <a:r>
              <a:rPr dirty="0" sz="2200" spc="-125">
                <a:solidFill>
                  <a:srgbClr val="AFAFAF"/>
                </a:solidFill>
              </a:rPr>
              <a:t>ou</a:t>
            </a:r>
            <a:r>
              <a:rPr dirty="0" sz="2200" spc="-120">
                <a:solidFill>
                  <a:srgbClr val="AFAFAF"/>
                </a:solidFill>
              </a:rPr>
              <a:t> </a:t>
            </a:r>
            <a:r>
              <a:rPr dirty="0" sz="2200" spc="-70">
                <a:solidFill>
                  <a:srgbClr val="B1B1B1"/>
                </a:solidFill>
              </a:rPr>
              <a:t>feedbacks</a:t>
            </a:r>
            <a:r>
              <a:rPr dirty="0" sz="2200" spc="50">
                <a:solidFill>
                  <a:srgbClr val="B1B1B1"/>
                </a:solidFill>
              </a:rPr>
              <a:t> </a:t>
            </a:r>
            <a:r>
              <a:rPr dirty="0" sz="2200" spc="-65">
                <a:solidFill>
                  <a:srgbClr val="ACACAC"/>
                </a:solidFill>
              </a:rPr>
              <a:t>foca</a:t>
            </a:r>
            <a:r>
              <a:rPr dirty="0" sz="2200" spc="-375">
                <a:solidFill>
                  <a:srgbClr val="ACACAC"/>
                </a:solidFill>
              </a:rPr>
              <a:t> </a:t>
            </a:r>
            <a:r>
              <a:rPr dirty="0" sz="2200" spc="-105">
                <a:solidFill>
                  <a:srgbClr val="ACACAC"/>
                </a:solidFill>
              </a:rPr>
              <a:t>dos</a:t>
            </a:r>
            <a:r>
              <a:rPr dirty="0" sz="2200" spc="-45">
                <a:solidFill>
                  <a:srgbClr val="ACACAC"/>
                </a:solidFill>
              </a:rPr>
              <a:t> </a:t>
            </a:r>
            <a:r>
              <a:rPr dirty="0" sz="2200" spc="-25">
                <a:solidFill>
                  <a:srgbClr val="AFAFAF"/>
                </a:solidFill>
              </a:rPr>
              <a:t>em </a:t>
            </a:r>
            <a:r>
              <a:rPr dirty="0" sz="2200" spc="-10">
                <a:solidFill>
                  <a:srgbClr val="AAAAAA"/>
                </a:solidFill>
              </a:rPr>
              <a:t>satisfação</a:t>
            </a:r>
            <a:endParaRPr sz="2200"/>
          </a:p>
        </p:txBody>
      </p:sp>
      <p:sp>
        <p:nvSpPr>
          <p:cNvPr id="8" name="object 8" descr=""/>
          <p:cNvSpPr txBox="1"/>
          <p:nvPr/>
        </p:nvSpPr>
        <p:spPr>
          <a:xfrm>
            <a:off x="1872617" y="6656599"/>
            <a:ext cx="1263650" cy="1303655"/>
          </a:xfrm>
          <a:prstGeom prst="rect">
            <a:avLst/>
          </a:prstGeom>
        </p:spPr>
        <p:txBody>
          <a:bodyPr wrap="square" lIns="0" tIns="3384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65"/>
              </a:spcBef>
            </a:pPr>
            <a:r>
              <a:rPr dirty="0" sz="3850" spc="-340">
                <a:solidFill>
                  <a:srgbClr val="16F9F4"/>
                </a:solidFill>
                <a:latin typeface="Arial MT"/>
                <a:cs typeface="Arial MT"/>
              </a:rPr>
              <a:t>92%</a:t>
            </a:r>
            <a:endParaRPr sz="38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20"/>
              </a:spcBef>
            </a:pPr>
            <a:r>
              <a:rPr dirty="0" sz="1550" spc="-180">
                <a:solidFill>
                  <a:srgbClr val="6E8591"/>
                </a:solidFill>
                <a:latin typeface="Arial MT"/>
                <a:cs typeface="Arial MT"/>
              </a:rPr>
              <a:t>PRE</a:t>
            </a:r>
            <a:r>
              <a:rPr dirty="0" sz="1550" spc="-120">
                <a:solidFill>
                  <a:srgbClr val="6E8591"/>
                </a:solidFill>
                <a:latin typeface="Arial MT"/>
                <a:cs typeface="Arial MT"/>
              </a:rPr>
              <a:t> </a:t>
            </a:r>
            <a:r>
              <a:rPr dirty="0" sz="1550" spc="-175">
                <a:solidFill>
                  <a:srgbClr val="01182A"/>
                </a:solidFill>
                <a:latin typeface="Arial MT"/>
                <a:cs typeface="Arial MT"/>
              </a:rPr>
              <a:t>C</a:t>
            </a:r>
            <a:r>
              <a:rPr dirty="0" sz="1550" spc="-225">
                <a:solidFill>
                  <a:srgbClr val="01182A"/>
                </a:solidFill>
                <a:latin typeface="Arial MT"/>
                <a:cs typeface="Arial MT"/>
              </a:rPr>
              <a:t> </a:t>
            </a:r>
            <a:r>
              <a:rPr dirty="0" sz="1550" spc="-85">
                <a:solidFill>
                  <a:srgbClr val="758790"/>
                </a:solidFill>
                <a:latin typeface="Arial MT"/>
                <a:cs typeface="Arial MT"/>
              </a:rPr>
              <a:t>I</a:t>
            </a:r>
            <a:r>
              <a:rPr dirty="0" sz="1550" spc="-215">
                <a:solidFill>
                  <a:srgbClr val="758790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051A24"/>
                </a:solidFill>
                <a:latin typeface="Arial MT"/>
                <a:cs typeface="Arial MT"/>
              </a:rPr>
              <a:t>SÃO</a:t>
            </a:r>
            <a:r>
              <a:rPr dirty="0" sz="1550" spc="25">
                <a:solidFill>
                  <a:srgbClr val="051A24"/>
                </a:solidFill>
                <a:latin typeface="Arial MT"/>
                <a:cs typeface="Arial MT"/>
              </a:rPr>
              <a:t> </a:t>
            </a:r>
            <a:r>
              <a:rPr dirty="0" sz="1550" spc="-85">
                <a:solidFill>
                  <a:srgbClr val="70858E"/>
                </a:solidFill>
                <a:latin typeface="Arial MT"/>
                <a:cs typeface="Arial MT"/>
              </a:rPr>
              <a:t>I</a:t>
            </a:r>
            <a:r>
              <a:rPr dirty="0" sz="1550" spc="-204">
                <a:solidFill>
                  <a:srgbClr val="70858E"/>
                </a:solidFill>
                <a:latin typeface="Arial MT"/>
                <a:cs typeface="Arial MT"/>
              </a:rPr>
              <a:t> </a:t>
            </a:r>
            <a:r>
              <a:rPr dirty="0" sz="1550" spc="-310">
                <a:solidFill>
                  <a:srgbClr val="707070"/>
                </a:solidFill>
                <a:latin typeface="Arial MT"/>
                <a:cs typeface="Arial MT"/>
              </a:rPr>
              <a:t>A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323039" y="6931459"/>
            <a:ext cx="1649730" cy="673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50" spc="-500">
                <a:solidFill>
                  <a:srgbClr val="1CE9F6"/>
                </a:solidFill>
                <a:latin typeface="Arial MT"/>
                <a:cs typeface="Arial MT"/>
              </a:rPr>
              <a:t>3</a:t>
            </a:r>
            <a:r>
              <a:rPr dirty="0" sz="4250" spc="-285">
                <a:solidFill>
                  <a:srgbClr val="1CE9F6"/>
                </a:solidFill>
                <a:latin typeface="Arial MT"/>
                <a:cs typeface="Arial MT"/>
              </a:rPr>
              <a:t> </a:t>
            </a:r>
            <a:r>
              <a:rPr dirty="0" sz="4250" spc="-515">
                <a:solidFill>
                  <a:srgbClr val="15E6FD"/>
                </a:solidFill>
                <a:latin typeface="Arial MT"/>
                <a:cs typeface="Arial MT"/>
              </a:rPr>
              <a:t>Meses</a:t>
            </a:r>
            <a:endParaRPr sz="42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96688" y="6602117"/>
            <a:ext cx="1062355" cy="1358265"/>
          </a:xfrm>
          <a:prstGeom prst="rect">
            <a:avLst/>
          </a:prstGeom>
        </p:spPr>
        <p:txBody>
          <a:bodyPr wrap="square" lIns="0" tIns="3422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2695"/>
              </a:spcBef>
            </a:pPr>
            <a:r>
              <a:rPr dirty="0" sz="4250" spc="-260">
                <a:solidFill>
                  <a:srgbClr val="2BDBF4"/>
                </a:solidFill>
                <a:latin typeface="Arial MT"/>
                <a:cs typeface="Arial MT"/>
              </a:rPr>
              <a:t>-</a:t>
            </a:r>
            <a:r>
              <a:rPr dirty="0" sz="4250" spc="-540">
                <a:solidFill>
                  <a:srgbClr val="2BDBF4"/>
                </a:solidFill>
                <a:latin typeface="Arial MT"/>
                <a:cs typeface="Arial MT"/>
              </a:rPr>
              <a:t>40%</a:t>
            </a:r>
            <a:endParaRPr sz="4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550" spc="-204">
                <a:solidFill>
                  <a:srgbClr val="676767"/>
                </a:solidFill>
                <a:latin typeface="Arial MT"/>
                <a:cs typeface="Arial MT"/>
              </a:rPr>
              <a:t>T</a:t>
            </a:r>
            <a:r>
              <a:rPr dirty="0" sz="1550" spc="-204">
                <a:solidFill>
                  <a:srgbClr val="8C909E"/>
                </a:solidFill>
                <a:latin typeface="Arial MT"/>
                <a:cs typeface="Arial MT"/>
              </a:rPr>
              <a:t>U</a:t>
            </a:r>
            <a:r>
              <a:rPr dirty="0" sz="1550" spc="-165">
                <a:solidFill>
                  <a:srgbClr val="8C909E"/>
                </a:solidFill>
                <a:latin typeface="Arial MT"/>
                <a:cs typeface="Arial MT"/>
              </a:rPr>
              <a:t> </a:t>
            </a:r>
            <a:r>
              <a:rPr dirty="0" sz="1550" spc="-375">
                <a:solidFill>
                  <a:srgbClr val="728293"/>
                </a:solidFill>
                <a:latin typeface="Arial MT"/>
                <a:cs typeface="Arial MT"/>
              </a:rPr>
              <a:t>R</a:t>
            </a:r>
            <a:r>
              <a:rPr dirty="0" sz="1550" spc="-195">
                <a:solidFill>
                  <a:srgbClr val="728293"/>
                </a:solidFill>
                <a:latin typeface="Arial MT"/>
                <a:cs typeface="Arial MT"/>
              </a:rPr>
              <a:t> </a:t>
            </a:r>
            <a:r>
              <a:rPr dirty="0" sz="1550" spc="-210">
                <a:solidFill>
                  <a:srgbClr val="000E18"/>
                </a:solidFill>
                <a:latin typeface="Arial MT"/>
                <a:cs typeface="Arial MT"/>
              </a:rPr>
              <a:t>N</a:t>
            </a:r>
            <a:r>
              <a:rPr dirty="0" sz="1550" spc="-195">
                <a:solidFill>
                  <a:srgbClr val="000E18"/>
                </a:solidFill>
                <a:latin typeface="Arial MT"/>
                <a:cs typeface="Arial MT"/>
              </a:rPr>
              <a:t> </a:t>
            </a:r>
            <a:r>
              <a:rPr dirty="0" sz="1550" spc="-114">
                <a:solidFill>
                  <a:srgbClr val="0C2633"/>
                </a:solidFill>
                <a:latin typeface="Arial MT"/>
                <a:cs typeface="Arial MT"/>
              </a:rPr>
              <a:t>O</a:t>
            </a:r>
            <a:r>
              <a:rPr dirty="0" sz="1550" spc="-155">
                <a:solidFill>
                  <a:srgbClr val="0C2633"/>
                </a:solidFill>
                <a:latin typeface="Arial MT"/>
                <a:cs typeface="Arial MT"/>
              </a:rPr>
              <a:t> </a:t>
            </a:r>
            <a:r>
              <a:rPr dirty="0" sz="1550" spc="-315">
                <a:solidFill>
                  <a:srgbClr val="A8A8A8"/>
                </a:solidFill>
                <a:latin typeface="Arial MT"/>
                <a:cs typeface="Arial MT"/>
              </a:rPr>
              <a:t>V</a:t>
            </a:r>
            <a:r>
              <a:rPr dirty="0" sz="1550" spc="-22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1550" spc="-295">
                <a:solidFill>
                  <a:srgbClr val="7C8C9C"/>
                </a:solidFill>
                <a:latin typeface="Arial MT"/>
                <a:cs typeface="Arial MT"/>
              </a:rPr>
              <a:t>E</a:t>
            </a:r>
            <a:r>
              <a:rPr dirty="0" sz="1550" spc="-185">
                <a:solidFill>
                  <a:srgbClr val="7C8C9C"/>
                </a:solidFill>
                <a:latin typeface="Arial MT"/>
                <a:cs typeface="Arial MT"/>
              </a:rPr>
              <a:t> </a:t>
            </a:r>
            <a:r>
              <a:rPr dirty="0" sz="1550" spc="-425">
                <a:solidFill>
                  <a:srgbClr val="728593"/>
                </a:solidFill>
                <a:latin typeface="Arial MT"/>
                <a:cs typeface="Arial MT"/>
              </a:rPr>
              <a:t>R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182" y="848530"/>
            <a:ext cx="7588884" cy="8108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3840" algn="l"/>
              </a:tabLst>
            </a:pPr>
            <a:r>
              <a:rPr dirty="0" spc="-875">
                <a:solidFill>
                  <a:srgbClr val="00F2FD"/>
                </a:solidFill>
              </a:rPr>
              <a:t>)</a:t>
            </a:r>
            <a:r>
              <a:rPr dirty="0" spc="475">
                <a:solidFill>
                  <a:srgbClr val="00F2FD"/>
                </a:solidFill>
              </a:rPr>
              <a:t> </a:t>
            </a:r>
            <a:r>
              <a:rPr dirty="0" spc="-605">
                <a:solidFill>
                  <a:srgbClr val="03EFF9"/>
                </a:solidFill>
              </a:rPr>
              <a:t>ESTRATÉGIA</a:t>
            </a:r>
            <a:r>
              <a:rPr dirty="0">
                <a:solidFill>
                  <a:srgbClr val="03EFF9"/>
                </a:solidFill>
              </a:rPr>
              <a:t>	</a:t>
            </a:r>
            <a:r>
              <a:rPr dirty="0" spc="-900">
                <a:solidFill>
                  <a:srgbClr val="00F0F7"/>
                </a:solidFill>
              </a:rPr>
              <a:t>DE</a:t>
            </a:r>
            <a:r>
              <a:rPr dirty="0" spc="455">
                <a:solidFill>
                  <a:srgbClr val="00F0F7"/>
                </a:solidFill>
              </a:rPr>
              <a:t> </a:t>
            </a:r>
            <a:r>
              <a:rPr dirty="0" spc="-695">
                <a:solidFill>
                  <a:srgbClr val="05EBFF"/>
                </a:solidFill>
              </a:rPr>
              <a:t>ATRAÇÃO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5706" y="3722399"/>
            <a:ext cx="20080605" cy="432434"/>
          </a:xfrm>
          <a:custGeom>
            <a:avLst/>
            <a:gdLst/>
            <a:ahLst/>
            <a:cxnLst/>
            <a:rect l="l" t="t" r="r" b="b"/>
            <a:pathLst>
              <a:path w="20080605" h="432435">
                <a:moveTo>
                  <a:pt x="20080541" y="431924"/>
                </a:moveTo>
                <a:lnTo>
                  <a:pt x="0" y="43192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1924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787063" y="3654073"/>
            <a:ext cx="4486275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47065" algn="l"/>
              </a:tabLst>
            </a:pPr>
            <a:r>
              <a:rPr dirty="0" sz="3200" spc="-365">
                <a:solidFill>
                  <a:srgbClr val="C85DE6"/>
                </a:solidFill>
                <a:latin typeface="Arial MT"/>
                <a:cs typeface="Arial MT"/>
              </a:rPr>
              <a:t>@ł</a:t>
            </a:r>
            <a:r>
              <a:rPr dirty="0" sz="3200">
                <a:solidFill>
                  <a:srgbClr val="C85DE6"/>
                </a:solidFill>
                <a:latin typeface="Arial MT"/>
                <a:cs typeface="Arial MT"/>
              </a:rPr>
              <a:t>	</a:t>
            </a:r>
            <a:r>
              <a:rPr dirty="0" sz="3200" spc="-80">
                <a:solidFill>
                  <a:srgbClr val="05E8F7"/>
                </a:solidFill>
                <a:latin typeface="Arial MT"/>
                <a:cs typeface="Arial MT"/>
              </a:rPr>
              <a:t>NÍDIA</a:t>
            </a:r>
            <a:r>
              <a:rPr dirty="0" sz="3200" spc="-60">
                <a:solidFill>
                  <a:srgbClr val="05E8F7"/>
                </a:solidFill>
                <a:latin typeface="Arial MT"/>
                <a:cs typeface="Arial MT"/>
              </a:rPr>
              <a:t> </a:t>
            </a:r>
            <a:r>
              <a:rPr dirty="0" sz="3200" spc="-400">
                <a:solidFill>
                  <a:srgbClr val="00E8ED"/>
                </a:solidFill>
                <a:latin typeface="Arial MT"/>
                <a:cs typeface="Arial MT"/>
              </a:rPr>
              <a:t>PROORANÁTICA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819090" y="3670434"/>
            <a:ext cx="588772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01675" algn="l"/>
                <a:tab pos="2390140" algn="l"/>
              </a:tabLst>
            </a:pPr>
            <a:r>
              <a:rPr dirty="0" sz="3100" spc="-615">
                <a:solidFill>
                  <a:srgbClr val="BF5BF2"/>
                </a:solidFill>
                <a:latin typeface="Arial MT"/>
                <a:cs typeface="Arial MT"/>
              </a:rPr>
              <a:t>@4</a:t>
            </a:r>
            <a:r>
              <a:rPr dirty="0" sz="3100">
                <a:solidFill>
                  <a:srgbClr val="BF5BF2"/>
                </a:solidFill>
                <a:latin typeface="Arial MT"/>
                <a:cs typeface="Arial MT"/>
              </a:rPr>
              <a:t>	</a:t>
            </a:r>
            <a:r>
              <a:rPr dirty="0" sz="3100" spc="-365">
                <a:solidFill>
                  <a:srgbClr val="0AEDFB"/>
                </a:solidFill>
                <a:latin typeface="Arial MT"/>
                <a:cs typeface="Arial MT"/>
              </a:rPr>
              <a:t>ANÚNCIO</a:t>
            </a:r>
            <a:r>
              <a:rPr dirty="0" sz="3100">
                <a:solidFill>
                  <a:srgbClr val="0AEDFB"/>
                </a:solidFill>
                <a:latin typeface="Arial MT"/>
                <a:cs typeface="Arial MT"/>
              </a:rPr>
              <a:t>	</a:t>
            </a:r>
            <a:r>
              <a:rPr dirty="0" sz="3100" spc="-465">
                <a:solidFill>
                  <a:srgbClr val="00EFFD"/>
                </a:solidFill>
                <a:latin typeface="Arial MT"/>
                <a:cs typeface="Arial MT"/>
              </a:rPr>
              <a:t>EM</a:t>
            </a:r>
            <a:r>
              <a:rPr dirty="0" sz="3100" spc="375">
                <a:solidFill>
                  <a:srgbClr val="00EFFD"/>
                </a:solidFill>
                <a:latin typeface="Arial MT"/>
                <a:cs typeface="Arial MT"/>
              </a:rPr>
              <a:t> </a:t>
            </a:r>
            <a:r>
              <a:rPr dirty="0" sz="3100" spc="-390">
                <a:solidFill>
                  <a:srgbClr val="0CEBFD"/>
                </a:solidFill>
                <a:latin typeface="Arial MT"/>
                <a:cs typeface="Arial MT"/>
              </a:rPr>
              <a:t>VIDEO</a:t>
            </a:r>
            <a:r>
              <a:rPr dirty="0" sz="3100" spc="280">
                <a:solidFill>
                  <a:srgbClr val="0CEBFD"/>
                </a:solidFill>
                <a:latin typeface="Arial MT"/>
                <a:cs typeface="Arial MT"/>
              </a:rPr>
              <a:t> </a:t>
            </a:r>
            <a:r>
              <a:rPr dirty="0" sz="3100" spc="-385">
                <a:solidFill>
                  <a:srgbClr val="11E2F6"/>
                </a:solidFill>
                <a:latin typeface="Arial MT"/>
                <a:cs typeface="Arial MT"/>
              </a:rPr>
              <a:t>(ROT</a:t>
            </a:r>
            <a:r>
              <a:rPr dirty="0" sz="3100" spc="-484">
                <a:solidFill>
                  <a:srgbClr val="11E2F6"/>
                </a:solidFill>
                <a:latin typeface="Arial MT"/>
                <a:cs typeface="Arial MT"/>
              </a:rPr>
              <a:t> </a:t>
            </a:r>
            <a:r>
              <a:rPr dirty="0" sz="3100" spc="-135">
                <a:solidFill>
                  <a:srgbClr val="3FD3DB"/>
                </a:solidFill>
                <a:latin typeface="Arial MT"/>
                <a:cs typeface="Arial MT"/>
              </a:rPr>
              <a:t>EIR0)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5706" y="4539128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706" y="4931786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4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0845108" y="4854298"/>
            <a:ext cx="158432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344256"/>
                </a:solidFill>
                <a:latin typeface="Arial MT"/>
                <a:cs typeface="Arial MT"/>
              </a:rPr>
              <a:t>vs</a:t>
            </a:r>
            <a:r>
              <a:rPr dirty="0" sz="1900" spc="-105">
                <a:solidFill>
                  <a:srgbClr val="344256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AEAEAE"/>
                </a:solidFill>
                <a:latin typeface="Arial MT"/>
                <a:cs typeface="Arial MT"/>
              </a:rPr>
              <a:t>F</a:t>
            </a:r>
            <a:r>
              <a:rPr dirty="0" sz="1900" spc="-10">
                <a:solidFill>
                  <a:srgbClr val="999999"/>
                </a:solidFill>
                <a:latin typeface="Arial MT"/>
                <a:cs typeface="Arial MT"/>
              </a:rPr>
              <a:t>ac</a:t>
            </a:r>
            <a:r>
              <a:rPr dirty="0" sz="1900" spc="-32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A8A8A8"/>
                </a:solidFill>
                <a:latin typeface="Arial MT"/>
                <a:cs typeface="Arial MT"/>
              </a:rPr>
              <a:t>ilidade).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5706" y="5575746"/>
            <a:ext cx="20080605" cy="1374775"/>
            <a:chOff x="15706" y="5575746"/>
            <a:chExt cx="20080605" cy="1374775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3072" y="5591452"/>
              <a:ext cx="219888" cy="21988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5706" y="5575746"/>
              <a:ext cx="20080605" cy="1374775"/>
            </a:xfrm>
            <a:custGeom>
              <a:avLst/>
              <a:gdLst/>
              <a:ahLst/>
              <a:cxnLst/>
              <a:rect l="l" t="t" r="r" b="b"/>
              <a:pathLst>
                <a:path w="20080605" h="1374775">
                  <a:moveTo>
                    <a:pt x="20080541" y="1374303"/>
                  </a:moveTo>
                  <a:lnTo>
                    <a:pt x="0" y="1374303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1374303"/>
                  </a:lnTo>
                  <a:close/>
                </a:path>
              </a:pathLst>
            </a:custGeom>
            <a:solidFill>
              <a:srgbClr val="080F1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811901" y="4376521"/>
            <a:ext cx="7152640" cy="25323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050">
                <a:solidFill>
                  <a:srgbClr val="AEAEAE"/>
                </a:solidFill>
                <a:latin typeface="Arial MT"/>
                <a:cs typeface="Arial MT"/>
              </a:rPr>
              <a:t>Captura</a:t>
            </a:r>
            <a:r>
              <a:rPr dirty="0" sz="2050" spc="-15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FAFAF"/>
                </a:solidFill>
                <a:latin typeface="Arial MT"/>
                <a:cs typeface="Arial MT"/>
              </a:rPr>
              <a:t>inteligente</a:t>
            </a:r>
            <a:r>
              <a:rPr dirty="0" sz="2050" spc="-7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CACAC"/>
                </a:solidFill>
                <a:latin typeface="Arial MT"/>
                <a:cs typeface="Arial MT"/>
              </a:rPr>
              <a:t>de</a:t>
            </a:r>
            <a:r>
              <a:rPr dirty="0" sz="2050" spc="-13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45">
                <a:solidFill>
                  <a:srgbClr val="A5A5A5"/>
                </a:solidFill>
                <a:latin typeface="Arial MT"/>
                <a:cs typeface="Arial MT"/>
              </a:rPr>
              <a:t>leads</a:t>
            </a:r>
            <a:r>
              <a:rPr dirty="0" sz="2050" spc="-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050" spc="-140">
                <a:solidFill>
                  <a:srgbClr val="B1B1B1"/>
                </a:solidFill>
                <a:latin typeface="Arial MT"/>
                <a:cs typeface="Arial MT"/>
              </a:rPr>
              <a:t>B2B</a:t>
            </a:r>
            <a:r>
              <a:rPr dirty="0" sz="2050" spc="-10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EAEAE"/>
                </a:solidFill>
                <a:latin typeface="Arial MT"/>
                <a:cs typeface="Arial MT"/>
              </a:rPr>
              <a:t>mapeando</a:t>
            </a:r>
            <a:r>
              <a:rPr dirty="0" sz="2050" spc="-3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FAFAF"/>
                </a:solidFill>
                <a:latin typeface="Arial MT"/>
                <a:cs typeface="Arial MT"/>
              </a:rPr>
              <a:t>com</a:t>
            </a:r>
            <a:r>
              <a:rPr dirty="0" sz="2050" spc="-31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BABABA"/>
                </a:solidFill>
                <a:latin typeface="Arial MT"/>
                <a:cs typeface="Arial MT"/>
              </a:rPr>
              <a:t>oortamento</a:t>
            </a:r>
            <a:r>
              <a:rPr dirty="0" sz="2050" spc="10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AFAFAF"/>
                </a:solidFill>
                <a:latin typeface="Arial MT"/>
                <a:cs typeface="Arial MT"/>
              </a:rPr>
              <a:t>e</a:t>
            </a:r>
            <a:endParaRPr sz="20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660"/>
              </a:spcBef>
            </a:pPr>
            <a:r>
              <a:rPr dirty="0" sz="1900">
                <a:solidFill>
                  <a:srgbClr val="A7A7A7"/>
                </a:solidFill>
                <a:latin typeface="Arial MT"/>
                <a:cs typeface="Arial MT"/>
              </a:rPr>
              <a:t>pes</a:t>
            </a:r>
            <a:r>
              <a:rPr dirty="0" sz="1900">
                <a:solidFill>
                  <a:srgbClr val="ACACAC"/>
                </a:solidFill>
                <a:latin typeface="Arial MT"/>
                <a:cs typeface="Arial MT"/>
              </a:rPr>
              <a:t>quis</a:t>
            </a:r>
            <a:r>
              <a:rPr dirty="0" sz="1900">
                <a:solidFill>
                  <a:srgbClr val="909090"/>
                </a:solidFill>
                <a:latin typeface="Arial MT"/>
                <a:cs typeface="Arial MT"/>
              </a:rPr>
              <a:t>as</a:t>
            </a:r>
            <a:r>
              <a:rPr dirty="0" sz="1900" spc="125">
                <a:solidFill>
                  <a:srgbClr val="909090"/>
                </a:solidFill>
                <a:latin typeface="Arial MT"/>
                <a:cs typeface="Arial MT"/>
              </a:rPr>
              <a:t> </a:t>
            </a:r>
            <a:r>
              <a:rPr dirty="0" sz="1900" spc="70">
                <a:solidFill>
                  <a:srgbClr val="AFAFAF"/>
                </a:solidFill>
                <a:latin typeface="Arial MT"/>
                <a:cs typeface="Arial MT"/>
              </a:rPr>
              <a:t>corporat</a:t>
            </a:r>
            <a:r>
              <a:rPr dirty="0" sz="1900" spc="-21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AAAAA"/>
                </a:solidFill>
                <a:latin typeface="Arial MT"/>
                <a:cs typeface="Arial MT"/>
              </a:rPr>
              <a:t>ivas</a:t>
            </a:r>
            <a:r>
              <a:rPr dirty="0" sz="1900" spc="16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AAAAA"/>
                </a:solidFill>
                <a:latin typeface="Arial MT"/>
                <a:cs typeface="Arial MT"/>
              </a:rPr>
              <a:t>at</a:t>
            </a:r>
            <a:r>
              <a:rPr dirty="0" sz="1900" spc="-30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A8A8A8"/>
                </a:solidFill>
                <a:latin typeface="Arial MT"/>
                <a:cs typeface="Arial MT"/>
              </a:rPr>
              <a:t>ivas.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900">
              <a:latin typeface="Arial MT"/>
              <a:cs typeface="Arial MT"/>
            </a:endParaRPr>
          </a:p>
          <a:p>
            <a:pPr marL="27940">
              <a:lnSpc>
                <a:spcPct val="100000"/>
              </a:lnSpc>
              <a:tabLst>
                <a:tab pos="452755" algn="l"/>
              </a:tabLst>
            </a:pPr>
            <a:r>
              <a:rPr dirty="0" sz="2200" spc="-545">
                <a:solidFill>
                  <a:srgbClr val="1AF2FF"/>
                </a:solidFill>
                <a:latin typeface="Arial MT"/>
                <a:cs typeface="Arial MT"/>
              </a:rPr>
              <a:t>77</a:t>
            </a:r>
            <a:r>
              <a:rPr dirty="0" sz="2200">
                <a:solidFill>
                  <a:srgbClr val="1AF2FF"/>
                </a:solidFill>
                <a:latin typeface="Arial MT"/>
                <a:cs typeface="Arial MT"/>
              </a:rPr>
              <a:t>	</a:t>
            </a:r>
            <a:r>
              <a:rPr dirty="0" sz="2200" spc="-135">
                <a:solidFill>
                  <a:srgbClr val="B3B3B3"/>
                </a:solidFill>
                <a:latin typeface="Arial MT"/>
                <a:cs typeface="Arial MT"/>
              </a:rPr>
              <a:t>Linkedln</a:t>
            </a:r>
            <a:r>
              <a:rPr dirty="0" sz="2200" spc="-2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200" spc="-210">
                <a:solidFill>
                  <a:srgbClr val="AAAAAA"/>
                </a:solidFill>
                <a:latin typeface="Arial MT"/>
                <a:cs typeface="Arial MT"/>
              </a:rPr>
              <a:t>Ads</a:t>
            </a:r>
            <a:r>
              <a:rPr dirty="0" sz="2200" spc="-1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A3A3A3"/>
                </a:solidFill>
                <a:latin typeface="Arial MT"/>
                <a:cs typeface="Arial MT"/>
              </a:rPr>
              <a:t>focado</a:t>
            </a:r>
            <a:r>
              <a:rPr dirty="0" sz="2200" spc="-8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70697C"/>
                </a:solidFill>
                <a:latin typeface="Arial MT"/>
                <a:cs typeface="Arial MT"/>
              </a:rPr>
              <a:t>em</a:t>
            </a:r>
            <a:r>
              <a:rPr dirty="0" sz="2200" spc="-70">
                <a:solidFill>
                  <a:srgbClr val="70697C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AFAFAF"/>
                </a:solidFill>
                <a:latin typeface="Arial MT"/>
                <a:cs typeface="Arial MT"/>
              </a:rPr>
              <a:t>decisores</a:t>
            </a:r>
            <a:r>
              <a:rPr dirty="0" sz="2200" spc="4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AAAAAA"/>
                </a:solidFill>
                <a:latin typeface="Arial MT"/>
                <a:cs typeface="Arial MT"/>
              </a:rPr>
              <a:t>coroorativos.</a:t>
            </a:r>
            <a:endParaRPr sz="2200">
              <a:latin typeface="Arial MT"/>
              <a:cs typeface="Arial MT"/>
            </a:endParaRPr>
          </a:p>
          <a:p>
            <a:pPr marL="27940">
              <a:lnSpc>
                <a:spcPct val="100000"/>
              </a:lnSpc>
              <a:spcBef>
                <a:spcPts val="1565"/>
              </a:spcBef>
              <a:tabLst>
                <a:tab pos="452120" algn="l"/>
              </a:tabLst>
            </a:pPr>
            <a:r>
              <a:rPr dirty="0" sz="2200" spc="-545">
                <a:solidFill>
                  <a:srgbClr val="15EDF6"/>
                </a:solidFill>
                <a:latin typeface="Arial MT"/>
                <a:cs typeface="Arial MT"/>
              </a:rPr>
              <a:t>77</a:t>
            </a:r>
            <a:r>
              <a:rPr dirty="0" sz="2200">
                <a:solidFill>
                  <a:srgbClr val="15EDF6"/>
                </a:solidFill>
                <a:latin typeface="Arial MT"/>
                <a:cs typeface="Arial MT"/>
              </a:rPr>
              <a:t>	</a:t>
            </a:r>
            <a:r>
              <a:rPr dirty="0" sz="2200" spc="-110">
                <a:solidFill>
                  <a:srgbClr val="AEAEAE"/>
                </a:solidFill>
                <a:latin typeface="Arial MT"/>
                <a:cs typeface="Arial MT"/>
              </a:rPr>
              <a:t>Maoeamento</a:t>
            </a:r>
            <a:r>
              <a:rPr dirty="0" sz="2200" spc="2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A3A3A3"/>
                </a:solidFill>
                <a:latin typeface="Arial MT"/>
                <a:cs typeface="Arial MT"/>
              </a:rPr>
              <a:t>de</a:t>
            </a:r>
            <a:r>
              <a:rPr dirty="0" sz="2200" spc="-16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B1B1B1"/>
                </a:solidFill>
                <a:latin typeface="Arial MT"/>
                <a:cs typeface="Arial MT"/>
              </a:rPr>
              <a:t>intenção</a:t>
            </a:r>
            <a:r>
              <a:rPr dirty="0" sz="2200" spc="2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A3A3A3"/>
                </a:solidFill>
                <a:latin typeface="Arial MT"/>
                <a:cs typeface="Arial MT"/>
              </a:rPr>
              <a:t>de</a:t>
            </a:r>
            <a:r>
              <a:rPr dirty="0" sz="2200" spc="-17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AEAEAE"/>
                </a:solidFill>
                <a:latin typeface="Arial MT"/>
                <a:cs typeface="Arial MT"/>
              </a:rPr>
              <a:t>compra</a:t>
            </a:r>
            <a:r>
              <a:rPr dirty="0" sz="2200" spc="-1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A3A3A3"/>
                </a:solidFill>
                <a:latin typeface="Arial MT"/>
                <a:cs typeface="Arial MT"/>
              </a:rPr>
              <a:t>de</a:t>
            </a:r>
            <a:r>
              <a:rPr dirty="0" sz="2200" spc="-15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B1B1B1"/>
                </a:solidFill>
                <a:latin typeface="Arial MT"/>
                <a:cs typeface="Arial MT"/>
              </a:rPr>
              <a:t>softwares.</a:t>
            </a:r>
            <a:endParaRPr sz="2200">
              <a:latin typeface="Arial MT"/>
              <a:cs typeface="Arial MT"/>
            </a:endParaRPr>
          </a:p>
          <a:p>
            <a:pPr marL="27940">
              <a:lnSpc>
                <a:spcPct val="100000"/>
              </a:lnSpc>
              <a:spcBef>
                <a:spcPts val="1565"/>
              </a:spcBef>
              <a:tabLst>
                <a:tab pos="450850" algn="l"/>
              </a:tabLst>
            </a:pPr>
            <a:r>
              <a:rPr dirty="0" sz="2200" spc="-545">
                <a:solidFill>
                  <a:srgbClr val="18F7F9"/>
                </a:solidFill>
                <a:latin typeface="Arial MT"/>
                <a:cs typeface="Arial MT"/>
              </a:rPr>
              <a:t>77</a:t>
            </a:r>
            <a:r>
              <a:rPr dirty="0" sz="2200">
                <a:solidFill>
                  <a:srgbClr val="18F7F9"/>
                </a:solidFill>
                <a:latin typeface="Arial MT"/>
                <a:cs typeface="Arial MT"/>
              </a:rPr>
              <a:t>	</a:t>
            </a:r>
            <a:r>
              <a:rPr dirty="0" sz="2200" spc="-100">
                <a:solidFill>
                  <a:srgbClr val="A1A1A1"/>
                </a:solidFill>
                <a:latin typeface="Arial MT"/>
                <a:cs typeface="Arial MT"/>
              </a:rPr>
              <a:t>Retarpetinp</a:t>
            </a:r>
            <a:r>
              <a:rPr dirty="0" sz="2200" spc="1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200" spc="-105">
                <a:solidFill>
                  <a:srgbClr val="A8A8A8"/>
                </a:solidFill>
                <a:latin typeface="Arial MT"/>
                <a:cs typeface="Arial MT"/>
              </a:rPr>
              <a:t>dinámico</a:t>
            </a:r>
            <a:r>
              <a:rPr dirty="0" sz="2200" spc="1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200" spc="-100">
                <a:solidFill>
                  <a:srgbClr val="677580"/>
                </a:solidFill>
                <a:latin typeface="Arial MT"/>
                <a:cs typeface="Arial MT"/>
              </a:rPr>
              <a:t>com</a:t>
            </a:r>
            <a:r>
              <a:rPr dirty="0" sz="2200" spc="-55">
                <a:solidFill>
                  <a:srgbClr val="677580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A5A5A5"/>
                </a:solidFill>
                <a:latin typeface="Arial MT"/>
                <a:cs typeface="Arial MT"/>
              </a:rPr>
              <a:t>criativos</a:t>
            </a:r>
            <a:r>
              <a:rPr dirty="0" sz="2200" spc="3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000816"/>
                </a:solidFill>
                <a:latin typeface="Arial MT"/>
                <a:cs typeface="Arial MT"/>
              </a:rPr>
              <a:t>de</a:t>
            </a:r>
            <a:r>
              <a:rPr dirty="0" sz="2200" spc="-195">
                <a:solidFill>
                  <a:srgbClr val="000816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A8A8A8"/>
                </a:solidFill>
                <a:latin typeface="Arial MT"/>
                <a:cs typeface="Arial MT"/>
              </a:rPr>
              <a:t>ROI.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5706" y="7240616"/>
            <a:ext cx="20080605" cy="558165"/>
          </a:xfrm>
          <a:custGeom>
            <a:avLst/>
            <a:gdLst/>
            <a:ahLst/>
            <a:cxnLst/>
            <a:rect l="l" t="t" r="r" b="b"/>
            <a:pathLst>
              <a:path w="20080605" h="558165">
                <a:moveTo>
                  <a:pt x="20080541" y="557574"/>
                </a:moveTo>
                <a:lnTo>
                  <a:pt x="0" y="55757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57574"/>
                </a:lnTo>
                <a:close/>
              </a:path>
            </a:pathLst>
          </a:custGeom>
          <a:solidFill>
            <a:srgbClr val="0711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0831294" y="4477346"/>
            <a:ext cx="7186930" cy="3320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B3B3B3"/>
                </a:solidFill>
                <a:latin typeface="Arial MT"/>
                <a:cs typeface="Arial MT"/>
              </a:rPr>
              <a:t>Criat</a:t>
            </a:r>
            <a:r>
              <a:rPr dirty="0" sz="1900" spc="-27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64727C"/>
                </a:solidFill>
                <a:latin typeface="Arial MT"/>
                <a:cs typeface="Arial MT"/>
              </a:rPr>
              <a:t>ivo</a:t>
            </a:r>
            <a:r>
              <a:rPr dirty="0" sz="1900" spc="20">
                <a:solidFill>
                  <a:srgbClr val="64727C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CACAC"/>
                </a:solidFill>
                <a:latin typeface="Arial MT"/>
                <a:cs typeface="Arial MT"/>
              </a:rPr>
              <a:t>ág</a:t>
            </a:r>
            <a:r>
              <a:rPr dirty="0" sz="1900">
                <a:solidFill>
                  <a:srgbClr val="8CA3BF"/>
                </a:solidFill>
                <a:latin typeface="Arial MT"/>
                <a:cs typeface="Arial MT"/>
              </a:rPr>
              <a:t>il</a:t>
            </a:r>
            <a:r>
              <a:rPr dirty="0" sz="1900" spc="-5">
                <a:solidFill>
                  <a:srgbClr val="8CA3BF"/>
                </a:solidFill>
                <a:latin typeface="Arial MT"/>
                <a:cs typeface="Arial MT"/>
              </a:rPr>
              <a:t> </a:t>
            </a:r>
            <a:r>
              <a:rPr dirty="0" sz="1900" spc="114">
                <a:solidFill>
                  <a:srgbClr val="B5B5B5"/>
                </a:solidFill>
                <a:latin typeface="Arial MT"/>
                <a:cs typeface="Arial MT"/>
              </a:rPr>
              <a:t>focado</a:t>
            </a:r>
            <a:r>
              <a:rPr dirty="0" sz="1900" spc="6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8A8A8"/>
                </a:solidFill>
                <a:latin typeface="Arial MT"/>
                <a:cs typeface="Arial MT"/>
              </a:rPr>
              <a:t>em</a:t>
            </a:r>
            <a:r>
              <a:rPr dirty="0" sz="1900" spc="4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1900" spc="65">
                <a:solidFill>
                  <a:srgbClr val="A3A3A3"/>
                </a:solidFill>
                <a:latin typeface="Arial MT"/>
                <a:cs typeface="Arial MT"/>
              </a:rPr>
              <a:t>gat</a:t>
            </a:r>
            <a:r>
              <a:rPr dirty="0" sz="1900" spc="-30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AFAFAF"/>
                </a:solidFill>
                <a:latin typeface="Arial MT"/>
                <a:cs typeface="Arial MT"/>
              </a:rPr>
              <a:t>ilho</a:t>
            </a:r>
            <a:r>
              <a:rPr dirty="0" sz="1900" spc="-33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9AA5B5"/>
                </a:solidFill>
                <a:latin typeface="Arial MT"/>
                <a:cs typeface="Arial MT"/>
              </a:rPr>
              <a:t>s</a:t>
            </a:r>
            <a:r>
              <a:rPr dirty="0" sz="1900" spc="85">
                <a:solidFill>
                  <a:srgbClr val="9AA5B5"/>
                </a:solidFill>
                <a:latin typeface="Arial MT"/>
                <a:cs typeface="Arial MT"/>
              </a:rPr>
              <a:t> </a:t>
            </a:r>
            <a:r>
              <a:rPr dirty="0" sz="1900" spc="70">
                <a:solidFill>
                  <a:srgbClr val="ACACAC"/>
                </a:solidFill>
                <a:latin typeface="Arial MT"/>
                <a:cs typeface="Arial MT"/>
              </a:rPr>
              <a:t>de</a:t>
            </a:r>
            <a:r>
              <a:rPr dirty="0" sz="1900" spc="-5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FAFAF"/>
                </a:solidFill>
                <a:latin typeface="Arial MT"/>
                <a:cs typeface="Arial MT"/>
              </a:rPr>
              <a:t>neuromarket</a:t>
            </a:r>
            <a:r>
              <a:rPr dirty="0" sz="1900" spc="-16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5A5A5"/>
                </a:solidFill>
                <a:latin typeface="Arial MT"/>
                <a:cs typeface="Arial MT"/>
              </a:rPr>
              <a:t>ing</a:t>
            </a:r>
            <a:r>
              <a:rPr dirty="0" sz="1900" spc="-1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B6B6B6"/>
                </a:solidFill>
                <a:latin typeface="Arial MT"/>
                <a:cs typeface="Arial MT"/>
              </a:rPr>
              <a:t>(Dificuldade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1900">
              <a:latin typeface="Arial MT"/>
              <a:cs typeface="Arial MT"/>
            </a:endParaRPr>
          </a:p>
          <a:p>
            <a:pPr marL="466725" marR="5080" indent="-1905">
              <a:lnSpc>
                <a:spcPts val="2350"/>
              </a:lnSpc>
            </a:pPr>
            <a:r>
              <a:rPr dirty="0" sz="2200" spc="55">
                <a:solidFill>
                  <a:srgbClr val="AAAAAA"/>
                </a:solidFill>
                <a:latin typeface="Arial MT"/>
                <a:cs typeface="Arial MT"/>
              </a:rPr>
              <a:t>0-</a:t>
            </a:r>
            <a:r>
              <a:rPr dirty="0" sz="2200" spc="65">
                <a:solidFill>
                  <a:srgbClr val="AAAAAA"/>
                </a:solidFill>
                <a:latin typeface="Arial MT"/>
                <a:cs typeface="Arial MT"/>
              </a:rPr>
              <a:t>5s</a:t>
            </a:r>
            <a:r>
              <a:rPr dirty="0" sz="2200" spc="-15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B5B5B5"/>
                </a:solidFill>
                <a:latin typeface="Arial MT"/>
                <a:cs typeface="Arial MT"/>
              </a:rPr>
              <a:t>(Gancho):</a:t>
            </a:r>
            <a:r>
              <a:rPr dirty="0" sz="2200" spc="-3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200" spc="-200">
                <a:solidFill>
                  <a:srgbClr val="AAAAAA"/>
                </a:solidFill>
                <a:latin typeface="Arial MT"/>
                <a:cs typeface="Arial MT"/>
              </a:rPr>
              <a:t>"Seu</a:t>
            </a:r>
            <a:r>
              <a:rPr dirty="0" sz="2200" spc="-5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200" spc="-140">
                <a:solidFill>
                  <a:srgbClr val="B1B1B1"/>
                </a:solidFill>
                <a:latin typeface="Arial MT"/>
                <a:cs typeface="Arial MT"/>
              </a:rPr>
              <a:t>melhor</a:t>
            </a:r>
            <a:r>
              <a:rPr dirty="0" sz="2200" spc="-1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959595"/>
                </a:solidFill>
                <a:latin typeface="Arial MT"/>
                <a:cs typeface="Arial MT"/>
              </a:rPr>
              <a:t>funcionário</a:t>
            </a:r>
            <a:r>
              <a:rPr dirty="0" sz="2200" spc="10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AFAFAF"/>
                </a:solidFill>
                <a:latin typeface="Arial MT"/>
                <a:cs typeface="Arial MT"/>
              </a:rPr>
              <a:t>vai</a:t>
            </a:r>
            <a:r>
              <a:rPr dirty="0" sz="2200" spc="-14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B1B1B1"/>
                </a:solidFill>
                <a:latin typeface="Arial MT"/>
                <a:cs typeface="Arial MT"/>
              </a:rPr>
              <a:t>pedir</a:t>
            </a:r>
            <a:r>
              <a:rPr dirty="0" sz="2200" spc="-4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200" spc="-240">
                <a:solidFill>
                  <a:srgbClr val="AFAFAF"/>
                </a:solidFill>
                <a:latin typeface="Arial MT"/>
                <a:cs typeface="Arial MT"/>
              </a:rPr>
              <a:t>as</a:t>
            </a:r>
            <a:r>
              <a:rPr dirty="0" sz="2200" spc="-2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B5B5B5"/>
                </a:solidFill>
                <a:latin typeface="Arial MT"/>
                <a:cs typeface="Arial MT"/>
              </a:rPr>
              <a:t>contas </a:t>
            </a:r>
            <a:r>
              <a:rPr dirty="0" sz="2200" spc="-160">
                <a:solidFill>
                  <a:srgbClr val="B8B8B8"/>
                </a:solidFill>
                <a:latin typeface="Arial MT"/>
                <a:cs typeface="Arial MT"/>
              </a:rPr>
              <a:t>amanha.</a:t>
            </a:r>
            <a:r>
              <a:rPr dirty="0" sz="2200" spc="2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200" spc="-160">
                <a:solidFill>
                  <a:srgbClr val="ACACAC"/>
                </a:solidFill>
                <a:latin typeface="Arial MT"/>
                <a:cs typeface="Arial MT"/>
              </a:rPr>
              <a:t>Voce</a:t>
            </a:r>
            <a:r>
              <a:rPr dirty="0" sz="2200" spc="-7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200" spc="-130">
                <a:solidFill>
                  <a:srgbClr val="B6B6B6"/>
                </a:solidFill>
                <a:latin typeface="Arial MT"/>
                <a:cs typeface="Arial MT"/>
              </a:rPr>
              <a:t>sabe</a:t>
            </a:r>
            <a:r>
              <a:rPr dirty="0" sz="2200" spc="-85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AFAFAF"/>
                </a:solidFill>
                <a:latin typeface="Arial MT"/>
                <a:cs typeface="Arial MT"/>
              </a:rPr>
              <a:t>quem+"</a:t>
            </a:r>
            <a:endParaRPr sz="2200">
              <a:latin typeface="Arial MT"/>
              <a:cs typeface="Arial MT"/>
            </a:endParaRPr>
          </a:p>
          <a:p>
            <a:pPr marL="476250" marR="453390" indent="-464184">
              <a:lnSpc>
                <a:spcPts val="2350"/>
              </a:lnSpc>
              <a:spcBef>
                <a:spcPts val="1855"/>
              </a:spcBef>
              <a:tabLst>
                <a:tab pos="466090" algn="l"/>
              </a:tabLst>
            </a:pPr>
            <a:r>
              <a:rPr dirty="0" sz="2050" spc="-50">
                <a:solidFill>
                  <a:srgbClr val="00ACB3"/>
                </a:solidFill>
                <a:latin typeface="Arial MT"/>
                <a:cs typeface="Arial MT"/>
              </a:rPr>
              <a:t>”</a:t>
            </a:r>
            <a:r>
              <a:rPr dirty="0" sz="2050">
                <a:solidFill>
                  <a:srgbClr val="00ACB3"/>
                </a:solidFill>
                <a:latin typeface="Arial MT"/>
                <a:cs typeface="Arial MT"/>
              </a:rPr>
              <a:t>	</a:t>
            </a:r>
            <a:r>
              <a:rPr dirty="0" sz="2050" spc="-35">
                <a:solidFill>
                  <a:srgbClr val="A8A8A8"/>
                </a:solidFill>
                <a:latin typeface="Arial MT"/>
                <a:cs typeface="Arial MT"/>
              </a:rPr>
              <a:t>5-</a:t>
            </a:r>
            <a:r>
              <a:rPr dirty="0" sz="2050" spc="-10">
                <a:solidFill>
                  <a:srgbClr val="A8A8A8"/>
                </a:solidFill>
                <a:latin typeface="Arial MT"/>
                <a:cs typeface="Arial MT"/>
              </a:rPr>
              <a:t>15s</a:t>
            </a:r>
            <a:r>
              <a:rPr dirty="0" sz="2050" spc="-3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AAAAA"/>
                </a:solidFill>
                <a:latin typeface="Arial MT"/>
                <a:cs typeface="Arial MT"/>
              </a:rPr>
              <a:t>(Problema)</a:t>
            </a:r>
            <a:r>
              <a:rPr dirty="0" sz="2050">
                <a:solidFill>
                  <a:srgbClr val="7C858E"/>
                </a:solidFill>
                <a:latin typeface="Arial MT"/>
                <a:cs typeface="Arial MT"/>
              </a:rPr>
              <a:t>:</a:t>
            </a:r>
            <a:r>
              <a:rPr dirty="0" sz="2050" spc="-240">
                <a:solidFill>
                  <a:srgbClr val="7C858E"/>
                </a:solidFill>
                <a:latin typeface="Arial MT"/>
                <a:cs typeface="Arial MT"/>
              </a:rPr>
              <a:t> </a:t>
            </a:r>
            <a:r>
              <a:rPr dirty="0" sz="2050" spc="-160">
                <a:solidFill>
                  <a:srgbClr val="ACACAC"/>
                </a:solidFill>
                <a:latin typeface="Arial MT"/>
                <a:cs typeface="Arial MT"/>
              </a:rPr>
              <a:t>Telas</a:t>
            </a:r>
            <a:r>
              <a:rPr dirty="0" sz="2050" spc="9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CACAC"/>
                </a:solidFill>
                <a:latin typeface="Arial MT"/>
                <a:cs typeface="Arial MT"/>
              </a:rPr>
              <a:t>de</a:t>
            </a:r>
            <a:r>
              <a:rPr dirty="0" sz="2050" spc="-9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30">
                <a:solidFill>
                  <a:srgbClr val="B1B1B1"/>
                </a:solidFill>
                <a:latin typeface="Arial MT"/>
                <a:cs typeface="Arial MT"/>
              </a:rPr>
              <a:t>sistemas</a:t>
            </a:r>
            <a:r>
              <a:rPr dirty="0" sz="2050" spc="14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A8A8A8"/>
                </a:solidFill>
                <a:latin typeface="Arial MT"/>
                <a:cs typeface="Arial MT"/>
              </a:rPr>
              <a:t>de</a:t>
            </a:r>
            <a:r>
              <a:rPr dirty="0" sz="2050" spc="-13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270">
                <a:solidFill>
                  <a:srgbClr val="A5A5A5"/>
                </a:solidFill>
                <a:latin typeface="Arial MT"/>
                <a:cs typeface="Arial MT"/>
              </a:rPr>
              <a:t>RH</a:t>
            </a:r>
            <a:r>
              <a:rPr dirty="0" sz="2050" spc="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B3B3B3"/>
                </a:solidFill>
                <a:latin typeface="Arial MT"/>
                <a:cs typeface="Arial MT"/>
              </a:rPr>
              <a:t>caóticos</a:t>
            </a:r>
            <a:r>
              <a:rPr dirty="0" sz="2050" spc="12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ACACAC"/>
                </a:solidFill>
                <a:latin typeface="Arial MT"/>
                <a:cs typeface="Arial MT"/>
              </a:rPr>
              <a:t>de </a:t>
            </a:r>
            <a:r>
              <a:rPr dirty="0" sz="2050" spc="-60">
                <a:solidFill>
                  <a:srgbClr val="AEAEAE"/>
                </a:solidFill>
                <a:latin typeface="Arial MT"/>
                <a:cs typeface="Arial MT"/>
              </a:rPr>
              <a:t>olanilhas</a:t>
            </a:r>
            <a:r>
              <a:rPr dirty="0" sz="2050" spc="-5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050" spc="50">
                <a:solidFill>
                  <a:srgbClr val="6D6D6D"/>
                </a:solidFill>
                <a:latin typeface="Arial MT"/>
                <a:cs typeface="Arial MT"/>
              </a:rPr>
              <a:t>int</a:t>
            </a:r>
            <a:r>
              <a:rPr dirty="0" sz="2050" spc="-32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7A7A7"/>
                </a:solidFill>
                <a:latin typeface="Arial MT"/>
                <a:cs typeface="Arial MT"/>
              </a:rPr>
              <a:t>nitas.</a:t>
            </a:r>
            <a:endParaRPr sz="2050">
              <a:latin typeface="Arial MT"/>
              <a:cs typeface="Arial MT"/>
            </a:endParaRPr>
          </a:p>
          <a:p>
            <a:pPr marL="473709" marR="617220" indent="-392430">
              <a:lnSpc>
                <a:spcPct val="103099"/>
              </a:lnSpc>
              <a:spcBef>
                <a:spcPts val="1760"/>
              </a:spcBef>
              <a:tabLst>
                <a:tab pos="442595" algn="l"/>
              </a:tabLst>
            </a:pPr>
            <a:r>
              <a:rPr dirty="0" sz="1900" spc="-25">
                <a:solidFill>
                  <a:srgbClr val="00F4F7"/>
                </a:solidFill>
                <a:latin typeface="Arial MT"/>
                <a:cs typeface="Arial MT"/>
              </a:rPr>
              <a:t>4'</a:t>
            </a:r>
            <a:r>
              <a:rPr dirty="0" sz="1900">
                <a:solidFill>
                  <a:srgbClr val="00F4F7"/>
                </a:solidFill>
                <a:latin typeface="Arial MT"/>
                <a:cs typeface="Arial MT"/>
              </a:rPr>
              <a:t>	</a:t>
            </a:r>
            <a:r>
              <a:rPr dirty="0" sz="1900" spc="110">
                <a:solidFill>
                  <a:srgbClr val="A3A3A3"/>
                </a:solidFill>
                <a:latin typeface="Arial MT"/>
                <a:cs typeface="Arial MT"/>
              </a:rPr>
              <a:t>15-</a:t>
            </a:r>
            <a:r>
              <a:rPr dirty="0" sz="1900" spc="120">
                <a:solidFill>
                  <a:srgbClr val="A3A3A3"/>
                </a:solidFill>
                <a:latin typeface="Arial MT"/>
                <a:cs typeface="Arial MT"/>
              </a:rPr>
              <a:t>30s</a:t>
            </a:r>
            <a:r>
              <a:rPr dirty="0" sz="1900" spc="12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5B1C3"/>
                </a:solidFill>
                <a:latin typeface="Arial MT"/>
                <a:cs typeface="Arial MT"/>
              </a:rPr>
              <a:t>(CTA):</a:t>
            </a:r>
            <a:r>
              <a:rPr dirty="0" sz="1900" spc="220">
                <a:solidFill>
                  <a:srgbClr val="A5B1C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777777"/>
                </a:solidFill>
                <a:latin typeface="Arial MT"/>
                <a:cs typeface="Arial MT"/>
              </a:rPr>
              <a:t>Demons</a:t>
            </a:r>
            <a:r>
              <a:rPr dirty="0" sz="1900" spc="-190">
                <a:solidFill>
                  <a:srgbClr val="777777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90A1B3"/>
                </a:solidFill>
                <a:latin typeface="Arial MT"/>
                <a:cs typeface="Arial MT"/>
              </a:rPr>
              <a:t>t</a:t>
            </a:r>
            <a:r>
              <a:rPr dirty="0" sz="1900" spc="-245">
                <a:solidFill>
                  <a:srgbClr val="90A1B3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B5B5B5"/>
                </a:solidFill>
                <a:latin typeface="Arial MT"/>
                <a:cs typeface="Arial MT"/>
              </a:rPr>
              <a:t>rap</a:t>
            </a:r>
            <a:r>
              <a:rPr dirty="0" sz="1900">
                <a:solidFill>
                  <a:srgbClr val="AEAEAE"/>
                </a:solidFill>
                <a:latin typeface="Arial MT"/>
                <a:cs typeface="Arial MT"/>
              </a:rPr>
              <a:t>áo</a:t>
            </a:r>
            <a:r>
              <a:rPr dirty="0" sz="1900" spc="114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8A8A8"/>
                </a:solidFill>
                <a:latin typeface="Arial MT"/>
                <a:cs typeface="Arial MT"/>
              </a:rPr>
              <a:t>holográ</a:t>
            </a:r>
            <a:r>
              <a:rPr dirty="0" sz="1900">
                <a:solidFill>
                  <a:srgbClr val="596275"/>
                </a:solidFill>
                <a:latin typeface="Arial MT"/>
                <a:cs typeface="Arial MT"/>
              </a:rPr>
              <a:t>be</a:t>
            </a:r>
            <a:r>
              <a:rPr dirty="0" sz="1900">
                <a:solidFill>
                  <a:srgbClr val="AAAAAA"/>
                </a:solidFill>
                <a:latin typeface="Arial MT"/>
                <a:cs typeface="Arial MT"/>
              </a:rPr>
              <a:t>a</a:t>
            </a:r>
            <a:r>
              <a:rPr dirty="0" sz="1900" spc="17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8A8A8"/>
                </a:solidFill>
                <a:latin typeface="Arial MT"/>
                <a:cs typeface="Arial MT"/>
              </a:rPr>
              <a:t>Solut</a:t>
            </a:r>
            <a:r>
              <a:rPr dirty="0" sz="1900" spc="-23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051123"/>
                </a:solidFill>
                <a:latin typeface="Arial MT"/>
                <a:cs typeface="Arial MT"/>
              </a:rPr>
              <a:t>ions</a:t>
            </a:r>
            <a:r>
              <a:rPr dirty="0" sz="1900" spc="235">
                <a:solidFill>
                  <a:srgbClr val="051123"/>
                </a:solidFill>
                <a:latin typeface="Arial MT"/>
                <a:cs typeface="Arial MT"/>
              </a:rPr>
              <a:t> </a:t>
            </a:r>
            <a:r>
              <a:rPr dirty="0" sz="1900" spc="-45">
                <a:solidFill>
                  <a:srgbClr val="A5A5A5"/>
                </a:solidFill>
                <a:latin typeface="Arial MT"/>
                <a:cs typeface="Arial MT"/>
              </a:rPr>
              <a:t>X. </a:t>
            </a:r>
            <a:r>
              <a:rPr dirty="0" sz="1900">
                <a:solidFill>
                  <a:srgbClr val="7E7E7E"/>
                </a:solidFill>
                <a:latin typeface="Arial MT"/>
                <a:cs typeface="Arial MT"/>
              </a:rPr>
              <a:t>"</a:t>
            </a:r>
            <a:r>
              <a:rPr dirty="0" sz="1900">
                <a:solidFill>
                  <a:srgbClr val="939AAE"/>
                </a:solidFill>
                <a:latin typeface="Arial MT"/>
                <a:cs typeface="Arial MT"/>
              </a:rPr>
              <a:t>P</a:t>
            </a:r>
            <a:r>
              <a:rPr dirty="0" sz="1900">
                <a:solidFill>
                  <a:srgbClr val="AAAAAA"/>
                </a:solidFill>
                <a:latin typeface="Arial MT"/>
                <a:cs typeface="Arial MT"/>
              </a:rPr>
              <a:t>revel</a:t>
            </a:r>
            <a:r>
              <a:rPr dirty="0" sz="1900">
                <a:solidFill>
                  <a:srgbClr val="909090"/>
                </a:solidFill>
                <a:latin typeface="Arial MT"/>
                <a:cs typeface="Arial MT"/>
              </a:rPr>
              <a:t>a</a:t>
            </a:r>
            <a:r>
              <a:rPr dirty="0" sz="1900" spc="70">
                <a:solidFill>
                  <a:srgbClr val="909090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8A8A8"/>
                </a:solidFill>
                <a:latin typeface="Arial MT"/>
                <a:cs typeface="Arial MT"/>
              </a:rPr>
              <a:t>o</a:t>
            </a:r>
            <a:r>
              <a:rPr dirty="0" sz="1900" spc="-1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1900" spc="-165">
                <a:solidFill>
                  <a:srgbClr val="8E8E8E"/>
                </a:solidFill>
                <a:latin typeface="Arial MT"/>
                <a:cs typeface="Arial MT"/>
              </a:rPr>
              <a:t>a</a:t>
            </a:r>
            <a:r>
              <a:rPr dirty="0" sz="1900" spc="-315">
                <a:solidFill>
                  <a:srgbClr val="8E8E8E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B1B1B1"/>
                </a:solidFill>
                <a:latin typeface="Arial MT"/>
                <a:cs typeface="Arial MT"/>
              </a:rPr>
              <a:t>manhá.</a:t>
            </a:r>
            <a:r>
              <a:rPr dirty="0" sz="1900" spc="1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B5B5B5"/>
                </a:solidFill>
                <a:latin typeface="Arial MT"/>
                <a:cs typeface="Arial MT"/>
              </a:rPr>
              <a:t>Clique</a:t>
            </a:r>
            <a:r>
              <a:rPr dirty="0" sz="1900" spc="-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AAAAAA"/>
                </a:solidFill>
                <a:latin typeface="Arial MT"/>
                <a:cs typeface="Arial MT"/>
              </a:rPr>
              <a:t>e</a:t>
            </a:r>
            <a:r>
              <a:rPr dirty="0" sz="1900" spc="-10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 spc="85">
                <a:solidFill>
                  <a:srgbClr val="AAAAAA"/>
                </a:solidFill>
                <a:latin typeface="Arial MT"/>
                <a:cs typeface="Arial MT"/>
              </a:rPr>
              <a:t>teste</a:t>
            </a:r>
            <a:r>
              <a:rPr dirty="0" sz="1900" spc="-1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 spc="40">
                <a:solidFill>
                  <a:srgbClr val="A5A5A5"/>
                </a:solidFill>
                <a:latin typeface="Arial MT"/>
                <a:cs typeface="Arial MT"/>
              </a:rPr>
              <a:t>g</a:t>
            </a:r>
            <a:r>
              <a:rPr dirty="0" sz="1900" spc="40">
                <a:solidFill>
                  <a:srgbClr val="AFAFAF"/>
                </a:solidFill>
                <a:latin typeface="Arial MT"/>
                <a:cs typeface="Arial MT"/>
              </a:rPr>
              <a:t>rátis.</a:t>
            </a:r>
            <a:r>
              <a:rPr dirty="0" sz="1900" spc="40">
                <a:solidFill>
                  <a:srgbClr val="70808E"/>
                </a:solidFill>
                <a:latin typeface="Arial MT"/>
                <a:cs typeface="Arial MT"/>
              </a:rPr>
              <a:t>"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5706" y="8654186"/>
            <a:ext cx="20080605" cy="259715"/>
            <a:chOff x="15706" y="8654186"/>
            <a:chExt cx="20080605" cy="259715"/>
          </a:xfrm>
        </p:grpSpPr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76632" y="8669892"/>
              <a:ext cx="3392566" cy="188475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5706" y="8654186"/>
              <a:ext cx="20080605" cy="259715"/>
            </a:xfrm>
            <a:custGeom>
              <a:avLst/>
              <a:gdLst/>
              <a:ahLst/>
              <a:cxnLst/>
              <a:rect l="l" t="t" r="r" b="b"/>
              <a:pathLst>
                <a:path w="20080605" h="259715">
                  <a:moveTo>
                    <a:pt x="20080541" y="259154"/>
                  </a:moveTo>
                  <a:lnTo>
                    <a:pt x="0" y="259154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259154"/>
                  </a:lnTo>
                  <a:close/>
                </a:path>
              </a:pathLst>
            </a:custGeom>
            <a:solidFill>
              <a:srgbClr val="0711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810735" y="8608765"/>
            <a:ext cx="44837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>
                <a:solidFill>
                  <a:srgbClr val="001F31"/>
                </a:solidFill>
                <a:latin typeface="Courier New"/>
                <a:cs typeface="Courier New"/>
              </a:rPr>
              <a:t>CUSTO</a:t>
            </a:r>
            <a:r>
              <a:rPr dirty="0" sz="1800" spc="-65">
                <a:solidFill>
                  <a:srgbClr val="001F31"/>
                </a:solidFill>
                <a:latin typeface="Courier New"/>
                <a:cs typeface="Courier New"/>
              </a:rPr>
              <a:t> </a:t>
            </a:r>
            <a:r>
              <a:rPr dirty="0" sz="1800" spc="10">
                <a:solidFill>
                  <a:srgbClr val="00262F"/>
                </a:solidFill>
                <a:latin typeface="Courier New"/>
                <a:cs typeface="Courier New"/>
              </a:rPr>
              <a:t>DEAOUISIÇÄO</a:t>
            </a:r>
            <a:r>
              <a:rPr dirty="0" sz="1800" spc="-484">
                <a:solidFill>
                  <a:srgbClr val="00262F"/>
                </a:solidFill>
                <a:latin typeface="Courier New"/>
                <a:cs typeface="Courier New"/>
              </a:rPr>
              <a:t> </a:t>
            </a:r>
            <a:r>
              <a:rPr dirty="0" sz="1800" spc="70">
                <a:solidFill>
                  <a:srgbClr val="48CDC8"/>
                </a:solidFill>
                <a:latin typeface="Courier New"/>
                <a:cs typeface="Courier New"/>
              </a:rPr>
              <a:t>(CAC)</a:t>
            </a:r>
            <a:r>
              <a:rPr dirty="0" sz="1800" spc="-725">
                <a:solidFill>
                  <a:srgbClr val="48CDC8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002A33"/>
                </a:solidFill>
                <a:latin typeface="Courier New"/>
                <a:cs typeface="Courier New"/>
              </a:rPr>
              <a:t>OTIMIZADO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182" y="848530"/>
            <a:ext cx="8936990" cy="8108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5055" algn="l"/>
              </a:tabLst>
            </a:pPr>
            <a:r>
              <a:rPr dirty="0" spc="-875">
                <a:solidFill>
                  <a:srgbClr val="00F2FD"/>
                </a:solidFill>
              </a:rPr>
              <a:t>)</a:t>
            </a:r>
            <a:r>
              <a:rPr dirty="0" spc="475">
                <a:solidFill>
                  <a:srgbClr val="00F2FD"/>
                </a:solidFill>
              </a:rPr>
              <a:t> </a:t>
            </a:r>
            <a:r>
              <a:rPr dirty="0" spc="-550">
                <a:solidFill>
                  <a:srgbClr val="00F2FB"/>
                </a:solidFill>
              </a:rPr>
              <a:t>ENGAJAMENTO</a:t>
            </a:r>
            <a:r>
              <a:rPr dirty="0">
                <a:solidFill>
                  <a:srgbClr val="00F2FB"/>
                </a:solidFill>
              </a:rPr>
              <a:t>	</a:t>
            </a:r>
            <a:r>
              <a:rPr dirty="0" spc="-1070">
                <a:solidFill>
                  <a:srgbClr val="00F2FF"/>
                </a:solidFill>
              </a:rPr>
              <a:t>E</a:t>
            </a:r>
            <a:r>
              <a:rPr dirty="0" spc="405">
                <a:solidFill>
                  <a:srgbClr val="00F2FF"/>
                </a:solidFill>
              </a:rPr>
              <a:t> </a:t>
            </a:r>
            <a:r>
              <a:rPr dirty="0" spc="-830">
                <a:solidFill>
                  <a:srgbClr val="0CE8FB"/>
                </a:solidFill>
              </a:rPr>
              <a:t>AUTOMAÇĂO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706" y="4319240"/>
            <a:ext cx="20088860" cy="596900"/>
            <a:chOff x="15706" y="4319240"/>
            <a:chExt cx="20088860" cy="5969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2723" y="4334946"/>
              <a:ext cx="557574" cy="5575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8247" y="4334946"/>
              <a:ext cx="557574" cy="54972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03771" y="4327093"/>
              <a:ext cx="706784" cy="56542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4319240"/>
              <a:ext cx="20088393" cy="596840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15706" y="5261619"/>
            <a:ext cx="20080605" cy="432434"/>
          </a:xfrm>
          <a:custGeom>
            <a:avLst/>
            <a:gdLst/>
            <a:ahLst/>
            <a:cxnLst/>
            <a:rect l="l" t="t" r="r" b="b"/>
            <a:pathLst>
              <a:path w="20080605" h="432435">
                <a:moveTo>
                  <a:pt x="20080541" y="431924"/>
                </a:moveTo>
                <a:lnTo>
                  <a:pt x="0" y="43192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31924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660600" y="5193947"/>
            <a:ext cx="366014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-515">
                <a:solidFill>
                  <a:srgbClr val="28D4D8"/>
                </a:solidFill>
                <a:latin typeface="Arial MT"/>
                <a:cs typeface="Arial MT"/>
              </a:rPr>
              <a:t>ATRAÇÂD</a:t>
            </a:r>
            <a:r>
              <a:rPr dirty="0" sz="3100" spc="265">
                <a:solidFill>
                  <a:srgbClr val="28D4D8"/>
                </a:solidFill>
                <a:latin typeface="Arial MT"/>
                <a:cs typeface="Arial MT"/>
              </a:rPr>
              <a:t> </a:t>
            </a:r>
            <a:r>
              <a:rPr dirty="0" sz="3100" spc="-745">
                <a:solidFill>
                  <a:srgbClr val="00F2FF"/>
                </a:solidFill>
                <a:latin typeface="Arial MT"/>
                <a:cs typeface="Arial MT"/>
              </a:rPr>
              <a:t>E</a:t>
            </a:r>
            <a:r>
              <a:rPr dirty="0" sz="3100" spc="110">
                <a:solidFill>
                  <a:srgbClr val="00F2FF"/>
                </a:solidFill>
                <a:latin typeface="Arial MT"/>
                <a:cs typeface="Arial MT"/>
              </a:rPr>
              <a:t> </a:t>
            </a:r>
            <a:r>
              <a:rPr dirty="0" sz="3100" spc="-445">
                <a:solidFill>
                  <a:srgbClr val="05F9FF"/>
                </a:solidFill>
                <a:latin typeface="Arial MT"/>
                <a:cs typeface="Arial MT"/>
              </a:rPr>
              <a:t>INTERESSE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670072" y="5210308"/>
            <a:ext cx="362331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315">
                <a:solidFill>
                  <a:srgbClr val="28D6E2"/>
                </a:solidFill>
                <a:latin typeface="Arial MT"/>
                <a:cs typeface="Arial MT"/>
              </a:rPr>
              <a:t>DESEJD</a:t>
            </a:r>
            <a:r>
              <a:rPr dirty="0" sz="2950" spc="235">
                <a:solidFill>
                  <a:srgbClr val="28D6E2"/>
                </a:solidFill>
                <a:latin typeface="Arial MT"/>
                <a:cs typeface="Arial MT"/>
              </a:rPr>
              <a:t> </a:t>
            </a:r>
            <a:r>
              <a:rPr dirty="0" sz="2950" spc="-630">
                <a:solidFill>
                  <a:srgbClr val="00F4FF"/>
                </a:solidFill>
                <a:latin typeface="Arial MT"/>
                <a:cs typeface="Arial MT"/>
              </a:rPr>
              <a:t>E</a:t>
            </a:r>
            <a:r>
              <a:rPr dirty="0" sz="2950" spc="275">
                <a:solidFill>
                  <a:srgbClr val="00F4FF"/>
                </a:solidFill>
                <a:latin typeface="Arial MT"/>
                <a:cs typeface="Arial MT"/>
              </a:rPr>
              <a:t> </a:t>
            </a:r>
            <a:r>
              <a:rPr dirty="0" sz="2950" spc="-430">
                <a:solidFill>
                  <a:srgbClr val="23CDD8"/>
                </a:solidFill>
                <a:latin typeface="Arial MT"/>
                <a:cs typeface="Arial MT"/>
              </a:rPr>
              <a:t>CONVERSED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699497" y="5193947"/>
            <a:ext cx="3637915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-480">
                <a:solidFill>
                  <a:srgbClr val="21DBE4"/>
                </a:solidFill>
                <a:latin typeface="Arial MT"/>
                <a:cs typeface="Arial MT"/>
              </a:rPr>
              <a:t>AUTDNAÇÂO</a:t>
            </a:r>
            <a:r>
              <a:rPr dirty="0" sz="3100" spc="270">
                <a:solidFill>
                  <a:srgbClr val="21DBE4"/>
                </a:solidFill>
                <a:latin typeface="Arial MT"/>
                <a:cs typeface="Arial MT"/>
              </a:rPr>
              <a:t> </a:t>
            </a:r>
            <a:r>
              <a:rPr dirty="0" sz="3100" spc="-650">
                <a:solidFill>
                  <a:srgbClr val="00F6FF"/>
                </a:solidFill>
                <a:latin typeface="Arial MT"/>
                <a:cs typeface="Arial MT"/>
              </a:rPr>
              <a:t>DE</a:t>
            </a:r>
            <a:r>
              <a:rPr dirty="0" sz="3100" spc="185">
                <a:solidFill>
                  <a:srgbClr val="00F6FF"/>
                </a:solidFill>
                <a:latin typeface="Arial MT"/>
                <a:cs typeface="Arial MT"/>
              </a:rPr>
              <a:t> </a:t>
            </a:r>
            <a:r>
              <a:rPr dirty="0" sz="3100" spc="-484">
                <a:solidFill>
                  <a:srgbClr val="26D8DD"/>
                </a:solidFill>
                <a:latin typeface="Arial MT"/>
                <a:cs typeface="Arial MT"/>
              </a:rPr>
              <a:t>LEADS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5706" y="5999817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39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70E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660408" y="5905968"/>
            <a:ext cx="444944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65">
                <a:solidFill>
                  <a:srgbClr val="ACACAC"/>
                </a:solidFill>
                <a:latin typeface="Arial MT"/>
                <a:cs typeface="Arial MT"/>
              </a:rPr>
              <a:t>Atenção:</a:t>
            </a:r>
            <a:r>
              <a:rPr dirty="0" sz="205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75">
                <a:solidFill>
                  <a:srgbClr val="0C2138"/>
                </a:solidFill>
                <a:latin typeface="Arial MT"/>
                <a:cs typeface="Arial MT"/>
              </a:rPr>
              <a:t>"</a:t>
            </a:r>
            <a:r>
              <a:rPr dirty="0" sz="2050" spc="-75">
                <a:solidFill>
                  <a:srgbClr val="858E9A"/>
                </a:solidFill>
                <a:latin typeface="Arial MT"/>
                <a:cs typeface="Arial MT"/>
              </a:rPr>
              <a:t>73%</a:t>
            </a:r>
            <a:r>
              <a:rPr dirty="0" sz="2050" spc="-75">
                <a:solidFill>
                  <a:srgbClr val="000A1F"/>
                </a:solidFill>
                <a:latin typeface="Arial MT"/>
                <a:cs typeface="Arial MT"/>
              </a:rPr>
              <a:t>dos</a:t>
            </a:r>
            <a:r>
              <a:rPr dirty="0" sz="2050" spc="-140">
                <a:solidFill>
                  <a:srgbClr val="000A1F"/>
                </a:solidFill>
                <a:latin typeface="Arial MT"/>
                <a:cs typeface="Arial MT"/>
              </a:rPr>
              <a:t> </a:t>
            </a:r>
            <a:r>
              <a:rPr dirty="0" sz="2050" spc="-100">
                <a:solidFill>
                  <a:srgbClr val="A3A3A3"/>
                </a:solidFill>
                <a:latin typeface="Arial MT"/>
                <a:cs typeface="Arial MT"/>
              </a:rPr>
              <a:t>gestores</a:t>
            </a:r>
            <a:r>
              <a:rPr dirty="0" sz="2050" spc="-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050" spc="-145">
                <a:solidFill>
                  <a:srgbClr val="000511"/>
                </a:solidFill>
                <a:latin typeface="Arial MT"/>
                <a:cs typeface="Arial MT"/>
              </a:rPr>
              <a:t>de</a:t>
            </a:r>
            <a:r>
              <a:rPr dirty="0" sz="2050" spc="-125">
                <a:solidFill>
                  <a:srgbClr val="000511"/>
                </a:solidFill>
                <a:latin typeface="Arial MT"/>
                <a:cs typeface="Arial MT"/>
              </a:rPr>
              <a:t> </a:t>
            </a:r>
            <a:r>
              <a:rPr dirty="0" sz="2050" spc="-375">
                <a:solidFill>
                  <a:srgbClr val="A0A0A0"/>
                </a:solidFill>
                <a:latin typeface="Arial MT"/>
                <a:cs typeface="Arial MT"/>
              </a:rPr>
              <a:t>RH</a:t>
            </a:r>
            <a:r>
              <a:rPr dirty="0" sz="2050" spc="-17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050" spc="-110">
                <a:solidFill>
                  <a:srgbClr val="5D6479"/>
                </a:solidFill>
                <a:latin typeface="Arial MT"/>
                <a:cs typeface="Arial MT"/>
              </a:rPr>
              <a:t>estáo</a:t>
            </a:r>
            <a:r>
              <a:rPr dirty="0" sz="2050" spc="-145">
                <a:solidFill>
                  <a:srgbClr val="5D6479"/>
                </a:solidFill>
                <a:latin typeface="Arial MT"/>
                <a:cs typeface="Arial MT"/>
              </a:rPr>
              <a:t> </a:t>
            </a:r>
            <a:r>
              <a:rPr dirty="0" sz="2050" spc="-360">
                <a:solidFill>
                  <a:srgbClr val="AFAFAF"/>
                </a:solidFill>
                <a:latin typeface="Arial MT"/>
                <a:cs typeface="Arial MT"/>
              </a:rPr>
              <a:t>à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673581" y="5938689"/>
            <a:ext cx="4462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93A1B1"/>
                </a:solidFill>
                <a:latin typeface="Arial MT"/>
                <a:cs typeface="Arial MT"/>
              </a:rPr>
              <a:t>Desejo:</a:t>
            </a:r>
            <a:r>
              <a:rPr dirty="0" sz="1800" spc="114">
                <a:solidFill>
                  <a:srgbClr val="93A1B1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A5A5A5"/>
                </a:solidFill>
                <a:latin typeface="Arial MT"/>
                <a:cs typeface="Arial MT"/>
              </a:rPr>
              <a:t>"Mais</a:t>
            </a:r>
            <a:r>
              <a:rPr dirty="0" sz="1800" spc="7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316"/>
                </a:solidFill>
                <a:latin typeface="Arial MT"/>
                <a:cs typeface="Arial MT"/>
              </a:rPr>
              <a:t>de</a:t>
            </a:r>
            <a:r>
              <a:rPr dirty="0" sz="1800" spc="55">
                <a:solidFill>
                  <a:srgbClr val="000316"/>
                </a:solidFill>
                <a:latin typeface="Arial MT"/>
                <a:cs typeface="Arial MT"/>
              </a:rPr>
              <a:t> </a:t>
            </a:r>
            <a:r>
              <a:rPr dirty="0" sz="1800" spc="55">
                <a:solidFill>
                  <a:srgbClr val="AAAAAA"/>
                </a:solidFill>
                <a:latin typeface="Arial MT"/>
                <a:cs typeface="Arial MT"/>
              </a:rPr>
              <a:t>250</a:t>
            </a:r>
            <a:r>
              <a:rPr dirty="0" sz="1800" spc="-3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8A8A8"/>
                </a:solidFill>
                <a:latin typeface="Arial MT"/>
                <a:cs typeface="Arial MT"/>
              </a:rPr>
              <a:t>em</a:t>
            </a:r>
            <a:r>
              <a:rPr dirty="0" sz="1800">
                <a:solidFill>
                  <a:srgbClr val="AAAAAA"/>
                </a:solidFill>
                <a:latin typeface="Arial MT"/>
                <a:cs typeface="Arial MT"/>
              </a:rPr>
              <a:t>pre</a:t>
            </a:r>
            <a:r>
              <a:rPr dirty="0" sz="1800" spc="-23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800" spc="-100">
                <a:solidFill>
                  <a:srgbClr val="000518"/>
                </a:solidFill>
                <a:latin typeface="Arial MT"/>
                <a:cs typeface="Arial MT"/>
              </a:rPr>
              <a:t>sas</a:t>
            </a:r>
            <a:r>
              <a:rPr dirty="0" sz="1800" spc="-40">
                <a:solidFill>
                  <a:srgbClr val="000518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AFAFAF"/>
                </a:solidFill>
                <a:latin typeface="Arial MT"/>
                <a:cs typeface="Arial MT"/>
              </a:rPr>
              <a:t>inovadoras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695705" y="5938689"/>
            <a:ext cx="21005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F5970"/>
                </a:solidFill>
                <a:latin typeface="Arial MT"/>
                <a:cs typeface="Arial MT"/>
              </a:rPr>
              <a:t>O</a:t>
            </a:r>
            <a:r>
              <a:rPr dirty="0" sz="1800" spc="-235">
                <a:solidFill>
                  <a:srgbClr val="4F597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8A8A8"/>
                </a:solidFill>
                <a:latin typeface="Arial MT"/>
                <a:cs typeface="Arial MT"/>
              </a:rPr>
              <a:t>FI</a:t>
            </a:r>
            <a:r>
              <a:rPr dirty="0" sz="1800">
                <a:solidFill>
                  <a:srgbClr val="AAAAAA"/>
                </a:solidFill>
                <a:latin typeface="Arial MT"/>
                <a:cs typeface="Arial MT"/>
              </a:rPr>
              <a:t>uxo</a:t>
            </a:r>
            <a:r>
              <a:rPr dirty="0" sz="1800" spc="-22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800" spc="70">
                <a:solidFill>
                  <a:srgbClr val="AAAAAA"/>
                </a:solidFill>
                <a:latin typeface="Arial MT"/>
                <a:cs typeface="Arial MT"/>
              </a:rPr>
              <a:t>Inteligente: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5706" y="6345356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5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80F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652888" y="6284228"/>
            <a:ext cx="42075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AFAFAF"/>
                </a:solidFill>
                <a:latin typeface="Arial MT"/>
                <a:cs typeface="Arial MT"/>
              </a:rPr>
              <a:t>beira</a:t>
            </a:r>
            <a:r>
              <a:rPr dirty="0" sz="1800" spc="-2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800" spc="65">
                <a:solidFill>
                  <a:srgbClr val="606777"/>
                </a:solidFill>
                <a:latin typeface="Arial MT"/>
                <a:cs typeface="Arial MT"/>
              </a:rPr>
              <a:t>do</a:t>
            </a:r>
            <a:r>
              <a:rPr dirty="0" sz="1800" spc="-190">
                <a:solidFill>
                  <a:srgbClr val="606777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CACAC"/>
                </a:solidFill>
                <a:latin typeface="Arial MT"/>
                <a:cs typeface="Arial MT"/>
              </a:rPr>
              <a:t>burnout</a:t>
            </a:r>
            <a:r>
              <a:rPr dirty="0" sz="1800" spc="1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AAAAA"/>
                </a:solidFill>
                <a:latin typeface="Arial MT"/>
                <a:cs typeface="Arial MT"/>
              </a:rPr>
              <a:t>por</a:t>
            </a:r>
            <a:r>
              <a:rPr dirty="0" sz="1800" spc="-6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465260"/>
                </a:solidFill>
                <a:latin typeface="Arial MT"/>
                <a:cs typeface="Arial MT"/>
              </a:rPr>
              <a:t>lidar</a:t>
            </a:r>
            <a:r>
              <a:rPr dirty="0" sz="1800" spc="15">
                <a:solidFill>
                  <a:srgbClr val="46526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3A3A3"/>
                </a:solidFill>
                <a:latin typeface="Arial MT"/>
                <a:cs typeface="Arial MT"/>
              </a:rPr>
              <a:t>com</a:t>
            </a:r>
            <a:r>
              <a:rPr dirty="0" sz="1800" spc="-8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A1A1A1"/>
                </a:solidFill>
                <a:latin typeface="Arial MT"/>
                <a:cs typeface="Arial MT"/>
              </a:rPr>
              <a:t>proc</a:t>
            </a:r>
            <a:r>
              <a:rPr dirty="0" sz="1800" spc="-10">
                <a:solidFill>
                  <a:srgbClr val="000E21"/>
                </a:solidFill>
                <a:latin typeface="Arial MT"/>
                <a:cs typeface="Arial MT"/>
              </a:rPr>
              <a:t>e</a:t>
            </a:r>
            <a:r>
              <a:rPr dirty="0" sz="1800" spc="-10">
                <a:solidFill>
                  <a:srgbClr val="08132A"/>
                </a:solidFill>
                <a:latin typeface="Arial MT"/>
                <a:cs typeface="Arial MT"/>
              </a:rPr>
              <a:t>ss</a:t>
            </a:r>
            <a:r>
              <a:rPr dirty="0" sz="1800" spc="-10">
                <a:solidFill>
                  <a:srgbClr val="010A1A"/>
                </a:solidFill>
                <a:latin typeface="Arial MT"/>
                <a:cs typeface="Arial MT"/>
              </a:rPr>
              <a:t>os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676380" y="6284228"/>
            <a:ext cx="43795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00516"/>
                </a:solidFill>
                <a:latin typeface="Arial MT"/>
                <a:cs typeface="Arial MT"/>
              </a:rPr>
              <a:t>re</a:t>
            </a:r>
            <a:r>
              <a:rPr dirty="0" sz="1800" spc="-270">
                <a:solidFill>
                  <a:srgbClr val="000516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B6B6B6"/>
                </a:solidFill>
                <a:latin typeface="Arial MT"/>
                <a:cs typeface="Arial MT"/>
              </a:rPr>
              <a:t>duziram</a:t>
            </a:r>
            <a:r>
              <a:rPr dirty="0" sz="1800" spc="114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dirty="0" sz="1800" spc="-160">
                <a:solidFill>
                  <a:srgbClr val="A8A8A8"/>
                </a:solidFill>
                <a:latin typeface="Arial MT"/>
                <a:cs typeface="Arial MT"/>
              </a:rPr>
              <a:t>a</a:t>
            </a:r>
            <a:r>
              <a:rPr dirty="0" sz="1800" spc="-9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7A7A7"/>
                </a:solidFill>
                <a:latin typeface="Arial MT"/>
                <a:cs typeface="Arial MT"/>
              </a:rPr>
              <a:t>rotatividade</a:t>
            </a:r>
            <a:r>
              <a:rPr dirty="0" sz="1800" spc="21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51C"/>
                </a:solidFill>
                <a:latin typeface="Arial MT"/>
                <a:cs typeface="Arial MT"/>
              </a:rPr>
              <a:t>de</a:t>
            </a:r>
            <a:r>
              <a:rPr dirty="0" sz="1800" spc="15">
                <a:solidFill>
                  <a:srgbClr val="00051C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B3B3B3"/>
                </a:solidFill>
                <a:latin typeface="Arial MT"/>
                <a:cs typeface="Arial MT"/>
              </a:rPr>
              <a:t>colaborador</a:t>
            </a:r>
            <a:r>
              <a:rPr dirty="0" sz="1800" spc="-10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A7A7A7"/>
                </a:solidFill>
                <a:latin typeface="Arial MT"/>
                <a:cs typeface="Arial MT"/>
              </a:rPr>
              <a:t>e</a:t>
            </a:r>
            <a:r>
              <a:rPr dirty="0" sz="1800" spc="-25">
                <a:solidFill>
                  <a:srgbClr val="000A24"/>
                </a:solidFill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670416" y="6251507"/>
            <a:ext cx="3900804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315">
                <a:solidFill>
                  <a:srgbClr val="A1A1A1"/>
                </a:solidFill>
                <a:latin typeface="Arial MT"/>
                <a:cs typeface="Arial MT"/>
              </a:rPr>
              <a:t>1.</a:t>
            </a:r>
            <a:r>
              <a:rPr dirty="0" sz="2050" spc="-105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050" spc="-100">
                <a:solidFill>
                  <a:srgbClr val="B5B5B5"/>
                </a:solidFill>
                <a:latin typeface="Arial MT"/>
                <a:cs typeface="Arial MT"/>
              </a:rPr>
              <a:t>Comentário</a:t>
            </a:r>
            <a:r>
              <a:rPr dirty="0" sz="2050" spc="-6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90">
                <a:solidFill>
                  <a:srgbClr val="A1A1A1"/>
                </a:solidFill>
                <a:latin typeface="Arial MT"/>
                <a:cs typeface="Arial MT"/>
              </a:rPr>
              <a:t>do</a:t>
            </a:r>
            <a:r>
              <a:rPr dirty="0" sz="2050" spc="-28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050" spc="-110">
                <a:solidFill>
                  <a:srgbClr val="A1A1A1"/>
                </a:solidFill>
                <a:latin typeface="Arial MT"/>
                <a:cs typeface="Arial MT"/>
              </a:rPr>
              <a:t>lead</a:t>
            </a:r>
            <a:r>
              <a:rPr dirty="0" sz="2050" spc="-165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050" spc="-150">
                <a:solidFill>
                  <a:srgbClr val="AAAAAA"/>
                </a:solidFill>
                <a:latin typeface="Arial MT"/>
                <a:cs typeface="Arial MT"/>
              </a:rPr>
              <a:t>ativa</a:t>
            </a:r>
            <a:r>
              <a:rPr dirty="0" sz="2050" spc="-12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110">
                <a:solidFill>
                  <a:srgbClr val="00071A"/>
                </a:solidFill>
                <a:latin typeface="Arial MT"/>
                <a:cs typeface="Arial MT"/>
              </a:rPr>
              <a:t>o</a:t>
            </a:r>
            <a:r>
              <a:rPr dirty="0" sz="2050" spc="-275">
                <a:solidFill>
                  <a:srgbClr val="00071A"/>
                </a:solidFill>
                <a:latin typeface="Arial MT"/>
                <a:cs typeface="Arial MT"/>
              </a:rPr>
              <a:t> </a:t>
            </a:r>
            <a:r>
              <a:rPr dirty="0" sz="2050" spc="-60">
                <a:solidFill>
                  <a:srgbClr val="AFAFAF"/>
                </a:solidFill>
                <a:latin typeface="Arial MT"/>
                <a:cs typeface="Arial MT"/>
              </a:rPr>
              <a:t>Chatbot.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5706" y="6706602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5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80F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653003" y="6645474"/>
            <a:ext cx="10229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AAAAAA"/>
                </a:solidFill>
                <a:latin typeface="Arial MT"/>
                <a:cs typeface="Arial MT"/>
              </a:rPr>
              <a:t>re</a:t>
            </a:r>
            <a:r>
              <a:rPr dirty="0" sz="1800" spc="-29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AEAEAE"/>
                </a:solidFill>
                <a:latin typeface="Arial MT"/>
                <a:cs typeface="Arial MT"/>
              </a:rPr>
              <a:t>ativos.</a:t>
            </a:r>
            <a:r>
              <a:rPr dirty="0" sz="1800" spc="-10">
                <a:solidFill>
                  <a:srgbClr val="071324"/>
                </a:solidFill>
                <a:latin typeface="Arial MT"/>
                <a:cs typeface="Arial MT"/>
              </a:rPr>
              <a:t>"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676154" y="6645474"/>
            <a:ext cx="38506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AFAFAF"/>
                </a:solidFill>
                <a:latin typeface="Arial MT"/>
                <a:cs typeface="Arial MT"/>
              </a:rPr>
              <a:t>pela</a:t>
            </a:r>
            <a:r>
              <a:rPr dirty="0" sz="1800" spc="-6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B6B6B6"/>
                </a:solidFill>
                <a:latin typeface="Arial MT"/>
                <a:cs typeface="Arial MT"/>
              </a:rPr>
              <a:t>metade</a:t>
            </a:r>
            <a:r>
              <a:rPr dirty="0" sz="1800" spc="114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B1B1B1"/>
                </a:solidFill>
                <a:latin typeface="Arial MT"/>
                <a:cs typeface="Arial MT"/>
              </a:rPr>
              <a:t>usando</a:t>
            </a:r>
            <a:r>
              <a:rPr dirty="0" sz="1800" spc="-2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FAFAF"/>
                </a:solidFill>
                <a:latin typeface="Arial MT"/>
                <a:cs typeface="Arial MT"/>
              </a:rPr>
              <a:t>nosso</a:t>
            </a:r>
            <a:r>
              <a:rPr dirty="0" sz="1800" spc="-8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9095A3"/>
                </a:solidFill>
                <a:latin typeface="Arial MT"/>
                <a:cs typeface="Arial MT"/>
              </a:rPr>
              <a:t>m</a:t>
            </a:r>
            <a:r>
              <a:rPr dirty="0" sz="1800" spc="-10">
                <a:solidFill>
                  <a:srgbClr val="ACACAC"/>
                </a:solidFill>
                <a:latin typeface="Arial MT"/>
                <a:cs typeface="Arial MT"/>
              </a:rPr>
              <a:t>é‘todo.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"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699993" y="6645474"/>
            <a:ext cx="45440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5">
                <a:solidFill>
                  <a:srgbClr val="99A5B5"/>
                </a:solidFill>
                <a:latin typeface="Arial MT"/>
                <a:cs typeface="Arial MT"/>
              </a:rPr>
              <a:t>2.</a:t>
            </a:r>
            <a:r>
              <a:rPr dirty="0" sz="1800" spc="-105">
                <a:solidFill>
                  <a:srgbClr val="99A5B5"/>
                </a:solidFill>
                <a:latin typeface="Arial MT"/>
                <a:cs typeface="Arial MT"/>
              </a:rPr>
              <a:t> </a:t>
            </a:r>
            <a:r>
              <a:rPr dirty="0" sz="1800" spc="-160">
                <a:solidFill>
                  <a:srgbClr val="B1B1B1"/>
                </a:solidFill>
                <a:latin typeface="Arial MT"/>
                <a:cs typeface="Arial MT"/>
              </a:rPr>
              <a:t>Re</a:t>
            </a:r>
            <a:r>
              <a:rPr dirty="0" sz="1800" spc="-23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B1B1B1"/>
                </a:solidFill>
                <a:latin typeface="Arial MT"/>
                <a:cs typeface="Arial MT"/>
              </a:rPr>
              <a:t>sposta</a:t>
            </a:r>
            <a:r>
              <a:rPr dirty="0" sz="1800" spc="-8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B5B5B5"/>
                </a:solidFill>
                <a:latin typeface="Arial MT"/>
                <a:cs typeface="Arial MT"/>
              </a:rPr>
              <a:t>instantâne</a:t>
            </a:r>
            <a:r>
              <a:rPr dirty="0" sz="1800" spc="-114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1800" spc="-160">
                <a:solidFill>
                  <a:srgbClr val="959595"/>
                </a:solidFill>
                <a:latin typeface="Arial MT"/>
                <a:cs typeface="Arial MT"/>
              </a:rPr>
              <a:t>a</a:t>
            </a:r>
            <a:r>
              <a:rPr dirty="0" sz="1800" spc="-130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1800" spc="-70">
                <a:solidFill>
                  <a:srgbClr val="AAAAAA"/>
                </a:solidFill>
                <a:latin typeface="Arial MT"/>
                <a:cs typeface="Arial MT"/>
              </a:rPr>
              <a:t>na</a:t>
            </a:r>
            <a:r>
              <a:rPr dirty="0" sz="1800" spc="-8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800" spc="-135">
                <a:solidFill>
                  <a:srgbClr val="AAAAAA"/>
                </a:solidFill>
                <a:latin typeface="Arial MT"/>
                <a:cs typeface="Arial MT"/>
              </a:rPr>
              <a:t>DM</a:t>
            </a:r>
            <a:r>
              <a:rPr dirty="0" sz="1800" spc="-4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5A5A5"/>
                </a:solidFill>
                <a:latin typeface="Arial MT"/>
                <a:cs typeface="Arial MT"/>
              </a:rPr>
              <a:t>com</a:t>
            </a:r>
            <a:r>
              <a:rPr dirty="0" sz="1800" spc="-4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93A0B3"/>
                </a:solidFill>
                <a:latin typeface="Arial MT"/>
                <a:cs typeface="Arial MT"/>
              </a:rPr>
              <a:t>o</a:t>
            </a:r>
            <a:r>
              <a:rPr dirty="0" sz="1800" spc="-175">
                <a:solidFill>
                  <a:srgbClr val="93A0B3"/>
                </a:solidFill>
                <a:latin typeface="Arial MT"/>
                <a:cs typeface="Arial MT"/>
              </a:rPr>
              <a:t> </a:t>
            </a:r>
            <a:r>
              <a:rPr dirty="0" sz="1800" spc="-140">
                <a:solidFill>
                  <a:srgbClr val="B3B3B3"/>
                </a:solidFill>
                <a:latin typeface="Arial MT"/>
                <a:cs typeface="Arial MT"/>
              </a:rPr>
              <a:t>PDF</a:t>
            </a:r>
            <a:r>
              <a:rPr dirty="0" sz="1800" spc="-7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05B74"/>
                </a:solidFill>
                <a:latin typeface="Arial MT"/>
                <a:cs typeface="Arial MT"/>
              </a:rPr>
              <a:t>da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5706" y="7052141"/>
            <a:ext cx="20080605" cy="196850"/>
          </a:xfrm>
          <a:custGeom>
            <a:avLst/>
            <a:gdLst/>
            <a:ahLst/>
            <a:cxnLst/>
            <a:rect l="l" t="t" r="r" b="b"/>
            <a:pathLst>
              <a:path w="20080605" h="196850">
                <a:moveTo>
                  <a:pt x="20080541" y="196329"/>
                </a:moveTo>
                <a:lnTo>
                  <a:pt x="0" y="19632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96329"/>
                </a:lnTo>
                <a:close/>
              </a:path>
            </a:pathLst>
          </a:custGeom>
          <a:solidFill>
            <a:srgbClr val="080F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3696497" y="6958291"/>
            <a:ext cx="124523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45">
                <a:solidFill>
                  <a:srgbClr val="808E93"/>
                </a:solidFill>
                <a:latin typeface="Arial MT"/>
                <a:cs typeface="Arial MT"/>
              </a:rPr>
              <a:t>f</a:t>
            </a:r>
            <a:r>
              <a:rPr dirty="0" sz="2050" spc="-260">
                <a:solidFill>
                  <a:srgbClr val="808E93"/>
                </a:solidFill>
                <a:latin typeface="Arial MT"/>
                <a:cs typeface="Arial MT"/>
              </a:rPr>
              <a:t> </a:t>
            </a:r>
            <a:r>
              <a:rPr dirty="0" sz="2050" spc="-110">
                <a:solidFill>
                  <a:srgbClr val="BABABA"/>
                </a:solidFill>
                <a:latin typeface="Arial MT"/>
                <a:cs typeface="Arial MT"/>
              </a:rPr>
              <a:t>erramenta.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5706" y="7397680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40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80F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644988" y="7320191"/>
            <a:ext cx="455104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B1B1B1"/>
                </a:solidFill>
                <a:latin typeface="Arial MT"/>
                <a:cs typeface="Arial MT"/>
              </a:rPr>
              <a:t>Interesse:</a:t>
            </a:r>
            <a:r>
              <a:rPr dirty="0" sz="1900" spc="-6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1900" spc="-45">
                <a:solidFill>
                  <a:srgbClr val="AAAAAA"/>
                </a:solidFill>
                <a:latin typeface="Arial MT"/>
                <a:cs typeface="Arial MT"/>
              </a:rPr>
              <a:t>"Apresentamos</a:t>
            </a:r>
            <a:r>
              <a:rPr dirty="0" sz="1900" spc="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 spc="-30">
                <a:solidFill>
                  <a:srgbClr val="051121"/>
                </a:solidFill>
                <a:latin typeface="Arial MT"/>
                <a:cs typeface="Arial MT"/>
              </a:rPr>
              <a:t>o</a:t>
            </a:r>
            <a:r>
              <a:rPr dirty="0" sz="1900" spc="-229">
                <a:solidFill>
                  <a:srgbClr val="05112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FAFAF"/>
                </a:solidFill>
                <a:latin typeface="Arial MT"/>
                <a:cs typeface="Arial MT"/>
              </a:rPr>
              <a:t>framework</a:t>
            </a:r>
            <a:r>
              <a:rPr dirty="0" sz="1900" spc="-1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A8A8A8"/>
                </a:solidFill>
                <a:latin typeface="Arial MT"/>
                <a:cs typeface="Arial MT"/>
              </a:rPr>
              <a:t>aue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683737" y="7336552"/>
            <a:ext cx="46488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AFAFAF"/>
                </a:solidFill>
                <a:latin typeface="Arial MT"/>
                <a:cs typeface="Arial MT"/>
              </a:rPr>
              <a:t>Aç</a:t>
            </a:r>
            <a:r>
              <a:rPr dirty="0" sz="1800" spc="-204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516"/>
                </a:solidFill>
                <a:latin typeface="Arial MT"/>
                <a:cs typeface="Arial MT"/>
              </a:rPr>
              <a:t>ão</a:t>
            </a:r>
            <a:r>
              <a:rPr dirty="0" sz="1800" spc="-165">
                <a:solidFill>
                  <a:srgbClr val="000516"/>
                </a:solidFill>
                <a:latin typeface="Arial MT"/>
                <a:cs typeface="Arial MT"/>
              </a:rPr>
              <a:t> </a:t>
            </a:r>
            <a:r>
              <a:rPr dirty="0" sz="1800" spc="55">
                <a:solidFill>
                  <a:srgbClr val="AFAFAF"/>
                </a:solidFill>
                <a:latin typeface="Arial MT"/>
                <a:cs typeface="Arial MT"/>
              </a:rPr>
              <a:t>(Neuromarketing):</a:t>
            </a:r>
            <a:r>
              <a:rPr dirty="0" sz="1800" spc="-8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9C9C9C"/>
                </a:solidFill>
                <a:latin typeface="Arial MT"/>
                <a:cs typeface="Arial MT"/>
              </a:rPr>
              <a:t>"Come</a:t>
            </a:r>
            <a:r>
              <a:rPr dirty="0" sz="1800" spc="-250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CACAC"/>
                </a:solidFill>
                <a:latin typeface="Arial MT"/>
                <a:cs typeface="Arial MT"/>
              </a:rPr>
              <a:t>nte</a:t>
            </a:r>
            <a:r>
              <a:rPr dirty="0" sz="1800" spc="8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625E"/>
                </a:solidFill>
                <a:latin typeface="Arial MT"/>
                <a:cs typeface="Arial MT"/>
              </a:rPr>
              <a:t>'QUERO'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3697157" y="7336552"/>
            <a:ext cx="35509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A1A1A1"/>
                </a:solidFill>
                <a:latin typeface="Arial MT"/>
                <a:cs typeface="Arial MT"/>
              </a:rPr>
              <a:t>3.</a:t>
            </a:r>
            <a:r>
              <a:rPr dirty="0" sz="1800" spc="-10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CACAC"/>
                </a:solidFill>
                <a:latin typeface="Arial MT"/>
                <a:cs typeface="Arial MT"/>
              </a:rPr>
              <a:t>Qualificação</a:t>
            </a:r>
            <a:r>
              <a:rPr dirty="0" sz="1800" spc="7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8A8A8"/>
                </a:solidFill>
                <a:latin typeface="Arial MT"/>
                <a:cs typeface="Arial MT"/>
              </a:rPr>
              <a:t>autom</a:t>
            </a:r>
            <a:r>
              <a:rPr dirty="0" sz="1800" spc="-26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AFAFAF"/>
                </a:solidFill>
                <a:latin typeface="Arial MT"/>
                <a:cs typeface="Arial MT"/>
              </a:rPr>
              <a:t>ática</a:t>
            </a:r>
            <a:r>
              <a:rPr dirty="0" sz="1800" spc="-6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F5767"/>
                </a:solidFill>
                <a:latin typeface="Arial MT"/>
                <a:cs typeface="Arial MT"/>
              </a:rPr>
              <a:t>por</a:t>
            </a:r>
            <a:r>
              <a:rPr dirty="0" sz="1800" spc="-50">
                <a:solidFill>
                  <a:srgbClr val="4F5767"/>
                </a:solidFill>
                <a:latin typeface="Arial MT"/>
                <a:cs typeface="Arial MT"/>
              </a:rPr>
              <a:t> </a:t>
            </a:r>
            <a:r>
              <a:rPr dirty="0" sz="1800" spc="-85">
                <a:solidFill>
                  <a:srgbClr val="ACACAC"/>
                </a:solidFill>
                <a:latin typeface="Arial MT"/>
                <a:cs typeface="Arial MT"/>
              </a:rPr>
              <a:t>IA</a:t>
            </a:r>
            <a:r>
              <a:rPr dirty="0" sz="1800" spc="-10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777E90"/>
                </a:solidFill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5706" y="7758926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40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711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652777" y="7697798"/>
            <a:ext cx="41656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A5A5A5"/>
                </a:solidFill>
                <a:latin typeface="Arial MT"/>
                <a:cs typeface="Arial MT"/>
              </a:rPr>
              <a:t>prevô</a:t>
            </a:r>
            <a:r>
              <a:rPr dirty="0" sz="1800" spc="4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9C9C9C"/>
                </a:solidFill>
                <a:latin typeface="Arial MT"/>
                <a:cs typeface="Arial MT"/>
              </a:rPr>
              <a:t>demis</a:t>
            </a:r>
            <a:r>
              <a:rPr dirty="0" sz="1800" spc="-27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1800" spc="-30">
                <a:solidFill>
                  <a:srgbClr val="000A18"/>
                </a:solidFill>
                <a:latin typeface="Arial MT"/>
                <a:cs typeface="Arial MT"/>
              </a:rPr>
              <a:t>sõe</a:t>
            </a:r>
            <a:r>
              <a:rPr dirty="0" sz="1800" spc="-250">
                <a:solidFill>
                  <a:srgbClr val="000A18"/>
                </a:solidFill>
                <a:latin typeface="Arial MT"/>
                <a:cs typeface="Arial MT"/>
              </a:rPr>
              <a:t> </a:t>
            </a:r>
            <a:r>
              <a:rPr dirty="0" sz="1800" spc="-204">
                <a:solidFill>
                  <a:srgbClr val="000F23"/>
                </a:solidFill>
                <a:latin typeface="Arial MT"/>
                <a:cs typeface="Arial MT"/>
              </a:rPr>
              <a:t>s</a:t>
            </a:r>
            <a:r>
              <a:rPr dirty="0" sz="1800" spc="-85">
                <a:solidFill>
                  <a:srgbClr val="000F23"/>
                </a:solidFill>
                <a:latin typeface="Arial MT"/>
                <a:cs typeface="Arial MT"/>
              </a:rPr>
              <a:t> </a:t>
            </a:r>
            <a:r>
              <a:rPr dirty="0" sz="1800" spc="-90">
                <a:solidFill>
                  <a:srgbClr val="010E1A"/>
                </a:solidFill>
                <a:latin typeface="Arial MT"/>
                <a:cs typeface="Arial MT"/>
              </a:rPr>
              <a:t>e</a:t>
            </a:r>
            <a:r>
              <a:rPr dirty="0" sz="1800" spc="-40">
                <a:solidFill>
                  <a:srgbClr val="010E1A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000718"/>
                </a:solidFill>
                <a:latin typeface="Arial MT"/>
                <a:cs typeface="Arial MT"/>
              </a:rPr>
              <a:t>ce</a:t>
            </a:r>
            <a:r>
              <a:rPr dirty="0" sz="1800" spc="-20">
                <a:solidFill>
                  <a:srgbClr val="AAAAAA"/>
                </a:solidFill>
                <a:latin typeface="Arial MT"/>
                <a:cs typeface="Arial MT"/>
              </a:rPr>
              <a:t>ntraliza</a:t>
            </a:r>
            <a:r>
              <a:rPr dirty="0" sz="1800" spc="-2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000313"/>
                </a:solidFill>
                <a:latin typeface="Arial MT"/>
                <a:cs typeface="Arial MT"/>
              </a:rPr>
              <a:t>fe</a:t>
            </a:r>
            <a:r>
              <a:rPr dirty="0" sz="1800" spc="-45">
                <a:solidFill>
                  <a:srgbClr val="000313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51C"/>
                </a:solidFill>
                <a:latin typeface="Arial MT"/>
                <a:cs typeface="Arial MT"/>
              </a:rPr>
              <a:t>e</a:t>
            </a:r>
            <a:r>
              <a:rPr dirty="0" sz="1800" spc="-10">
                <a:solidFill>
                  <a:srgbClr val="030C1D"/>
                </a:solidFill>
                <a:latin typeface="Arial MT"/>
                <a:cs typeface="Arial MT"/>
              </a:rPr>
              <a:t>dbacks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682265" y="7681437"/>
            <a:ext cx="447421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65">
                <a:solidFill>
                  <a:srgbClr val="82899C"/>
                </a:solidFill>
                <a:latin typeface="Arial MT"/>
                <a:cs typeface="Arial MT"/>
              </a:rPr>
              <a:t>e</a:t>
            </a:r>
            <a:r>
              <a:rPr dirty="0" sz="1900" spc="-125">
                <a:solidFill>
                  <a:srgbClr val="82899C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AFAFAF"/>
                </a:solidFill>
                <a:latin typeface="Arial MT"/>
                <a:cs typeface="Arial MT"/>
              </a:rPr>
              <a:t>receba</a:t>
            </a:r>
            <a:r>
              <a:rPr dirty="0" sz="1900" spc="-114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900" spc="-100">
                <a:solidFill>
                  <a:srgbClr val="B1B1B1"/>
                </a:solidFill>
                <a:latin typeface="Arial MT"/>
                <a:cs typeface="Arial MT"/>
              </a:rPr>
              <a:t>um</a:t>
            </a:r>
            <a:r>
              <a:rPr dirty="0" sz="1900" spc="-8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1900" spc="-30">
                <a:solidFill>
                  <a:srgbClr val="B5B5B5"/>
                </a:solidFill>
                <a:latin typeface="Arial MT"/>
                <a:cs typeface="Arial MT"/>
              </a:rPr>
              <a:t>diagnóstico</a:t>
            </a:r>
            <a:r>
              <a:rPr dirty="0" sz="1900" spc="-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1900" spc="-65">
                <a:solidFill>
                  <a:srgbClr val="010A1C"/>
                </a:solidFill>
                <a:latin typeface="Arial MT"/>
                <a:cs typeface="Arial MT"/>
              </a:rPr>
              <a:t>e</a:t>
            </a:r>
            <a:r>
              <a:rPr dirty="0" sz="1900" spc="-65">
                <a:solidFill>
                  <a:srgbClr val="ACACAC"/>
                </a:solidFill>
                <a:latin typeface="Arial MT"/>
                <a:cs typeface="Arial MT"/>
              </a:rPr>
              <a:t>xclusivo</a:t>
            </a:r>
            <a:r>
              <a:rPr dirty="0" sz="1900" spc="-7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1900" spc="-60">
                <a:solidFill>
                  <a:srgbClr val="AAAAAA"/>
                </a:solidFill>
                <a:latin typeface="Arial MT"/>
                <a:cs typeface="Arial MT"/>
              </a:rPr>
              <a:t>grátis</a:t>
            </a:r>
            <a:r>
              <a:rPr dirty="0" sz="1900" spc="-4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B1B1B1"/>
                </a:solidFill>
                <a:latin typeface="Arial MT"/>
                <a:cs typeface="Arial MT"/>
              </a:rPr>
              <a:t>do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3697314" y="7665076"/>
            <a:ext cx="438277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14">
                <a:solidFill>
                  <a:srgbClr val="ACACAC"/>
                </a:solidFill>
                <a:latin typeface="Arial MT"/>
                <a:cs typeface="Arial MT"/>
              </a:rPr>
              <a:t>agendamento</a:t>
            </a:r>
            <a:r>
              <a:rPr dirty="0" sz="2050" spc="2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70">
                <a:solidFill>
                  <a:srgbClr val="B5B5B5"/>
                </a:solidFill>
                <a:latin typeface="Arial MT"/>
                <a:cs typeface="Arial MT"/>
              </a:rPr>
              <a:t>direto</a:t>
            </a:r>
            <a:r>
              <a:rPr dirty="0" sz="2050" spc="-20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215">
                <a:solidFill>
                  <a:srgbClr val="030A1D"/>
                </a:solidFill>
                <a:latin typeface="Arial MT"/>
                <a:cs typeface="Arial MT"/>
              </a:rPr>
              <a:t>na</a:t>
            </a:r>
            <a:r>
              <a:rPr dirty="0" sz="2050" spc="-120">
                <a:solidFill>
                  <a:srgbClr val="030A1D"/>
                </a:solidFill>
                <a:latin typeface="Arial MT"/>
                <a:cs typeface="Arial MT"/>
              </a:rPr>
              <a:t> </a:t>
            </a:r>
            <a:r>
              <a:rPr dirty="0" sz="2050" spc="-150">
                <a:solidFill>
                  <a:srgbClr val="A7A7A7"/>
                </a:solidFill>
                <a:latin typeface="Arial MT"/>
                <a:cs typeface="Arial MT"/>
              </a:rPr>
              <a:t>agenda</a:t>
            </a:r>
            <a:r>
              <a:rPr dirty="0" sz="2050" spc="-2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050" spc="-75">
                <a:solidFill>
                  <a:srgbClr val="ACACAC"/>
                </a:solidFill>
                <a:latin typeface="Arial MT"/>
                <a:cs typeface="Arial MT"/>
              </a:rPr>
              <a:t>comercial.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15706" y="8104465"/>
            <a:ext cx="20080605" cy="196850"/>
          </a:xfrm>
          <a:custGeom>
            <a:avLst/>
            <a:gdLst/>
            <a:ahLst/>
            <a:cxnLst/>
            <a:rect l="l" t="t" r="r" b="b"/>
            <a:pathLst>
              <a:path w="20080605" h="196850">
                <a:moveTo>
                  <a:pt x="20080541" y="196329"/>
                </a:moveTo>
                <a:lnTo>
                  <a:pt x="0" y="19632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96329"/>
                </a:lnTo>
                <a:close/>
              </a:path>
            </a:pathLst>
          </a:custGeom>
          <a:solidFill>
            <a:srgbClr val="0711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1658416" y="8010615"/>
            <a:ext cx="239458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20">
                <a:solidFill>
                  <a:srgbClr val="ACACAC"/>
                </a:solidFill>
                <a:latin typeface="Arial MT"/>
                <a:cs typeface="Arial MT"/>
              </a:rPr>
              <a:t>automátícos</a:t>
            </a:r>
            <a:r>
              <a:rPr dirty="0" sz="2050" spc="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145">
                <a:solidFill>
                  <a:srgbClr val="000F1F"/>
                </a:solidFill>
                <a:latin typeface="Arial MT"/>
                <a:cs typeface="Arial MT"/>
              </a:rPr>
              <a:t>de</a:t>
            </a:r>
            <a:r>
              <a:rPr dirty="0" sz="2050" spc="-80">
                <a:solidFill>
                  <a:srgbClr val="000F1F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7E8793"/>
                </a:solidFill>
                <a:latin typeface="Arial MT"/>
                <a:cs typeface="Arial MT"/>
              </a:rPr>
              <a:t>clima.</a:t>
            </a:r>
            <a:r>
              <a:rPr dirty="0" sz="2050" spc="-50">
                <a:solidFill>
                  <a:srgbClr val="03131D"/>
                </a:solidFill>
                <a:latin typeface="Arial MT"/>
                <a:cs typeface="Arial MT"/>
              </a:rPr>
              <a:t>"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664794" y="8010615"/>
            <a:ext cx="86423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25">
                <a:solidFill>
                  <a:srgbClr val="A0A0A0"/>
                </a:solidFill>
                <a:latin typeface="Courier New"/>
                <a:cs typeface="Courier New"/>
              </a:rPr>
              <a:t>seuRH”</a:t>
            </a:r>
            <a:endParaRPr sz="2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pc="-875">
                <a:solidFill>
                  <a:srgbClr val="00F2FD"/>
                </a:solidFill>
              </a:rPr>
              <a:t>)</a:t>
            </a:r>
            <a:r>
              <a:rPr dirty="0" spc="484">
                <a:solidFill>
                  <a:srgbClr val="00F2FD"/>
                </a:solidFill>
              </a:rPr>
              <a:t> </a:t>
            </a:r>
            <a:r>
              <a:rPr dirty="0" spc="-760">
                <a:solidFill>
                  <a:srgbClr val="08E6FB"/>
                </a:solidFill>
              </a:rPr>
              <a:t>RETENÇÀO</a:t>
            </a:r>
            <a:r>
              <a:rPr dirty="0" spc="680">
                <a:solidFill>
                  <a:srgbClr val="08E6FB"/>
                </a:solidFill>
              </a:rPr>
              <a:t> </a:t>
            </a:r>
            <a:r>
              <a:rPr dirty="0" spc="-1070">
                <a:solidFill>
                  <a:srgbClr val="0FE6FF"/>
                </a:solidFill>
              </a:rPr>
              <a:t>E</a:t>
            </a:r>
            <a:r>
              <a:rPr dirty="0" spc="305">
                <a:solidFill>
                  <a:srgbClr val="0FE6FF"/>
                </a:solidFill>
              </a:rPr>
              <a:t> </a:t>
            </a:r>
            <a:r>
              <a:rPr dirty="0" spc="-700">
                <a:solidFill>
                  <a:srgbClr val="0CE8FB"/>
                </a:solidFill>
              </a:rPr>
              <a:t>SUCESSO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706" y="3329741"/>
            <a:ext cx="20080605" cy="5960745"/>
            <a:chOff x="15706" y="3329741"/>
            <a:chExt cx="20080605" cy="59607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40297" y="7531184"/>
              <a:ext cx="149210" cy="92667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80585" y="5167382"/>
              <a:ext cx="251301" cy="84028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96338" y="5230207"/>
              <a:ext cx="196329" cy="69893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27887" y="5151675"/>
              <a:ext cx="7853" cy="12565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74869" y="4594101"/>
              <a:ext cx="117797" cy="14921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55675" y="8206556"/>
              <a:ext cx="4162176" cy="20418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682768" y="4916080"/>
              <a:ext cx="1201534" cy="51045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44525" y="8473564"/>
              <a:ext cx="1437129" cy="55757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5706" y="3329741"/>
              <a:ext cx="20080605" cy="5960745"/>
            </a:xfrm>
            <a:custGeom>
              <a:avLst/>
              <a:gdLst/>
              <a:ahLst/>
              <a:cxnLst/>
              <a:rect l="l" t="t" r="r" b="b"/>
              <a:pathLst>
                <a:path w="20080605" h="5960745">
                  <a:moveTo>
                    <a:pt x="20080541" y="5960551"/>
                  </a:moveTo>
                  <a:lnTo>
                    <a:pt x="0" y="5960551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5960551"/>
                  </a:lnTo>
                  <a:close/>
                </a:path>
              </a:pathLst>
            </a:custGeom>
            <a:solidFill>
              <a:srgbClr val="0711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5564208" y="3811790"/>
            <a:ext cx="15748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-50">
                <a:solidFill>
                  <a:srgbClr val="838383"/>
                </a:solidFill>
                <a:latin typeface="Arial MT"/>
                <a:cs typeface="Arial MT"/>
              </a:rPr>
              <a:t>”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729025" y="3811790"/>
            <a:ext cx="7623175" cy="18211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78765">
              <a:lnSpc>
                <a:spcPct val="100000"/>
              </a:lnSpc>
              <a:spcBef>
                <a:spcPts val="90"/>
              </a:spcBef>
              <a:tabLst>
                <a:tab pos="2865755" algn="l"/>
              </a:tabLst>
            </a:pPr>
            <a:r>
              <a:rPr dirty="0" sz="3100">
                <a:solidFill>
                  <a:srgbClr val="1FDDE8"/>
                </a:solidFill>
                <a:latin typeface="Arial MT"/>
                <a:cs typeface="Arial MT"/>
              </a:rPr>
              <a:t>«</a:t>
            </a:r>
            <a:r>
              <a:rPr dirty="0" sz="3100" spc="325">
                <a:solidFill>
                  <a:srgbClr val="1FDDE8"/>
                </a:solidFill>
                <a:latin typeface="Arial MT"/>
                <a:cs typeface="Arial MT"/>
              </a:rPr>
              <a:t> </a:t>
            </a:r>
            <a:r>
              <a:rPr dirty="0" sz="3100" spc="-520">
                <a:solidFill>
                  <a:srgbClr val="16E1E4"/>
                </a:solidFill>
                <a:latin typeface="Arial MT"/>
                <a:cs typeface="Arial MT"/>
              </a:rPr>
              <a:t>DNBOARDING</a:t>
            </a:r>
            <a:r>
              <a:rPr dirty="0" sz="3100">
                <a:solidFill>
                  <a:srgbClr val="16E1E4"/>
                </a:solidFill>
                <a:latin typeface="Arial MT"/>
                <a:cs typeface="Arial MT"/>
              </a:rPr>
              <a:t>	</a:t>
            </a:r>
            <a:r>
              <a:rPr dirty="0" sz="3100" spc="-455">
                <a:solidFill>
                  <a:srgbClr val="1ADDD6"/>
                </a:solidFill>
                <a:latin typeface="Arial MT"/>
                <a:cs typeface="Arial MT"/>
              </a:rPr>
              <a:t>PRÁTICD</a:t>
            </a:r>
            <a:r>
              <a:rPr dirty="0" sz="3100" spc="320">
                <a:solidFill>
                  <a:srgbClr val="1ADDD6"/>
                </a:solidFill>
                <a:latin typeface="Arial MT"/>
                <a:cs typeface="Arial MT"/>
              </a:rPr>
              <a:t> </a:t>
            </a:r>
            <a:r>
              <a:rPr dirty="0" sz="3100" spc="-650">
                <a:solidFill>
                  <a:srgbClr val="0EFDFF"/>
                </a:solidFill>
                <a:latin typeface="Arial MT"/>
                <a:cs typeface="Arial MT"/>
              </a:rPr>
              <a:t>DE</a:t>
            </a:r>
            <a:r>
              <a:rPr dirty="0" sz="3100" spc="150">
                <a:solidFill>
                  <a:srgbClr val="0EFDFF"/>
                </a:solidFill>
                <a:latin typeface="Arial MT"/>
                <a:cs typeface="Arial MT"/>
              </a:rPr>
              <a:t> </a:t>
            </a:r>
            <a:r>
              <a:rPr dirty="0" sz="3100" spc="-365">
                <a:solidFill>
                  <a:srgbClr val="0AE6E8"/>
                </a:solidFill>
                <a:latin typeface="Arial MT"/>
                <a:cs typeface="Arial MT"/>
              </a:rPr>
              <a:t>7</a:t>
            </a:r>
            <a:r>
              <a:rPr dirty="0" sz="3100" spc="-95">
                <a:solidFill>
                  <a:srgbClr val="0AE6E8"/>
                </a:solidFill>
                <a:latin typeface="Arial MT"/>
                <a:cs typeface="Arial MT"/>
              </a:rPr>
              <a:t> </a:t>
            </a:r>
            <a:r>
              <a:rPr dirty="0" sz="3100" spc="-405">
                <a:solidFill>
                  <a:srgbClr val="1CDDE2"/>
                </a:solidFill>
                <a:latin typeface="Arial MT"/>
                <a:cs typeface="Arial MT"/>
              </a:rPr>
              <a:t>DIAS</a:t>
            </a:r>
            <a:endParaRPr sz="3100">
              <a:latin typeface="Arial MT"/>
              <a:cs typeface="Arial MT"/>
            </a:endParaRPr>
          </a:p>
          <a:p>
            <a:pPr algn="just" marL="12700" marR="5080" indent="3175">
              <a:lnSpc>
                <a:spcPct val="120700"/>
              </a:lnSpc>
              <a:spcBef>
                <a:spcPts val="1520"/>
              </a:spcBef>
            </a:pPr>
            <a:r>
              <a:rPr dirty="0" sz="2050" spc="-90">
                <a:solidFill>
                  <a:srgbClr val="BABABA"/>
                </a:solidFill>
                <a:latin typeface="Arial MT"/>
                <a:cs typeface="Arial MT"/>
              </a:rPr>
              <a:t>Tutoriais</a:t>
            </a:r>
            <a:r>
              <a:rPr dirty="0" sz="2050" spc="140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B8B8B8"/>
                </a:solidFill>
                <a:latin typeface="Arial MT"/>
                <a:cs typeface="Arial MT"/>
              </a:rPr>
              <a:t>interativos</a:t>
            </a:r>
            <a:r>
              <a:rPr dirty="0" sz="2050" spc="19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050" spc="-85">
                <a:solidFill>
                  <a:srgbClr val="AAAAAA"/>
                </a:solidFill>
                <a:latin typeface="Arial MT"/>
                <a:cs typeface="Arial MT"/>
              </a:rPr>
              <a:t>guia</a:t>
            </a:r>
            <a:r>
              <a:rPr dirty="0" sz="2050" spc="-32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A5A5A5"/>
                </a:solidFill>
                <a:latin typeface="Arial MT"/>
                <a:cs typeface="Arial MT"/>
              </a:rPr>
              <a:t>dos</a:t>
            </a:r>
            <a:r>
              <a:rPr dirty="0" sz="2050" spc="4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050" spc="-80">
                <a:solidFill>
                  <a:srgbClr val="606E80"/>
                </a:solidFill>
                <a:latin typeface="Arial MT"/>
                <a:cs typeface="Arial MT"/>
              </a:rPr>
              <a:t>o</a:t>
            </a:r>
            <a:r>
              <a:rPr dirty="0" sz="2050" spc="-80">
                <a:solidFill>
                  <a:srgbClr val="9C9C9C"/>
                </a:solidFill>
                <a:latin typeface="Arial MT"/>
                <a:cs typeface="Arial MT"/>
              </a:rPr>
              <a:t>ela</a:t>
            </a:r>
            <a:r>
              <a:rPr dirty="0" sz="2050" spc="-30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050" spc="-60">
                <a:solidFill>
                  <a:srgbClr val="AAAAAA"/>
                </a:solidFill>
                <a:latin typeface="Arial MT"/>
                <a:cs typeface="Arial MT"/>
              </a:rPr>
              <a:t>nossa</a:t>
            </a:r>
            <a:r>
              <a:rPr dirty="0" sz="2050" spc="8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140">
                <a:solidFill>
                  <a:srgbClr val="ACACAC"/>
                </a:solidFill>
                <a:latin typeface="Arial MT"/>
                <a:cs typeface="Arial MT"/>
              </a:rPr>
              <a:t>lA</a:t>
            </a:r>
            <a:r>
              <a:rPr dirty="0" sz="2050" spc="-3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AAAAAA"/>
                </a:solidFill>
                <a:latin typeface="Arial MT"/>
                <a:cs typeface="Arial MT"/>
              </a:rPr>
              <a:t>integrada</a:t>
            </a:r>
            <a:r>
              <a:rPr dirty="0" sz="2050" spc="12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B5B5B5"/>
                </a:solidFill>
                <a:latin typeface="Arial MT"/>
                <a:cs typeface="Arial MT"/>
              </a:rPr>
              <a:t>e</a:t>
            </a:r>
            <a:r>
              <a:rPr dirty="0" sz="2050" spc="-15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5">
                <a:solidFill>
                  <a:srgbClr val="B5B5B5"/>
                </a:solidFill>
                <a:latin typeface="Arial MT"/>
                <a:cs typeface="Arial MT"/>
              </a:rPr>
              <a:t>configuraçao </a:t>
            </a:r>
            <a:r>
              <a:rPr dirty="0" sz="2050" spc="-35">
                <a:solidFill>
                  <a:srgbClr val="BABABA"/>
                </a:solidFill>
                <a:latin typeface="Arial MT"/>
                <a:cs typeface="Arial MT"/>
              </a:rPr>
              <a:t>instantânea</a:t>
            </a:r>
            <a:r>
              <a:rPr dirty="0" sz="2050" spc="165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050" spc="-15">
                <a:solidFill>
                  <a:srgbClr val="B1B1B1"/>
                </a:solidFill>
                <a:latin typeface="Arial MT"/>
                <a:cs typeface="Arial MT"/>
              </a:rPr>
              <a:t>de</a:t>
            </a:r>
            <a:r>
              <a:rPr dirty="0" sz="2050" spc="-13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050" spc="-70">
                <a:solidFill>
                  <a:srgbClr val="B5B5B5"/>
                </a:solidFill>
                <a:latin typeface="Arial MT"/>
                <a:cs typeface="Arial MT"/>
              </a:rPr>
              <a:t>canais</a:t>
            </a:r>
            <a:r>
              <a:rPr dirty="0" sz="2050" spc="7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90">
                <a:solidFill>
                  <a:srgbClr val="707583"/>
                </a:solidFill>
                <a:latin typeface="Arial MT"/>
                <a:cs typeface="Arial MT"/>
              </a:rPr>
              <a:t>em</a:t>
            </a:r>
            <a:r>
              <a:rPr dirty="0" sz="2050" spc="-45">
                <a:solidFill>
                  <a:srgbClr val="707583"/>
                </a:solidFill>
                <a:latin typeface="Arial MT"/>
                <a:cs typeface="Arial MT"/>
              </a:rPr>
              <a:t> </a:t>
            </a:r>
            <a:r>
              <a:rPr dirty="0" sz="2050" spc="-65">
                <a:solidFill>
                  <a:srgbClr val="AFAFAF"/>
                </a:solidFill>
                <a:latin typeface="Arial MT"/>
                <a:cs typeface="Arial MT"/>
              </a:rPr>
              <a:t>menos</a:t>
            </a:r>
            <a:r>
              <a:rPr dirty="0" sz="2050" spc="11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 spc="-15">
                <a:solidFill>
                  <a:srgbClr val="ACACAC"/>
                </a:solidFill>
                <a:latin typeface="Arial MT"/>
                <a:cs typeface="Arial MT"/>
              </a:rPr>
              <a:t>de</a:t>
            </a:r>
            <a:r>
              <a:rPr dirty="0" sz="2050" spc="-18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15">
                <a:solidFill>
                  <a:srgbClr val="ACACAC"/>
                </a:solidFill>
                <a:latin typeface="Arial MT"/>
                <a:cs typeface="Arial MT"/>
              </a:rPr>
              <a:t>lO</a:t>
            </a:r>
            <a:r>
              <a:rPr dirty="0" sz="2050" spc="-8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ACACAC"/>
                </a:solidFill>
                <a:latin typeface="Arial MT"/>
                <a:cs typeface="Arial MT"/>
              </a:rPr>
              <a:t>minutos</a:t>
            </a:r>
            <a:r>
              <a:rPr dirty="0" sz="2050" spc="10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75">
                <a:solidFill>
                  <a:srgbClr val="606D82"/>
                </a:solidFill>
                <a:latin typeface="Arial MT"/>
                <a:cs typeface="Arial MT"/>
              </a:rPr>
              <a:t>o</a:t>
            </a:r>
            <a:r>
              <a:rPr dirty="0" sz="2050" spc="-75">
                <a:solidFill>
                  <a:srgbClr val="B6B6B6"/>
                </a:solidFill>
                <a:latin typeface="Arial MT"/>
                <a:cs typeface="Arial MT"/>
              </a:rPr>
              <a:t>a</a:t>
            </a:r>
            <a:r>
              <a:rPr dirty="0" sz="2050" spc="-75">
                <a:solidFill>
                  <a:srgbClr val="AAAAAA"/>
                </a:solidFill>
                <a:latin typeface="Arial MT"/>
                <a:cs typeface="Arial MT"/>
              </a:rPr>
              <a:t>ra</a:t>
            </a:r>
            <a:r>
              <a:rPr dirty="0" sz="2050" spc="3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B5B5B5"/>
                </a:solidFill>
                <a:latin typeface="Arial MT"/>
                <a:cs typeface="Arial MT"/>
              </a:rPr>
              <a:t>garantir</a:t>
            </a:r>
            <a:r>
              <a:rPr dirty="0" sz="2050" spc="1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170">
                <a:solidFill>
                  <a:srgbClr val="A8A8A8"/>
                </a:solidFill>
                <a:latin typeface="Arial MT"/>
                <a:cs typeface="Arial MT"/>
              </a:rPr>
              <a:t>rá</a:t>
            </a:r>
            <a:r>
              <a:rPr dirty="0" sz="2050" spc="-28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60">
                <a:solidFill>
                  <a:srgbClr val="79808C"/>
                </a:solidFill>
                <a:latin typeface="Arial MT"/>
                <a:cs typeface="Arial MT"/>
              </a:rPr>
              <a:t>o</a:t>
            </a:r>
            <a:r>
              <a:rPr dirty="0" sz="2050" spc="-60">
                <a:solidFill>
                  <a:srgbClr val="AAAAAA"/>
                </a:solidFill>
                <a:latin typeface="Arial MT"/>
                <a:cs typeface="Arial MT"/>
              </a:rPr>
              <a:t>ida </a:t>
            </a:r>
            <a:r>
              <a:rPr dirty="0" sz="2050" spc="-30">
                <a:solidFill>
                  <a:srgbClr val="B6B6B6"/>
                </a:solidFill>
                <a:latin typeface="Arial MT"/>
                <a:cs typeface="Arial MT"/>
              </a:rPr>
              <a:t>geração</a:t>
            </a:r>
            <a:r>
              <a:rPr dirty="0" sz="2050" spc="40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dirty="0" sz="2050" spc="-15">
                <a:solidFill>
                  <a:srgbClr val="A8A8A8"/>
                </a:solidFill>
                <a:latin typeface="Arial MT"/>
                <a:cs typeface="Arial MT"/>
              </a:rPr>
              <a:t>de</a:t>
            </a:r>
            <a:r>
              <a:rPr dirty="0" sz="2050" spc="-14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65">
                <a:solidFill>
                  <a:srgbClr val="B5B5B5"/>
                </a:solidFill>
                <a:latin typeface="Arial MT"/>
                <a:cs typeface="Arial MT"/>
              </a:rPr>
              <a:t>valor</a:t>
            </a:r>
            <a:r>
              <a:rPr dirty="0" sz="2050" spc="-1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B3B3B3"/>
                </a:solidFill>
                <a:latin typeface="Arial MT"/>
                <a:cs typeface="Arial MT"/>
              </a:rPr>
              <a:t>ao</a:t>
            </a:r>
            <a:r>
              <a:rPr dirty="0" sz="2050" spc="-6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050" spc="-40">
                <a:solidFill>
                  <a:srgbClr val="AEAEAE"/>
                </a:solidFill>
                <a:latin typeface="Arial MT"/>
                <a:cs typeface="Arial MT"/>
              </a:rPr>
              <a:t>cliente.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7994605" y="6906592"/>
            <a:ext cx="35306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434">
                <a:solidFill>
                  <a:srgbClr val="80A1AA"/>
                </a:solidFill>
                <a:latin typeface="Arial MT"/>
                <a:cs typeface="Arial MT"/>
              </a:rPr>
              <a:t>—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195594" y="7617957"/>
            <a:ext cx="9779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50">
                <a:solidFill>
                  <a:srgbClr val="778C64"/>
                </a:solidFill>
                <a:latin typeface="Arial MT"/>
                <a:cs typeface="Arial MT"/>
              </a:rPr>
              <a:t>,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726012" y="6906592"/>
            <a:ext cx="8298815" cy="18053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0"/>
              </a:spcBef>
            </a:pPr>
            <a:r>
              <a:rPr dirty="0" sz="2950">
                <a:solidFill>
                  <a:srgbClr val="C357F4"/>
                </a:solidFill>
                <a:latin typeface="Arial MT"/>
                <a:cs typeface="Arial MT"/>
              </a:rPr>
              <a:t>@</a:t>
            </a:r>
            <a:r>
              <a:rPr dirty="0" sz="2950" spc="635">
                <a:solidFill>
                  <a:srgbClr val="C357F4"/>
                </a:solidFill>
                <a:latin typeface="Arial MT"/>
                <a:cs typeface="Arial MT"/>
              </a:rPr>
              <a:t> </a:t>
            </a:r>
            <a:r>
              <a:rPr dirty="0" sz="2950" spc="-445">
                <a:solidFill>
                  <a:srgbClr val="BD5BDB"/>
                </a:solidFill>
                <a:latin typeface="Arial MT"/>
                <a:cs typeface="Arial MT"/>
              </a:rPr>
              <a:t>PREV</a:t>
            </a:r>
            <a:r>
              <a:rPr dirty="0" sz="2950" spc="-315">
                <a:solidFill>
                  <a:srgbClr val="BD5BDB"/>
                </a:solidFill>
                <a:latin typeface="Arial MT"/>
                <a:cs typeface="Arial MT"/>
              </a:rPr>
              <a:t> </a:t>
            </a:r>
            <a:r>
              <a:rPr dirty="0" sz="2950" spc="-325">
                <a:solidFill>
                  <a:srgbClr val="CD5DEF"/>
                </a:solidFill>
                <a:latin typeface="Arial MT"/>
                <a:cs typeface="Arial MT"/>
              </a:rPr>
              <a:t>E</a:t>
            </a:r>
            <a:r>
              <a:rPr dirty="0" sz="2950" spc="-325">
                <a:solidFill>
                  <a:srgbClr val="B667DF"/>
                </a:solidFill>
                <a:latin typeface="Arial MT"/>
                <a:cs typeface="Arial MT"/>
              </a:rPr>
              <a:t>LIÇÀ6</a:t>
            </a:r>
            <a:r>
              <a:rPr dirty="0" sz="2950" spc="395">
                <a:solidFill>
                  <a:srgbClr val="B667DF"/>
                </a:solidFill>
                <a:latin typeface="Arial MT"/>
                <a:cs typeface="Arial MT"/>
              </a:rPr>
              <a:t> </a:t>
            </a:r>
            <a:r>
              <a:rPr dirty="0" sz="2950" spc="-295">
                <a:solidFill>
                  <a:srgbClr val="B860C8"/>
                </a:solidFill>
                <a:latin typeface="Arial MT"/>
                <a:cs typeface="Arial MT"/>
              </a:rPr>
              <a:t>ATIVA</a:t>
            </a:r>
            <a:r>
              <a:rPr dirty="0" sz="2950" spc="254">
                <a:solidFill>
                  <a:srgbClr val="B860C8"/>
                </a:solidFill>
                <a:latin typeface="Arial MT"/>
                <a:cs typeface="Arial MT"/>
              </a:rPr>
              <a:t> </a:t>
            </a:r>
            <a:r>
              <a:rPr dirty="0" sz="2950" spc="-600">
                <a:solidFill>
                  <a:srgbClr val="C166E8"/>
                </a:solidFill>
                <a:latin typeface="Arial MT"/>
                <a:cs typeface="Arial MT"/>
              </a:rPr>
              <a:t>DE</a:t>
            </a:r>
            <a:r>
              <a:rPr dirty="0" sz="2950" spc="360">
                <a:solidFill>
                  <a:srgbClr val="C166E8"/>
                </a:solidFill>
                <a:latin typeface="Arial MT"/>
                <a:cs typeface="Arial MT"/>
              </a:rPr>
              <a:t> </a:t>
            </a:r>
            <a:r>
              <a:rPr dirty="0" sz="2950" spc="-440">
                <a:solidFill>
                  <a:srgbClr val="C862E1"/>
                </a:solidFill>
                <a:latin typeface="Arial MT"/>
                <a:cs typeface="Arial MT"/>
              </a:rPr>
              <a:t>CANCE</a:t>
            </a:r>
            <a:r>
              <a:rPr dirty="0" sz="2950" spc="-355">
                <a:solidFill>
                  <a:srgbClr val="C862E1"/>
                </a:solidFill>
                <a:latin typeface="Arial MT"/>
                <a:cs typeface="Arial MT"/>
              </a:rPr>
              <a:t> </a:t>
            </a:r>
            <a:r>
              <a:rPr dirty="0" sz="2950" spc="-365">
                <a:solidFill>
                  <a:srgbClr val="C660E4"/>
                </a:solidFill>
                <a:latin typeface="Arial MT"/>
                <a:cs typeface="Arial MT"/>
              </a:rPr>
              <a:t>LAME</a:t>
            </a:r>
            <a:r>
              <a:rPr dirty="0" sz="2950" spc="-395">
                <a:solidFill>
                  <a:srgbClr val="C660E4"/>
                </a:solidFill>
                <a:latin typeface="Arial MT"/>
                <a:cs typeface="Arial MT"/>
              </a:rPr>
              <a:t> </a:t>
            </a:r>
            <a:r>
              <a:rPr dirty="0" sz="2950" spc="-475">
                <a:solidFill>
                  <a:srgbClr val="C15DD1"/>
                </a:solidFill>
                <a:latin typeface="Arial MT"/>
                <a:cs typeface="Arial MT"/>
              </a:rPr>
              <a:t>NT</a:t>
            </a:r>
            <a:r>
              <a:rPr dirty="0" sz="2950" spc="-440">
                <a:solidFill>
                  <a:srgbClr val="C15DD1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A869D8"/>
                </a:solidFill>
                <a:latin typeface="Arial MT"/>
                <a:cs typeface="Arial MT"/>
              </a:rPr>
              <a:t>0S</a:t>
            </a:r>
            <a:endParaRPr sz="2950">
              <a:latin typeface="Arial MT"/>
              <a:cs typeface="Arial MT"/>
            </a:endParaRPr>
          </a:p>
          <a:p>
            <a:pPr algn="just" marL="23495" marR="5080" indent="-2540">
              <a:lnSpc>
                <a:spcPct val="120700"/>
              </a:lnSpc>
              <a:spcBef>
                <a:spcPts val="1550"/>
              </a:spcBef>
            </a:pPr>
            <a:r>
              <a:rPr dirty="0" sz="2050" spc="-15">
                <a:solidFill>
                  <a:srgbClr val="BABABA"/>
                </a:solidFill>
                <a:latin typeface="Arial MT"/>
                <a:cs typeface="Arial MT"/>
              </a:rPr>
              <a:t>Suporte</a:t>
            </a:r>
            <a:r>
              <a:rPr dirty="0" sz="2050" spc="-55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BABABA"/>
                </a:solidFill>
                <a:latin typeface="Arial MT"/>
                <a:cs typeface="Arial MT"/>
              </a:rPr>
              <a:t>Proativo</a:t>
            </a:r>
            <a:r>
              <a:rPr dirty="0" sz="2050" spc="-25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050" spc="-30">
                <a:solidFill>
                  <a:srgbClr val="B5B5B5"/>
                </a:solidFill>
                <a:latin typeface="Arial MT"/>
                <a:cs typeface="Arial MT"/>
              </a:rPr>
              <a:t>Inteligente:</a:t>
            </a:r>
            <a:r>
              <a:rPr dirty="0" sz="2050" spc="9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90">
                <a:solidFill>
                  <a:srgbClr val="B8B8B8"/>
                </a:solidFill>
                <a:latin typeface="Arial MT"/>
                <a:cs typeface="Arial MT"/>
              </a:rPr>
              <a:t>Nossa</a:t>
            </a:r>
            <a:r>
              <a:rPr dirty="0" sz="2050" spc="2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050" spc="-180">
                <a:solidFill>
                  <a:srgbClr val="A8A8A8"/>
                </a:solidFill>
                <a:latin typeface="Arial MT"/>
                <a:cs typeface="Arial MT"/>
              </a:rPr>
              <a:t>IA</a:t>
            </a:r>
            <a:r>
              <a:rPr dirty="0" sz="2050" spc="-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10">
                <a:solidFill>
                  <a:srgbClr val="AEAEAE"/>
                </a:solidFill>
                <a:latin typeface="Arial MT"/>
                <a:cs typeface="Arial MT"/>
              </a:rPr>
              <a:t>detesta</a:t>
            </a:r>
            <a:r>
              <a:rPr dirty="0" sz="2050" spc="7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050" spc="15">
                <a:solidFill>
                  <a:srgbClr val="B3B3B3"/>
                </a:solidFill>
                <a:latin typeface="Arial MT"/>
                <a:cs typeface="Arial MT"/>
              </a:rPr>
              <a:t>automaticamente</a:t>
            </a:r>
            <a:r>
              <a:rPr dirty="0" sz="2050" spc="-12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B5B5B5"/>
                </a:solidFill>
                <a:latin typeface="Arial MT"/>
                <a:cs typeface="Arial MT"/>
              </a:rPr>
              <a:t>quando</a:t>
            </a:r>
            <a:r>
              <a:rPr dirty="0" sz="2050" spc="-1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333A54"/>
                </a:solidFill>
                <a:latin typeface="Arial MT"/>
                <a:cs typeface="Arial MT"/>
              </a:rPr>
              <a:t>o</a:t>
            </a:r>
            <a:r>
              <a:rPr dirty="0" sz="2050" spc="-140">
                <a:solidFill>
                  <a:srgbClr val="333A54"/>
                </a:solidFill>
                <a:latin typeface="Arial MT"/>
                <a:cs typeface="Arial MT"/>
              </a:rPr>
              <a:t> </a:t>
            </a:r>
            <a:r>
              <a:rPr dirty="0" sz="2050" spc="-40">
                <a:solidFill>
                  <a:srgbClr val="B1B1B1"/>
                </a:solidFill>
                <a:latin typeface="Arial MT"/>
                <a:cs typeface="Arial MT"/>
              </a:rPr>
              <a:t>uso</a:t>
            </a:r>
            <a:r>
              <a:rPr dirty="0" sz="2050" spc="-2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050" spc="20">
                <a:solidFill>
                  <a:srgbClr val="B8B8B8"/>
                </a:solidFill>
                <a:latin typeface="Arial MT"/>
                <a:cs typeface="Arial MT"/>
              </a:rPr>
              <a:t>do</a:t>
            </a:r>
            <a:r>
              <a:rPr dirty="0" sz="2050" spc="-6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050" spc="-55">
                <a:solidFill>
                  <a:srgbClr val="B5B5B5"/>
                </a:solidFill>
                <a:latin typeface="Arial MT"/>
                <a:cs typeface="Arial MT"/>
              </a:rPr>
              <a:t>sistema</a:t>
            </a:r>
            <a:r>
              <a:rPr dirty="0" sz="2050" spc="8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959595"/>
                </a:solidFill>
                <a:latin typeface="Arial MT"/>
                <a:cs typeface="Arial MT"/>
              </a:rPr>
              <a:t>cai</a:t>
            </a:r>
            <a:r>
              <a:rPr dirty="0" sz="2050" spc="-95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CACAC"/>
                </a:solidFill>
                <a:latin typeface="Arial MT"/>
                <a:cs typeface="Arial MT"/>
              </a:rPr>
              <a:t>oor</a:t>
            </a:r>
            <a:r>
              <a:rPr dirty="0" sz="2050" spc="-12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90">
                <a:solidFill>
                  <a:srgbClr val="919191"/>
                </a:solidFill>
                <a:latin typeface="Arial MT"/>
                <a:cs typeface="Arial MT"/>
              </a:rPr>
              <a:t>mais</a:t>
            </a:r>
            <a:r>
              <a:rPr dirty="0" sz="2050" spc="65">
                <a:solidFill>
                  <a:srgbClr val="919191"/>
                </a:solidFill>
                <a:latin typeface="Arial MT"/>
                <a:cs typeface="Arial MT"/>
              </a:rPr>
              <a:t> </a:t>
            </a:r>
            <a:r>
              <a:rPr dirty="0" sz="2050" spc="-15">
                <a:solidFill>
                  <a:srgbClr val="546472"/>
                </a:solidFill>
                <a:latin typeface="Arial MT"/>
                <a:cs typeface="Arial MT"/>
              </a:rPr>
              <a:t>de</a:t>
            </a:r>
            <a:r>
              <a:rPr dirty="0" sz="2050" spc="-135">
                <a:solidFill>
                  <a:srgbClr val="546472"/>
                </a:solidFill>
                <a:latin typeface="Arial MT"/>
                <a:cs typeface="Arial MT"/>
              </a:rPr>
              <a:t> </a:t>
            </a:r>
            <a:r>
              <a:rPr dirty="0" sz="2050" spc="-160">
                <a:solidFill>
                  <a:srgbClr val="494F66"/>
                </a:solidFill>
                <a:latin typeface="Arial MT"/>
                <a:cs typeface="Arial MT"/>
              </a:rPr>
              <a:t>5</a:t>
            </a:r>
            <a:r>
              <a:rPr dirty="0" sz="2050" spc="-60">
                <a:solidFill>
                  <a:srgbClr val="494F66"/>
                </a:solidFill>
                <a:latin typeface="Arial MT"/>
                <a:cs typeface="Arial MT"/>
              </a:rPr>
              <a:t> </a:t>
            </a:r>
            <a:r>
              <a:rPr dirty="0" sz="2050" spc="-75">
                <a:solidFill>
                  <a:srgbClr val="9A9A9A"/>
                </a:solidFill>
                <a:latin typeface="Arial MT"/>
                <a:cs typeface="Arial MT"/>
              </a:rPr>
              <a:t>dias</a:t>
            </a:r>
            <a:r>
              <a:rPr dirty="0" sz="2050" spc="25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AAAAAA"/>
                </a:solidFill>
                <a:latin typeface="Arial MT"/>
                <a:cs typeface="Arial MT"/>
              </a:rPr>
              <a:t>e</a:t>
            </a:r>
            <a:r>
              <a:rPr dirty="0" sz="2050" spc="-14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65">
                <a:solidFill>
                  <a:srgbClr val="AEAEAE"/>
                </a:solidFill>
                <a:latin typeface="Arial MT"/>
                <a:cs typeface="Arial MT"/>
              </a:rPr>
              <a:t>dispara</a:t>
            </a:r>
            <a:r>
              <a:rPr dirty="0" sz="2050" spc="12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050" spc="-65">
                <a:solidFill>
                  <a:srgbClr val="B3B3B3"/>
                </a:solidFill>
                <a:latin typeface="Arial MT"/>
                <a:cs typeface="Arial MT"/>
              </a:rPr>
              <a:t>alertas</a:t>
            </a:r>
            <a:r>
              <a:rPr dirty="0" sz="2050" spc="10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050" spc="-30">
                <a:solidFill>
                  <a:srgbClr val="A5A5A5"/>
                </a:solidFill>
                <a:latin typeface="Arial MT"/>
                <a:cs typeface="Arial MT"/>
              </a:rPr>
              <a:t>imediatos</a:t>
            </a:r>
            <a:r>
              <a:rPr dirty="0" sz="2050" spc="15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050" spc="-80">
                <a:solidFill>
                  <a:srgbClr val="ACACAC"/>
                </a:solidFill>
                <a:latin typeface="Arial MT"/>
                <a:cs typeface="Arial MT"/>
              </a:rPr>
              <a:t>para</a:t>
            </a:r>
            <a:r>
              <a:rPr dirty="0" sz="2050" spc="4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229">
                <a:solidFill>
                  <a:srgbClr val="9A9A9A"/>
                </a:solidFill>
                <a:latin typeface="Arial MT"/>
                <a:cs typeface="Arial MT"/>
              </a:rPr>
              <a:t>a</a:t>
            </a:r>
            <a:r>
              <a:rPr dirty="0" sz="2050" spc="-114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AAAAAA"/>
                </a:solidFill>
                <a:latin typeface="Arial MT"/>
                <a:cs typeface="Arial MT"/>
              </a:rPr>
              <a:t>equipe</a:t>
            </a:r>
            <a:r>
              <a:rPr dirty="0" sz="2050" spc="-7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15">
                <a:solidFill>
                  <a:srgbClr val="B3B3B3"/>
                </a:solidFill>
                <a:latin typeface="Arial MT"/>
                <a:cs typeface="Arial MT"/>
              </a:rPr>
              <a:t>de</a:t>
            </a:r>
            <a:r>
              <a:rPr dirty="0" sz="2050" spc="-15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050" spc="-15">
                <a:solidFill>
                  <a:srgbClr val="008585"/>
                </a:solidFill>
                <a:latin typeface="Arial MT"/>
                <a:cs typeface="Arial MT"/>
              </a:rPr>
              <a:t>Customer</a:t>
            </a:r>
            <a:r>
              <a:rPr dirty="0" sz="2050" spc="-10">
                <a:solidFill>
                  <a:srgbClr val="008585"/>
                </a:solidFill>
                <a:latin typeface="Arial MT"/>
                <a:cs typeface="Arial MT"/>
              </a:rPr>
              <a:t> </a:t>
            </a:r>
            <a:r>
              <a:rPr dirty="0" sz="2050" spc="-60">
                <a:solidFill>
                  <a:srgbClr val="002D3F"/>
                </a:solidFill>
                <a:latin typeface="Arial MT"/>
                <a:cs typeface="Arial MT"/>
              </a:rPr>
              <a:t>Success</a:t>
            </a:r>
            <a:r>
              <a:rPr dirty="0" sz="2050" spc="20">
                <a:solidFill>
                  <a:srgbClr val="002D3F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B5B5B5"/>
                </a:solidFill>
                <a:latin typeface="Arial MT"/>
                <a:cs typeface="Arial MT"/>
              </a:rPr>
              <a:t>intervir</a:t>
            </a:r>
            <a:r>
              <a:rPr dirty="0" sz="2050" spc="-2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AAAAA"/>
                </a:solidFill>
                <a:latin typeface="Arial MT"/>
                <a:cs typeface="Arial MT"/>
              </a:rPr>
              <a:t>com</a:t>
            </a:r>
            <a:r>
              <a:rPr dirty="0" sz="2050" spc="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ACACAC"/>
                </a:solidFill>
                <a:latin typeface="Arial MT"/>
                <a:cs typeface="Arial MT"/>
              </a:rPr>
              <a:t>soluçôes.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400" spc="-940">
                <a:solidFill>
                  <a:srgbClr val="00F2FD"/>
                </a:solidFill>
              </a:rPr>
              <a:t>)</a:t>
            </a:r>
            <a:r>
              <a:rPr dirty="0" sz="5400" spc="535">
                <a:solidFill>
                  <a:srgbClr val="00F2FD"/>
                </a:solidFill>
              </a:rPr>
              <a:t> </a:t>
            </a:r>
            <a:r>
              <a:rPr dirty="0" sz="5400" spc="-1030">
                <a:solidFill>
                  <a:srgbClr val="0CE8FB"/>
                </a:solidFill>
              </a:rPr>
              <a:t>VISĂO</a:t>
            </a:r>
            <a:r>
              <a:rPr dirty="0" sz="5400" spc="330">
                <a:solidFill>
                  <a:srgbClr val="0CE8FB"/>
                </a:solidFill>
              </a:rPr>
              <a:t> </a:t>
            </a:r>
            <a:r>
              <a:rPr dirty="0" sz="5400" spc="-1055">
                <a:solidFill>
                  <a:srgbClr val="00F2F7"/>
                </a:solidFill>
              </a:rPr>
              <a:t>DE</a:t>
            </a:r>
            <a:r>
              <a:rPr dirty="0" sz="5400" spc="240">
                <a:solidFill>
                  <a:srgbClr val="00F2F7"/>
                </a:solidFill>
              </a:rPr>
              <a:t> </a:t>
            </a:r>
            <a:r>
              <a:rPr dirty="0" sz="5400" spc="-905">
                <a:solidFill>
                  <a:srgbClr val="0FE4FF"/>
                </a:solidFill>
              </a:rPr>
              <a:t>FUTURO</a:t>
            </a:r>
            <a:r>
              <a:rPr dirty="0" sz="5400" spc="450">
                <a:solidFill>
                  <a:srgbClr val="0FE4FF"/>
                </a:solidFill>
              </a:rPr>
              <a:t> </a:t>
            </a:r>
            <a:r>
              <a:rPr dirty="0" sz="5400" spc="-1225">
                <a:solidFill>
                  <a:srgbClr val="01F0FD"/>
                </a:solidFill>
              </a:rPr>
              <a:t>E</a:t>
            </a:r>
            <a:r>
              <a:rPr dirty="0" sz="5400" spc="235">
                <a:solidFill>
                  <a:srgbClr val="01F0FD"/>
                </a:solidFill>
              </a:rPr>
              <a:t> </a:t>
            </a:r>
            <a:r>
              <a:rPr dirty="0" sz="5400" spc="-490">
                <a:solidFill>
                  <a:srgbClr val="00F2FF"/>
                </a:solidFill>
              </a:rPr>
              <a:t>KPIS</a:t>
            </a:r>
            <a:endParaRPr sz="5400"/>
          </a:p>
        </p:txBody>
      </p:sp>
      <p:sp>
        <p:nvSpPr>
          <p:cNvPr id="3" name="object 3" descr=""/>
          <p:cNvSpPr/>
          <p:nvPr/>
        </p:nvSpPr>
        <p:spPr>
          <a:xfrm>
            <a:off x="15706" y="3910875"/>
            <a:ext cx="20080605" cy="416559"/>
          </a:xfrm>
          <a:custGeom>
            <a:avLst/>
            <a:gdLst/>
            <a:ahLst/>
            <a:cxnLst/>
            <a:rect l="l" t="t" r="r" b="b"/>
            <a:pathLst>
              <a:path w="20080605" h="416560">
                <a:moveTo>
                  <a:pt x="20080541" y="416217"/>
                </a:moveTo>
                <a:lnTo>
                  <a:pt x="0" y="41621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16217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423232" y="3842549"/>
            <a:ext cx="3820160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-260">
                <a:solidFill>
                  <a:srgbClr val="01F4F6"/>
                </a:solidFill>
                <a:latin typeface="Arial MT"/>
                <a:cs typeface="Arial MT"/>
              </a:rPr>
              <a:t>KPIS</a:t>
            </a:r>
            <a:r>
              <a:rPr dirty="0" sz="3200" spc="335">
                <a:solidFill>
                  <a:srgbClr val="01F4F6"/>
                </a:solidFill>
                <a:latin typeface="Arial MT"/>
                <a:cs typeface="Arial MT"/>
              </a:rPr>
              <a:t> </a:t>
            </a:r>
            <a:r>
              <a:rPr dirty="0" sz="3200" spc="-650">
                <a:solidFill>
                  <a:srgbClr val="00EFF9"/>
                </a:solidFill>
                <a:latin typeface="Arial MT"/>
                <a:cs typeface="Arial MT"/>
              </a:rPr>
              <a:t>DE</a:t>
            </a:r>
            <a:r>
              <a:rPr dirty="0" sz="3200" spc="270">
                <a:solidFill>
                  <a:srgbClr val="00EFF9"/>
                </a:solidFill>
                <a:latin typeface="Arial MT"/>
                <a:cs typeface="Arial MT"/>
              </a:rPr>
              <a:t> </a:t>
            </a:r>
            <a:r>
              <a:rPr dirty="0" sz="3200" spc="-465">
                <a:solidFill>
                  <a:srgbClr val="0CE8FF"/>
                </a:solidFill>
                <a:latin typeface="Arial MT"/>
                <a:cs typeface="Arial MT"/>
              </a:rPr>
              <a:t>DESENPENHO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840725" y="3858910"/>
            <a:ext cx="5870575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27380" algn="l"/>
                <a:tab pos="4115435" algn="l"/>
              </a:tabLst>
            </a:pPr>
            <a:r>
              <a:rPr dirty="0" sz="3100" spc="-390">
                <a:solidFill>
                  <a:srgbClr val="C15BF4"/>
                </a:solidFill>
                <a:latin typeface="Arial MT"/>
                <a:cs typeface="Arial MT"/>
              </a:rPr>
              <a:t>Èy</a:t>
            </a:r>
            <a:r>
              <a:rPr dirty="0" sz="3100">
                <a:solidFill>
                  <a:srgbClr val="C15BF4"/>
                </a:solidFill>
                <a:latin typeface="Arial MT"/>
                <a:cs typeface="Arial MT"/>
              </a:rPr>
              <a:t>	</a:t>
            </a:r>
            <a:r>
              <a:rPr dirty="0" sz="3100" spc="-480">
                <a:solidFill>
                  <a:srgbClr val="0FEBF9"/>
                </a:solidFill>
                <a:latin typeface="Arial MT"/>
                <a:cs typeface="Arial MT"/>
              </a:rPr>
              <a:t>LOOP</a:t>
            </a:r>
            <a:r>
              <a:rPr dirty="0" sz="3100" spc="390">
                <a:solidFill>
                  <a:srgbClr val="0FEBF9"/>
                </a:solidFill>
                <a:latin typeface="Arial MT"/>
                <a:cs typeface="Arial MT"/>
              </a:rPr>
              <a:t> </a:t>
            </a:r>
            <a:r>
              <a:rPr dirty="0" sz="3100" spc="-585">
                <a:solidFill>
                  <a:srgbClr val="00EDFB"/>
                </a:solidFill>
                <a:latin typeface="Arial MT"/>
                <a:cs typeface="Arial MT"/>
              </a:rPr>
              <a:t>DE</a:t>
            </a:r>
            <a:r>
              <a:rPr dirty="0" sz="3100" spc="295">
                <a:solidFill>
                  <a:srgbClr val="00EDFB"/>
                </a:solidFill>
                <a:latin typeface="Arial MT"/>
                <a:cs typeface="Arial MT"/>
              </a:rPr>
              <a:t> </a:t>
            </a:r>
            <a:r>
              <a:rPr dirty="0" sz="3100" spc="-295">
                <a:solidFill>
                  <a:srgbClr val="07E8FB"/>
                </a:solidFill>
                <a:latin typeface="Arial MT"/>
                <a:cs typeface="Arial MT"/>
              </a:rPr>
              <a:t>NELHORIA</a:t>
            </a:r>
            <a:r>
              <a:rPr dirty="0" sz="3100">
                <a:solidFill>
                  <a:srgbClr val="07E8FB"/>
                </a:solidFill>
                <a:latin typeface="Arial MT"/>
                <a:cs typeface="Arial MT"/>
              </a:rPr>
              <a:t>	</a:t>
            </a:r>
            <a:r>
              <a:rPr dirty="0" sz="3100" spc="-509">
                <a:solidFill>
                  <a:srgbClr val="16EBF6"/>
                </a:solidFill>
                <a:latin typeface="Arial MT"/>
                <a:cs typeface="Arial MT"/>
              </a:rPr>
              <a:t>CONT</a:t>
            </a:r>
            <a:r>
              <a:rPr dirty="0" sz="3100" spc="-385">
                <a:solidFill>
                  <a:srgbClr val="16EBF6"/>
                </a:solidFill>
                <a:latin typeface="Arial MT"/>
                <a:cs typeface="Arial MT"/>
              </a:rPr>
              <a:t> </a:t>
            </a:r>
            <a:r>
              <a:rPr dirty="0" sz="3100" spc="-285">
                <a:solidFill>
                  <a:srgbClr val="00EBFF"/>
                </a:solidFill>
                <a:latin typeface="Arial MT"/>
                <a:cs typeface="Arial MT"/>
              </a:rPr>
              <a:t>ÍNUA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5706" y="4727604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706" y="5120263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39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80C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5706" y="5701396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39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70E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706" y="6219706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39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80F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5706" y="6533832"/>
            <a:ext cx="20080605" cy="1029335"/>
          </a:xfrm>
          <a:custGeom>
            <a:avLst/>
            <a:gdLst/>
            <a:ahLst/>
            <a:cxnLst/>
            <a:rect l="l" t="t" r="r" b="b"/>
            <a:pathLst>
              <a:path w="20080605" h="1029334">
                <a:moveTo>
                  <a:pt x="20080541" y="1028764"/>
                </a:moveTo>
                <a:lnTo>
                  <a:pt x="0" y="102876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028764"/>
                </a:lnTo>
                <a:close/>
              </a:path>
            </a:pathLst>
          </a:custGeom>
          <a:solidFill>
            <a:srgbClr val="080F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749131" y="4603856"/>
            <a:ext cx="7216140" cy="240474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620"/>
              </a:spcBef>
            </a:pPr>
            <a:r>
              <a:rPr dirty="0" sz="1900">
                <a:solidFill>
                  <a:srgbClr val="AAAAAA"/>
                </a:solidFill>
                <a:latin typeface="Arial MT"/>
                <a:cs typeface="Arial MT"/>
              </a:rPr>
              <a:t>Indicadores</a:t>
            </a:r>
            <a:r>
              <a:rPr dirty="0" sz="1900" spc="-6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 spc="-275">
                <a:solidFill>
                  <a:srgbClr val="AAAAAA"/>
                </a:solidFill>
                <a:latin typeface="Arial MT"/>
                <a:cs typeface="Arial MT"/>
              </a:rPr>
              <a:t>—</a:t>
            </a:r>
            <a:r>
              <a:rPr dirty="0" sz="1900" spc="-140">
                <a:solidFill>
                  <a:srgbClr val="AAAAAA"/>
                </a:solidFill>
                <a:latin typeface="Arial MT"/>
                <a:cs typeface="Arial MT"/>
              </a:rPr>
              <a:t>chave</a:t>
            </a:r>
            <a:r>
              <a:rPr dirty="0" sz="1900" spc="6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 spc="60">
                <a:solidFill>
                  <a:srgbClr val="A8A8A8"/>
                </a:solidFill>
                <a:latin typeface="Arial MT"/>
                <a:cs typeface="Arial MT"/>
              </a:rPr>
              <a:t>que</a:t>
            </a:r>
            <a:r>
              <a:rPr dirty="0" sz="1900" spc="-8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7A7A7"/>
                </a:solidFill>
                <a:latin typeface="Arial MT"/>
                <a:cs typeface="Arial MT"/>
              </a:rPr>
              <a:t>a</a:t>
            </a:r>
            <a:r>
              <a:rPr dirty="0" sz="1900" spc="5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777777"/>
                </a:solidFill>
                <a:latin typeface="Arial MT"/>
                <a:cs typeface="Arial MT"/>
              </a:rPr>
              <a:t>int</a:t>
            </a:r>
            <a:r>
              <a:rPr dirty="0" sz="1900" spc="-320">
                <a:solidFill>
                  <a:srgbClr val="777777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7A7A7"/>
                </a:solidFill>
                <a:latin typeface="Arial MT"/>
                <a:cs typeface="Arial MT"/>
              </a:rPr>
              <a:t>eligônc</a:t>
            </a:r>
            <a:r>
              <a:rPr dirty="0" sz="1900" spc="-22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1900" spc="-55">
                <a:solidFill>
                  <a:srgbClr val="AAAAAA"/>
                </a:solidFill>
                <a:latin typeface="Arial MT"/>
                <a:cs typeface="Arial MT"/>
              </a:rPr>
              <a:t>ia</a:t>
            </a:r>
            <a:r>
              <a:rPr dirty="0" sz="1900" spc="7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AAAAA"/>
                </a:solidFill>
                <a:latin typeface="Arial MT"/>
                <a:cs typeface="Arial MT"/>
              </a:rPr>
              <a:t>art</a:t>
            </a:r>
            <a:r>
              <a:rPr dirty="0" sz="1900" spc="-33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A3A3A3"/>
                </a:solidFill>
                <a:latin typeface="Arial MT"/>
                <a:cs typeface="Arial MT"/>
              </a:rPr>
              <a:t>ihe</a:t>
            </a:r>
            <a:r>
              <a:rPr dirty="0" sz="1900" spc="-20">
                <a:solidFill>
                  <a:srgbClr val="9A9A9A"/>
                </a:solidFill>
                <a:latin typeface="Arial MT"/>
                <a:cs typeface="Arial MT"/>
              </a:rPr>
              <a:t>ial</a:t>
            </a:r>
            <a:r>
              <a:rPr dirty="0" sz="1900" spc="-60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1900" spc="-30">
                <a:solidFill>
                  <a:srgbClr val="AAAAAA"/>
                </a:solidFill>
                <a:latin typeface="Arial MT"/>
                <a:cs typeface="Arial MT"/>
              </a:rPr>
              <a:t>ana</a:t>
            </a:r>
            <a:r>
              <a:rPr dirty="0" sz="1900" spc="-31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 spc="-275">
                <a:solidFill>
                  <a:srgbClr val="ACACAC"/>
                </a:solidFill>
                <a:latin typeface="Arial MT"/>
                <a:cs typeface="Arial MT"/>
              </a:rPr>
              <a:t>hs</a:t>
            </a:r>
            <a:r>
              <a:rPr dirty="0" sz="1900" spc="-27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AAAAA"/>
                </a:solidFill>
                <a:latin typeface="Arial MT"/>
                <a:cs typeface="Arial MT"/>
              </a:rPr>
              <a:t>a</a:t>
            </a:r>
            <a:r>
              <a:rPr dirty="0" sz="1900" spc="4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5A5A5"/>
                </a:solidFill>
                <a:latin typeface="Arial MT"/>
                <a:cs typeface="Arial MT"/>
              </a:rPr>
              <a:t>em</a:t>
            </a:r>
            <a:r>
              <a:rPr dirty="0" sz="1900" spc="-2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1900" spc="100">
                <a:solidFill>
                  <a:srgbClr val="B8B8B8"/>
                </a:solidFill>
                <a:latin typeface="Arial MT"/>
                <a:cs typeface="Arial MT"/>
              </a:rPr>
              <a:t>tempo</a:t>
            </a:r>
            <a:endParaRPr sz="1900">
              <a:latin typeface="Arial MT"/>
              <a:cs typeface="Arial MT"/>
            </a:endParaRPr>
          </a:p>
          <a:p>
            <a:pPr marL="86360">
              <a:lnSpc>
                <a:spcPct val="100000"/>
              </a:lnSpc>
              <a:spcBef>
                <a:spcPts val="535"/>
              </a:spcBef>
            </a:pPr>
            <a:r>
              <a:rPr dirty="0" sz="2050">
                <a:solidFill>
                  <a:srgbClr val="ACACAC"/>
                </a:solidFill>
                <a:latin typeface="Times New Roman"/>
                <a:cs typeface="Times New Roman"/>
              </a:rPr>
              <a:t>real</a:t>
            </a:r>
            <a:r>
              <a:rPr dirty="0" sz="2050" spc="105">
                <a:solidFill>
                  <a:srgbClr val="ACACAC"/>
                </a:solidFill>
                <a:latin typeface="Times New Roman"/>
                <a:cs typeface="Times New Roman"/>
              </a:rPr>
              <a:t> </a:t>
            </a:r>
            <a:r>
              <a:rPr dirty="0" sz="2050" spc="-10">
                <a:solidFill>
                  <a:srgbClr val="9C9C9C"/>
                </a:solidFill>
                <a:latin typeface="Times New Roman"/>
                <a:cs typeface="Times New Roman"/>
              </a:rPr>
              <a:t>pa</a:t>
            </a:r>
            <a:r>
              <a:rPr dirty="0" sz="2050" spc="-190">
                <a:solidFill>
                  <a:srgbClr val="9C9C9C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909090"/>
                </a:solidFill>
                <a:latin typeface="Times New Roman"/>
                <a:cs typeface="Times New Roman"/>
              </a:rPr>
              <a:t>ra</a:t>
            </a:r>
            <a:r>
              <a:rPr dirty="0" sz="2050" spc="11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dirty="0" sz="2050" spc="75">
                <a:solidFill>
                  <a:srgbClr val="77828A"/>
                </a:solidFill>
                <a:latin typeface="Times New Roman"/>
                <a:cs typeface="Times New Roman"/>
              </a:rPr>
              <a:t>com</a:t>
            </a:r>
            <a:r>
              <a:rPr dirty="0" sz="2050" spc="-165">
                <a:solidFill>
                  <a:srgbClr val="77828A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777777"/>
                </a:solidFill>
                <a:latin typeface="Times New Roman"/>
                <a:cs typeface="Times New Roman"/>
              </a:rPr>
              <a:t>o</a:t>
            </a:r>
            <a:r>
              <a:rPr dirty="0" sz="2050" spc="-295">
                <a:solidFill>
                  <a:srgbClr val="777777"/>
                </a:solidFill>
                <a:latin typeface="Times New Roman"/>
                <a:cs typeface="Times New Roman"/>
              </a:rPr>
              <a:t> </a:t>
            </a:r>
            <a:r>
              <a:rPr dirty="0" sz="2050" spc="-240">
                <a:solidFill>
                  <a:srgbClr val="B1B1B1"/>
                </a:solidFill>
                <a:latin typeface="Times New Roman"/>
                <a:cs typeface="Times New Roman"/>
              </a:rPr>
              <a:t>Nova</a:t>
            </a:r>
            <a:r>
              <a:rPr dirty="0" sz="2050" spc="-120">
                <a:solidFill>
                  <a:srgbClr val="B1B1B1"/>
                </a:solidFill>
                <a:latin typeface="Times New Roman"/>
                <a:cs typeface="Times New Roman"/>
              </a:rPr>
              <a:t> </a:t>
            </a:r>
            <a:r>
              <a:rPr dirty="0" sz="2050" spc="-220">
                <a:solidFill>
                  <a:srgbClr val="77828C"/>
                </a:solidFill>
                <a:latin typeface="Times New Roman"/>
                <a:cs typeface="Times New Roman"/>
              </a:rPr>
              <a:t>r</a:t>
            </a:r>
            <a:r>
              <a:rPr dirty="0" sz="2050" spc="-60">
                <a:solidFill>
                  <a:srgbClr val="77828C"/>
                </a:solidFill>
                <a:latin typeface="Times New Roman"/>
                <a:cs typeface="Times New Roman"/>
              </a:rPr>
              <a:t> </a:t>
            </a:r>
            <a:r>
              <a:rPr dirty="0" sz="2050" spc="90">
                <a:solidFill>
                  <a:srgbClr val="3B465B"/>
                </a:solidFill>
                <a:latin typeface="Times New Roman"/>
                <a:cs typeface="Times New Roman"/>
              </a:rPr>
              <a:t>o</a:t>
            </a:r>
            <a:r>
              <a:rPr dirty="0" sz="2050" spc="-70">
                <a:solidFill>
                  <a:srgbClr val="3B465B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A1AFCF"/>
                </a:solidFill>
                <a:latin typeface="Times New Roman"/>
                <a:cs typeface="Times New Roman"/>
              </a:rPr>
              <a:t>su</a:t>
            </a:r>
            <a:r>
              <a:rPr dirty="0" sz="2050" spc="-250">
                <a:solidFill>
                  <a:srgbClr val="A1AFCF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051123"/>
                </a:solidFill>
                <a:latin typeface="Times New Roman"/>
                <a:cs typeface="Times New Roman"/>
              </a:rPr>
              <a:t>ces</a:t>
            </a:r>
            <a:r>
              <a:rPr dirty="0" sz="2050" spc="-25">
                <a:solidFill>
                  <a:srgbClr val="051123"/>
                </a:solidFill>
                <a:latin typeface="Times New Roman"/>
                <a:cs typeface="Times New Roman"/>
              </a:rPr>
              <a:t> </a:t>
            </a:r>
            <a:r>
              <a:rPr dirty="0" sz="2050" spc="155">
                <a:solidFill>
                  <a:srgbClr val="051123"/>
                </a:solidFill>
                <a:latin typeface="Times New Roman"/>
                <a:cs typeface="Times New Roman"/>
              </a:rPr>
              <a:t>s</a:t>
            </a:r>
            <a:r>
              <a:rPr dirty="0" sz="2050" spc="155">
                <a:solidFill>
                  <a:srgbClr val="3B465D"/>
                </a:solidFill>
                <a:latin typeface="Times New Roman"/>
                <a:cs typeface="Times New Roman"/>
              </a:rPr>
              <a:t>o</a:t>
            </a:r>
            <a:r>
              <a:rPr dirty="0" sz="2050" spc="-50">
                <a:solidFill>
                  <a:srgbClr val="3B465D"/>
                </a:solidFill>
                <a:latin typeface="Times New Roman"/>
                <a:cs typeface="Times New Roman"/>
              </a:rPr>
              <a:t> </a:t>
            </a:r>
            <a:r>
              <a:rPr dirty="0" sz="2050" spc="80">
                <a:solidFill>
                  <a:srgbClr val="ACACAC"/>
                </a:solidFill>
                <a:latin typeface="Times New Roman"/>
                <a:cs typeface="Times New Roman"/>
              </a:rPr>
              <a:t>e</a:t>
            </a:r>
            <a:r>
              <a:rPr dirty="0" sz="2050" spc="60">
                <a:solidFill>
                  <a:srgbClr val="ACACAC"/>
                </a:solidFill>
                <a:latin typeface="Times New Roman"/>
                <a:cs typeface="Times New Roman"/>
              </a:rPr>
              <a:t> </a:t>
            </a:r>
            <a:r>
              <a:rPr dirty="0" sz="2050" spc="-260">
                <a:solidFill>
                  <a:srgbClr val="ACACAC"/>
                </a:solidFill>
                <a:latin typeface="Times New Roman"/>
                <a:cs typeface="Times New Roman"/>
              </a:rPr>
              <a:t>RO1</a:t>
            </a:r>
            <a:r>
              <a:rPr dirty="0" sz="2050" spc="-15">
                <a:solidFill>
                  <a:srgbClr val="ACACAC"/>
                </a:solidFill>
                <a:latin typeface="Times New Roman"/>
                <a:cs typeface="Times New Roman"/>
              </a:rPr>
              <a:t> </a:t>
            </a:r>
            <a:r>
              <a:rPr dirty="0" sz="2050" spc="65">
                <a:solidFill>
                  <a:srgbClr val="A8A8A8"/>
                </a:solidFill>
                <a:latin typeface="Times New Roman"/>
                <a:cs typeface="Times New Roman"/>
              </a:rPr>
              <a:t>òa</a:t>
            </a:r>
            <a:r>
              <a:rPr dirty="0" sz="2050" spc="110">
                <a:solidFill>
                  <a:srgbClr val="A8A8A8"/>
                </a:solidFill>
                <a:latin typeface="Times New Roman"/>
                <a:cs typeface="Times New Roman"/>
              </a:rPr>
              <a:t> </a:t>
            </a:r>
            <a:r>
              <a:rPr dirty="0" sz="2050" spc="90">
                <a:solidFill>
                  <a:srgbClr val="AEAEAE"/>
                </a:solidFill>
                <a:latin typeface="Times New Roman"/>
                <a:cs typeface="Times New Roman"/>
              </a:rPr>
              <a:t>o</a:t>
            </a:r>
            <a:r>
              <a:rPr dirty="0" sz="2050" spc="-265">
                <a:solidFill>
                  <a:srgbClr val="AEAEAE"/>
                </a:solidFill>
                <a:latin typeface="Times New Roman"/>
                <a:cs typeface="Times New Roman"/>
              </a:rPr>
              <a:t> </a:t>
            </a:r>
            <a:r>
              <a:rPr dirty="0" sz="2050" spc="75">
                <a:solidFill>
                  <a:srgbClr val="A7A7A7"/>
                </a:solidFill>
                <a:latin typeface="Times New Roman"/>
                <a:cs typeface="Times New Roman"/>
              </a:rPr>
              <a:t>peraç</a:t>
            </a:r>
            <a:r>
              <a:rPr dirty="0" sz="2050" spc="-320">
                <a:solidFill>
                  <a:srgbClr val="A7A7A7"/>
                </a:solidFill>
                <a:latin typeface="Times New Roman"/>
                <a:cs typeface="Times New Roman"/>
              </a:rPr>
              <a:t> </a:t>
            </a:r>
            <a:r>
              <a:rPr dirty="0" sz="2050" spc="-60">
                <a:solidFill>
                  <a:srgbClr val="8A9AAF"/>
                </a:solidFill>
                <a:latin typeface="Times New Roman"/>
                <a:cs typeface="Times New Roman"/>
              </a:rPr>
              <a:t>à</a:t>
            </a:r>
            <a:r>
              <a:rPr dirty="0" sz="2050" spc="-260">
                <a:solidFill>
                  <a:srgbClr val="8A9AAF"/>
                </a:solidFill>
                <a:latin typeface="Times New Roman"/>
                <a:cs typeface="Times New Roman"/>
              </a:rPr>
              <a:t> </a:t>
            </a:r>
            <a:r>
              <a:rPr dirty="0" sz="2050" spc="-25">
                <a:solidFill>
                  <a:srgbClr val="696E7C"/>
                </a:solidFill>
                <a:latin typeface="Times New Roman"/>
                <a:cs typeface="Times New Roman"/>
              </a:rPr>
              <a:t>o:</a:t>
            </a:r>
            <a:endParaRPr sz="2050">
              <a:latin typeface="Times New Roman"/>
              <a:cs typeface="Times New Roman"/>
            </a:endParaRPr>
          </a:p>
          <a:p>
            <a:pPr marL="71755" marR="1082040" indent="-59690">
              <a:lnSpc>
                <a:spcPct val="170900"/>
              </a:lnSpc>
              <a:spcBef>
                <a:spcPts val="375"/>
              </a:spcBef>
              <a:tabLst>
                <a:tab pos="508634" algn="l"/>
              </a:tabLst>
            </a:pPr>
            <a:r>
              <a:rPr dirty="0" sz="2050" spc="-50">
                <a:solidFill>
                  <a:srgbClr val="3FD4DD"/>
                </a:solidFill>
                <a:latin typeface="Arial MT"/>
                <a:cs typeface="Arial MT"/>
              </a:rPr>
              <a:t>ü</a:t>
            </a:r>
            <a:r>
              <a:rPr dirty="0" sz="2050">
                <a:solidFill>
                  <a:srgbClr val="3FD4DD"/>
                </a:solidFill>
                <a:latin typeface="Arial MT"/>
                <a:cs typeface="Arial MT"/>
              </a:rPr>
              <a:t>	</a:t>
            </a:r>
            <a:r>
              <a:rPr dirty="0" sz="2050" spc="-535">
                <a:solidFill>
                  <a:srgbClr val="3FD4DD"/>
                </a:solidFill>
                <a:latin typeface="Arial MT"/>
                <a:cs typeface="Arial MT"/>
              </a:rPr>
              <a:t> </a:t>
            </a:r>
            <a:r>
              <a:rPr dirty="0" sz="2050" spc="-170">
                <a:solidFill>
                  <a:srgbClr val="AAAAAA"/>
                </a:solidFill>
                <a:latin typeface="Arial MT"/>
                <a:cs typeface="Arial MT"/>
              </a:rPr>
              <a:t>Taxa</a:t>
            </a:r>
            <a:r>
              <a:rPr dirty="0" sz="2050" spc="-2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ACACAC"/>
                </a:solidFill>
                <a:latin typeface="Arial MT"/>
                <a:cs typeface="Arial MT"/>
              </a:rPr>
              <a:t>de</a:t>
            </a:r>
            <a:r>
              <a:rPr dirty="0" sz="2050" spc="-16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B1B1B1"/>
                </a:solidFill>
                <a:latin typeface="Arial MT"/>
                <a:cs typeface="Arial MT"/>
              </a:rPr>
              <a:t>Turnover:</a:t>
            </a:r>
            <a:r>
              <a:rPr dirty="0" sz="2050" spc="-11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B5B5B5"/>
                </a:solidFill>
                <a:latin typeface="Arial MT"/>
                <a:cs typeface="Arial MT"/>
              </a:rPr>
              <a:t>Alvo</a:t>
            </a:r>
            <a:r>
              <a:rPr dirty="0" sz="2050" spc="-4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80">
                <a:solidFill>
                  <a:srgbClr val="AAAAAA"/>
                </a:solidFill>
                <a:latin typeface="Arial MT"/>
                <a:cs typeface="Arial MT"/>
              </a:rPr>
              <a:t>em</a:t>
            </a:r>
            <a:r>
              <a:rPr dirty="0" sz="2050" spc="-7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ACACAC"/>
                </a:solidFill>
                <a:latin typeface="Arial MT"/>
                <a:cs typeface="Arial MT"/>
              </a:rPr>
              <a:t>menos</a:t>
            </a:r>
            <a:r>
              <a:rPr dirty="0" sz="2050" spc="4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B3B3B3"/>
                </a:solidFill>
                <a:latin typeface="Arial MT"/>
                <a:cs typeface="Arial MT"/>
              </a:rPr>
              <a:t>de</a:t>
            </a:r>
            <a:r>
              <a:rPr dirty="0" sz="2050" spc="-14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050" spc="-60">
                <a:solidFill>
                  <a:srgbClr val="6E7C90"/>
                </a:solidFill>
                <a:latin typeface="Arial MT"/>
                <a:cs typeface="Arial MT"/>
              </a:rPr>
              <a:t>5%</a:t>
            </a:r>
            <a:r>
              <a:rPr dirty="0" sz="2050" spc="-70">
                <a:solidFill>
                  <a:srgbClr val="6E7C90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959595"/>
                </a:solidFill>
                <a:latin typeface="Arial MT"/>
                <a:cs typeface="Arial MT"/>
              </a:rPr>
              <a:t>ao</a:t>
            </a:r>
            <a:r>
              <a:rPr dirty="0" sz="2050" spc="-100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909090"/>
                </a:solidFill>
                <a:latin typeface="Arial MT"/>
                <a:cs typeface="Arial MT"/>
              </a:rPr>
              <a:t>ano. </a:t>
            </a:r>
            <a:r>
              <a:rPr dirty="0" sz="2050" spc="-50">
                <a:solidFill>
                  <a:srgbClr val="00E8FF"/>
                </a:solidFill>
                <a:latin typeface="Arial MT"/>
                <a:cs typeface="Arial MT"/>
              </a:rPr>
              <a:t>w</a:t>
            </a:r>
            <a:r>
              <a:rPr dirty="0" sz="2050">
                <a:solidFill>
                  <a:srgbClr val="00E8FF"/>
                </a:solidFill>
                <a:latin typeface="Arial MT"/>
                <a:cs typeface="Arial MT"/>
              </a:rPr>
              <a:t>	</a:t>
            </a:r>
            <a:r>
              <a:rPr dirty="0" sz="2050" spc="-254">
                <a:solidFill>
                  <a:srgbClr val="A5A5A5"/>
                </a:solidFill>
                <a:latin typeface="Arial MT"/>
                <a:cs typeface="Arial MT"/>
              </a:rPr>
              <a:t>LTV</a:t>
            </a:r>
            <a:r>
              <a:rPr dirty="0" sz="2050" spc="-4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9AA7B6"/>
                </a:solidFill>
                <a:latin typeface="Arial MT"/>
                <a:cs typeface="Arial MT"/>
              </a:rPr>
              <a:t>/</a:t>
            </a:r>
            <a:r>
              <a:rPr dirty="0" sz="2050" spc="60">
                <a:solidFill>
                  <a:srgbClr val="9AA7B6"/>
                </a:solidFill>
                <a:latin typeface="Arial MT"/>
                <a:cs typeface="Arial MT"/>
              </a:rPr>
              <a:t> </a:t>
            </a:r>
            <a:r>
              <a:rPr dirty="0" sz="2050" spc="-80">
                <a:solidFill>
                  <a:srgbClr val="3A4B5D"/>
                </a:solidFill>
                <a:latin typeface="Arial MT"/>
                <a:cs typeface="Arial MT"/>
              </a:rPr>
              <a:t>CAC</a:t>
            </a:r>
            <a:r>
              <a:rPr dirty="0" sz="2050" spc="-65">
                <a:solidFill>
                  <a:srgbClr val="3A4B5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B5B5B5"/>
                </a:solidFill>
                <a:latin typeface="Arial MT"/>
                <a:cs typeface="Arial MT"/>
              </a:rPr>
              <a:t>Ratio:</a:t>
            </a:r>
            <a:r>
              <a:rPr dirty="0" sz="2050" spc="-6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330">
                <a:solidFill>
                  <a:srgbClr val="9AA5B5"/>
                </a:solidFill>
                <a:latin typeface="Arial MT"/>
                <a:cs typeface="Arial MT"/>
              </a:rPr>
              <a:t>M</a:t>
            </a:r>
            <a:r>
              <a:rPr dirty="0" sz="2050" spc="-340">
                <a:solidFill>
                  <a:srgbClr val="9AA5B5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838EA3"/>
                </a:solidFill>
                <a:latin typeface="Arial MT"/>
                <a:cs typeface="Arial MT"/>
              </a:rPr>
              <a:t>eta</a:t>
            </a:r>
            <a:r>
              <a:rPr dirty="0" sz="2050" spc="-50">
                <a:solidFill>
                  <a:srgbClr val="838EA3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A8A8A8"/>
                </a:solidFill>
                <a:latin typeface="Arial MT"/>
                <a:cs typeface="Arial MT"/>
              </a:rPr>
              <a:t>estabelecida</a:t>
            </a:r>
            <a:r>
              <a:rPr dirty="0" sz="2050" spc="114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30">
                <a:solidFill>
                  <a:srgbClr val="89919C"/>
                </a:solidFill>
                <a:latin typeface="Arial MT"/>
                <a:cs typeface="Arial MT"/>
              </a:rPr>
              <a:t>a</a:t>
            </a:r>
            <a:r>
              <a:rPr dirty="0" sz="2050" spc="-30">
                <a:solidFill>
                  <a:srgbClr val="AAAAAA"/>
                </a:solidFill>
                <a:latin typeface="Arial MT"/>
                <a:cs typeface="Arial MT"/>
              </a:rPr>
              <a:t>cima</a:t>
            </a:r>
            <a:r>
              <a:rPr dirty="0" sz="2050" spc="-2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AAAAA"/>
                </a:solidFill>
                <a:latin typeface="Arial MT"/>
                <a:cs typeface="Arial MT"/>
              </a:rPr>
              <a:t>de</a:t>
            </a:r>
            <a:r>
              <a:rPr dirty="0" sz="2050" spc="-7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65">
                <a:solidFill>
                  <a:srgbClr val="A5A5A5"/>
                </a:solidFill>
                <a:latin typeface="Arial MT"/>
                <a:cs typeface="Arial MT"/>
              </a:rPr>
              <a:t>4.I</a:t>
            </a:r>
            <a:r>
              <a:rPr dirty="0" sz="2050" spc="-27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050" spc="-340">
                <a:solidFill>
                  <a:srgbClr val="89919E"/>
                </a:solidFill>
                <a:latin typeface="Arial MT"/>
                <a:cs typeface="Arial MT"/>
              </a:rPr>
              <a:t>x</a:t>
            </a:r>
            <a:endParaRPr sz="2050">
              <a:latin typeface="Arial MT"/>
              <a:cs typeface="Arial MT"/>
            </a:endParaRPr>
          </a:p>
          <a:p>
            <a:pPr marL="27940">
              <a:lnSpc>
                <a:spcPct val="100000"/>
              </a:lnSpc>
              <a:spcBef>
                <a:spcPts val="1995"/>
              </a:spcBef>
              <a:tabLst>
                <a:tab pos="511809" algn="l"/>
              </a:tabLst>
            </a:pPr>
            <a:r>
              <a:rPr dirty="0" sz="1800" spc="-50">
                <a:solidFill>
                  <a:srgbClr val="00EFF9"/>
                </a:solidFill>
                <a:latin typeface="Arial MT"/>
                <a:cs typeface="Arial MT"/>
              </a:rPr>
              <a:t>6</a:t>
            </a:r>
            <a:r>
              <a:rPr dirty="0" sz="1800">
                <a:solidFill>
                  <a:srgbClr val="00EFF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A8A8A8"/>
                </a:solidFill>
                <a:latin typeface="Arial MT"/>
                <a:cs typeface="Arial MT"/>
              </a:rPr>
              <a:t>eNPS</a:t>
            </a:r>
            <a:r>
              <a:rPr dirty="0" sz="1800" spc="1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1800" spc="114">
                <a:solidFill>
                  <a:srgbClr val="AAAAAA"/>
                </a:solidFill>
                <a:latin typeface="Arial MT"/>
                <a:cs typeface="Arial MT"/>
              </a:rPr>
              <a:t>(Clima</a:t>
            </a:r>
            <a:r>
              <a:rPr dirty="0" sz="1800" spc="4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800" spc="100">
                <a:solidFill>
                  <a:srgbClr val="B5B5B5"/>
                </a:solidFill>
                <a:latin typeface="Arial MT"/>
                <a:cs typeface="Arial MT"/>
              </a:rPr>
              <a:t>Organizaciona</a:t>
            </a:r>
            <a:r>
              <a:rPr dirty="0" sz="1800" spc="-23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1800" spc="60">
                <a:solidFill>
                  <a:srgbClr val="9CA5B6"/>
                </a:solidFill>
                <a:latin typeface="Arial MT"/>
                <a:cs typeface="Arial MT"/>
              </a:rPr>
              <a:t>I):</a:t>
            </a:r>
            <a:r>
              <a:rPr dirty="0" sz="1800" spc="195">
                <a:solidFill>
                  <a:srgbClr val="9CA5B6"/>
                </a:solidFill>
                <a:latin typeface="Arial MT"/>
                <a:cs typeface="Arial MT"/>
              </a:rPr>
              <a:t> </a:t>
            </a:r>
            <a:r>
              <a:rPr dirty="0" sz="1800" spc="-105">
                <a:solidFill>
                  <a:srgbClr val="B6B6B6"/>
                </a:solidFill>
                <a:latin typeface="Arial MT"/>
                <a:cs typeface="Arial MT"/>
              </a:rPr>
              <a:t>M</a:t>
            </a:r>
            <a:r>
              <a:rPr dirty="0" sz="1800" spc="-265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dirty="0" sz="1800" spc="120">
                <a:solidFill>
                  <a:srgbClr val="AAAAAA"/>
                </a:solidFill>
                <a:latin typeface="Arial MT"/>
                <a:cs typeface="Arial MT"/>
              </a:rPr>
              <a:t>onito</a:t>
            </a:r>
            <a:r>
              <a:rPr dirty="0" sz="1800" spc="-32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800" spc="-60">
                <a:solidFill>
                  <a:srgbClr val="AAAAAA"/>
                </a:solidFill>
                <a:latin typeface="Arial MT"/>
                <a:cs typeface="Arial MT"/>
              </a:rPr>
              <a:t>ra</a:t>
            </a:r>
            <a:r>
              <a:rPr dirty="0" sz="1800" spc="-26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800" spc="145">
                <a:solidFill>
                  <a:srgbClr val="758085"/>
                </a:solidFill>
                <a:latin typeface="Arial MT"/>
                <a:cs typeface="Arial MT"/>
              </a:rPr>
              <a:t>m</a:t>
            </a:r>
            <a:r>
              <a:rPr dirty="0" sz="1800" spc="145">
                <a:solidFill>
                  <a:srgbClr val="BABABA"/>
                </a:solidFill>
                <a:latin typeface="Arial MT"/>
                <a:cs typeface="Arial MT"/>
              </a:rPr>
              <a:t>ento</a:t>
            </a:r>
            <a:r>
              <a:rPr dirty="0" sz="1800" spc="85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1800" spc="75">
                <a:solidFill>
                  <a:srgbClr val="B1B1B1"/>
                </a:solidFill>
                <a:latin typeface="Arial MT"/>
                <a:cs typeface="Arial MT"/>
              </a:rPr>
              <a:t>m</a:t>
            </a:r>
            <a:r>
              <a:rPr dirty="0" sz="1800" spc="75">
                <a:solidFill>
                  <a:srgbClr val="A7A7A7"/>
                </a:solidFill>
                <a:latin typeface="Arial MT"/>
                <a:cs typeface="Arial MT"/>
              </a:rPr>
              <a:t>ens</a:t>
            </a:r>
            <a:r>
              <a:rPr dirty="0" sz="1800" spc="75">
                <a:solidFill>
                  <a:srgbClr val="9A9A9A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815956" y="4586636"/>
            <a:ext cx="7268209" cy="302577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605"/>
              </a:spcBef>
            </a:pPr>
            <a:r>
              <a:rPr dirty="0" sz="2050">
                <a:solidFill>
                  <a:srgbClr val="A8A8A8"/>
                </a:solidFill>
                <a:latin typeface="Arial MT"/>
                <a:cs typeface="Arial MT"/>
              </a:rPr>
              <a:t>Como</a:t>
            </a:r>
            <a:r>
              <a:rPr dirty="0" sz="2050" spc="1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5A5A5"/>
                </a:solidFill>
                <a:latin typeface="Arial MT"/>
                <a:cs typeface="Arial MT"/>
              </a:rPr>
              <a:t>o</a:t>
            </a:r>
            <a:r>
              <a:rPr dirty="0" sz="2050" spc="-9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AAAAA"/>
                </a:solidFill>
                <a:latin typeface="Arial MT"/>
                <a:cs typeface="Arial MT"/>
              </a:rPr>
              <a:t>produto</a:t>
            </a:r>
            <a:r>
              <a:rPr dirty="0" sz="2050" spc="1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 spc="-100">
                <a:solidFill>
                  <a:srgbClr val="97A1B1"/>
                </a:solidFill>
                <a:latin typeface="Arial MT"/>
                <a:cs typeface="Arial MT"/>
              </a:rPr>
              <a:t>e</a:t>
            </a:r>
            <a:r>
              <a:rPr dirty="0" sz="2050" spc="-135">
                <a:solidFill>
                  <a:srgbClr val="97A1B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5A5A5"/>
                </a:solidFill>
                <a:latin typeface="Arial MT"/>
                <a:cs typeface="Arial MT"/>
              </a:rPr>
              <a:t>o</a:t>
            </a:r>
            <a:r>
              <a:rPr dirty="0" sz="2050" spc="-8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AEAEAE"/>
                </a:solidFill>
                <a:latin typeface="Arial MT"/>
                <a:cs typeface="Arial MT"/>
              </a:rPr>
              <a:t>marketing</a:t>
            </a:r>
            <a:r>
              <a:rPr dirty="0" sz="2050" spc="4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FAFAF"/>
                </a:solidFill>
                <a:latin typeface="Arial MT"/>
                <a:cs typeface="Arial MT"/>
              </a:rPr>
              <a:t>retroalimentam</a:t>
            </a:r>
            <a:r>
              <a:rPr dirty="0" sz="2050" spc="-8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D677C"/>
                </a:solidFill>
                <a:latin typeface="Arial MT"/>
                <a:cs typeface="Arial MT"/>
              </a:rPr>
              <a:t>o</a:t>
            </a:r>
            <a:r>
              <a:rPr dirty="0" sz="2050" spc="-90">
                <a:solidFill>
                  <a:srgbClr val="5D677C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FAFAF"/>
                </a:solidFill>
                <a:latin typeface="Arial MT"/>
                <a:cs typeface="Arial MT"/>
              </a:rPr>
              <a:t>próprio</a:t>
            </a:r>
            <a:endParaRPr sz="2050">
              <a:latin typeface="Arial MT"/>
              <a:cs typeface="Arial MT"/>
            </a:endParaRPr>
          </a:p>
          <a:p>
            <a:pPr marL="42545">
              <a:lnSpc>
                <a:spcPct val="100000"/>
              </a:lnSpc>
              <a:spcBef>
                <a:spcPts val="509"/>
              </a:spcBef>
            </a:pPr>
            <a:r>
              <a:rPr dirty="0" sz="2050" spc="114">
                <a:solidFill>
                  <a:srgbClr val="AEAEAE"/>
                </a:solidFill>
                <a:latin typeface="Times New Roman"/>
                <a:cs typeface="Times New Roman"/>
              </a:rPr>
              <a:t>ecos</a:t>
            </a:r>
            <a:r>
              <a:rPr dirty="0" sz="2050" spc="114">
                <a:solidFill>
                  <a:srgbClr val="B8B8B8"/>
                </a:solidFill>
                <a:latin typeface="Times New Roman"/>
                <a:cs typeface="Times New Roman"/>
              </a:rPr>
              <a:t>sistema</a:t>
            </a:r>
            <a:r>
              <a:rPr dirty="0" sz="2050" spc="200">
                <a:solidFill>
                  <a:srgbClr val="B8B8B8"/>
                </a:solidFill>
                <a:latin typeface="Times New Roman"/>
                <a:cs typeface="Times New Roman"/>
              </a:rPr>
              <a:t> </a:t>
            </a:r>
            <a:r>
              <a:rPr dirty="0" sz="2050" spc="75">
                <a:solidFill>
                  <a:srgbClr val="777777"/>
                </a:solidFill>
                <a:latin typeface="Times New Roman"/>
                <a:cs typeface="Times New Roman"/>
              </a:rPr>
              <a:t>com</a:t>
            </a:r>
            <a:r>
              <a:rPr dirty="0" sz="2050" spc="210">
                <a:solidFill>
                  <a:srgbClr val="777777"/>
                </a:solidFill>
                <a:latin typeface="Times New Roman"/>
                <a:cs typeface="Times New Roman"/>
              </a:rPr>
              <a:t> </a:t>
            </a:r>
            <a:r>
              <a:rPr dirty="0" sz="2050" spc="140">
                <a:solidFill>
                  <a:srgbClr val="8E8E8E"/>
                </a:solidFill>
                <a:latin typeface="Times New Roman"/>
                <a:cs typeface="Times New Roman"/>
              </a:rPr>
              <a:t>base</a:t>
            </a:r>
            <a:r>
              <a:rPr dirty="0" sz="2050" spc="100">
                <a:solidFill>
                  <a:srgbClr val="8E8E8E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707070"/>
                </a:solidFill>
                <a:latin typeface="Times New Roman"/>
                <a:cs typeface="Times New Roman"/>
              </a:rPr>
              <a:t>no</a:t>
            </a:r>
            <a:r>
              <a:rPr dirty="0" sz="2050" spc="-70">
                <a:solidFill>
                  <a:srgbClr val="707070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AEAEAE"/>
                </a:solidFill>
                <a:latin typeface="Times New Roman"/>
                <a:cs typeface="Times New Roman"/>
              </a:rPr>
              <a:t>fluxo</a:t>
            </a:r>
            <a:r>
              <a:rPr dirty="0" sz="2050" spc="25">
                <a:solidFill>
                  <a:srgbClr val="AEAEAE"/>
                </a:solidFill>
                <a:latin typeface="Times New Roman"/>
                <a:cs typeface="Times New Roman"/>
              </a:rPr>
              <a:t> </a:t>
            </a:r>
            <a:r>
              <a:rPr dirty="0" sz="2050" spc="140">
                <a:solidFill>
                  <a:srgbClr val="B8B8B8"/>
                </a:solidFill>
                <a:latin typeface="Times New Roman"/>
                <a:cs typeface="Times New Roman"/>
              </a:rPr>
              <a:t>constante</a:t>
            </a:r>
            <a:r>
              <a:rPr dirty="0" sz="2050" spc="40">
                <a:solidFill>
                  <a:srgbClr val="B8B8B8"/>
                </a:solidFill>
                <a:latin typeface="Times New Roman"/>
                <a:cs typeface="Times New Roman"/>
              </a:rPr>
              <a:t> </a:t>
            </a:r>
            <a:r>
              <a:rPr dirty="0" sz="2050" spc="160">
                <a:solidFill>
                  <a:srgbClr val="A1A1A1"/>
                </a:solidFill>
                <a:latin typeface="Times New Roman"/>
                <a:cs typeface="Times New Roman"/>
              </a:rPr>
              <a:t>de</a:t>
            </a:r>
            <a:r>
              <a:rPr dirty="0" sz="2050" spc="-75">
                <a:solidFill>
                  <a:srgbClr val="A1A1A1"/>
                </a:solidFill>
                <a:latin typeface="Times New Roman"/>
                <a:cs typeface="Times New Roman"/>
              </a:rPr>
              <a:t> </a:t>
            </a:r>
            <a:r>
              <a:rPr dirty="0" sz="2050" spc="65">
                <a:solidFill>
                  <a:srgbClr val="A8A8A8"/>
                </a:solidFill>
                <a:latin typeface="Times New Roman"/>
                <a:cs typeface="Times New Roman"/>
              </a:rPr>
              <a:t>da</a:t>
            </a:r>
            <a:r>
              <a:rPr dirty="0" sz="2050" spc="-245">
                <a:solidFill>
                  <a:srgbClr val="A8A8A8"/>
                </a:solidFill>
                <a:latin typeface="Times New Roman"/>
                <a:cs typeface="Times New Roman"/>
              </a:rPr>
              <a:t> </a:t>
            </a:r>
            <a:r>
              <a:rPr dirty="0" sz="2050" spc="75">
                <a:solidFill>
                  <a:srgbClr val="AAAAAA"/>
                </a:solidFill>
                <a:latin typeface="Times New Roman"/>
                <a:cs typeface="Times New Roman"/>
              </a:rPr>
              <a:t>dos:</a:t>
            </a:r>
            <a:endParaRPr sz="2050">
              <a:latin typeface="Times New Roman"/>
              <a:cs typeface="Times New Roman"/>
            </a:endParaRPr>
          </a:p>
          <a:p>
            <a:pPr marL="470534">
              <a:lnSpc>
                <a:spcPct val="100000"/>
              </a:lnSpc>
              <a:spcBef>
                <a:spcPts val="2115"/>
              </a:spcBef>
            </a:pPr>
            <a:r>
              <a:rPr dirty="0" sz="2050">
                <a:solidFill>
                  <a:srgbClr val="AFAFAF"/>
                </a:solidFill>
                <a:latin typeface="Arial MT"/>
                <a:cs typeface="Arial MT"/>
              </a:rPr>
              <a:t>Feedback</a:t>
            </a:r>
            <a:r>
              <a:rPr dirty="0" sz="2050" spc="-2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CACAC"/>
                </a:solidFill>
                <a:latin typeface="Arial MT"/>
                <a:cs typeface="Arial MT"/>
              </a:rPr>
              <a:t>Loop:</a:t>
            </a:r>
            <a:r>
              <a:rPr dirty="0" sz="2050" spc="-8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95">
                <a:solidFill>
                  <a:srgbClr val="A8A8A8"/>
                </a:solidFill>
                <a:latin typeface="Arial MT"/>
                <a:cs typeface="Arial MT"/>
              </a:rPr>
              <a:t>Erros</a:t>
            </a:r>
            <a:r>
              <a:rPr dirty="0" sz="2050" spc="-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000C1F"/>
                </a:solidFill>
                <a:latin typeface="Arial MT"/>
                <a:cs typeface="Arial MT"/>
              </a:rPr>
              <a:t>de</a:t>
            </a:r>
            <a:r>
              <a:rPr dirty="0" sz="2050" spc="-135">
                <a:solidFill>
                  <a:srgbClr val="000C1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EAEAE"/>
                </a:solidFill>
                <a:latin typeface="Arial MT"/>
                <a:cs typeface="Arial MT"/>
              </a:rPr>
              <a:t>onboarding</a:t>
            </a:r>
            <a:r>
              <a:rPr dirty="0" sz="2050" spc="1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B5B5B5"/>
                </a:solidFill>
                <a:latin typeface="Arial MT"/>
                <a:cs typeface="Arial MT"/>
              </a:rPr>
              <a:t>alimentam</a:t>
            </a:r>
            <a:r>
              <a:rPr dirty="0" sz="2050" spc="-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B8B8B8"/>
                </a:solidFill>
                <a:latin typeface="Arial MT"/>
                <a:cs typeface="Arial MT"/>
              </a:rPr>
              <a:t>o</a:t>
            </a:r>
            <a:r>
              <a:rPr dirty="0" sz="2050" spc="-14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B8B8B8"/>
                </a:solidFill>
                <a:latin typeface="Arial MT"/>
                <a:cs typeface="Arial MT"/>
              </a:rPr>
              <a:t>produto.</a:t>
            </a:r>
            <a:endParaRPr sz="2050">
              <a:latin typeface="Arial MT"/>
              <a:cs typeface="Arial MT"/>
            </a:endParaRPr>
          </a:p>
          <a:p>
            <a:pPr marL="483234" marR="90170" indent="-471170">
              <a:lnSpc>
                <a:spcPts val="2350"/>
              </a:lnSpc>
              <a:spcBef>
                <a:spcPts val="1915"/>
              </a:spcBef>
              <a:tabLst>
                <a:tab pos="471805" algn="l"/>
              </a:tabLst>
            </a:pPr>
            <a:r>
              <a:rPr dirty="0" sz="2050" spc="-25">
                <a:solidFill>
                  <a:srgbClr val="00EFFF"/>
                </a:solidFill>
                <a:latin typeface="Arial MT"/>
                <a:cs typeface="Arial MT"/>
              </a:rPr>
              <a:t>III</a:t>
            </a:r>
            <a:r>
              <a:rPr dirty="0" sz="2050">
                <a:solidFill>
                  <a:srgbClr val="00EFFF"/>
                </a:solidFill>
                <a:latin typeface="Arial MT"/>
                <a:cs typeface="Arial MT"/>
              </a:rPr>
              <a:t>	</a:t>
            </a:r>
            <a:r>
              <a:rPr dirty="0" sz="2050" spc="-20">
                <a:solidFill>
                  <a:srgbClr val="AFAFAF"/>
                </a:solidFill>
                <a:latin typeface="Arial MT"/>
                <a:cs typeface="Arial MT"/>
              </a:rPr>
              <a:t>Refinamento</a:t>
            </a:r>
            <a:r>
              <a:rPr dirty="0" sz="2050" spc="-9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5A5A5"/>
                </a:solidFill>
                <a:latin typeface="Arial MT"/>
                <a:cs typeface="Arial MT"/>
              </a:rPr>
              <a:t>ÍA:</a:t>
            </a:r>
            <a:r>
              <a:rPr dirty="0" sz="2050" spc="-9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050" spc="-65">
                <a:solidFill>
                  <a:srgbClr val="030F1F"/>
                </a:solidFill>
                <a:latin typeface="Arial MT"/>
                <a:cs typeface="Arial MT"/>
              </a:rPr>
              <a:t>Os</a:t>
            </a:r>
            <a:r>
              <a:rPr dirty="0" sz="2050" spc="-70">
                <a:solidFill>
                  <a:srgbClr val="030F1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8A8A8"/>
                </a:solidFill>
                <a:latin typeface="Arial MT"/>
                <a:cs typeface="Arial MT"/>
              </a:rPr>
              <a:t>dados</a:t>
            </a:r>
            <a:r>
              <a:rPr dirty="0" sz="2050" spc="-5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ACACAC"/>
                </a:solidFill>
                <a:latin typeface="Arial MT"/>
                <a:cs typeface="Arial MT"/>
              </a:rPr>
              <a:t>de</a:t>
            </a:r>
            <a:r>
              <a:rPr dirty="0" sz="2050" spc="-13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40">
                <a:solidFill>
                  <a:srgbClr val="B5B5B5"/>
                </a:solidFill>
                <a:latin typeface="Arial MT"/>
                <a:cs typeface="Arial MT"/>
              </a:rPr>
              <a:t>churn</a:t>
            </a:r>
            <a:r>
              <a:rPr dirty="0" sz="2050" spc="-10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ACACAC"/>
                </a:solidFill>
                <a:latin typeface="Arial MT"/>
                <a:cs typeface="Arial MT"/>
              </a:rPr>
              <a:t>aprimoram</a:t>
            </a:r>
            <a:r>
              <a:rPr dirty="0" sz="2050" spc="1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A8A8A8"/>
                </a:solidFill>
                <a:latin typeface="Arial MT"/>
                <a:cs typeface="Arial MT"/>
              </a:rPr>
              <a:t>os</a:t>
            </a:r>
            <a:r>
              <a:rPr dirty="0" sz="2050" spc="-8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8A8A8"/>
                </a:solidFill>
                <a:latin typeface="Arial MT"/>
                <a:cs typeface="Arial MT"/>
              </a:rPr>
              <a:t>modelos </a:t>
            </a:r>
            <a:r>
              <a:rPr dirty="0" sz="2050" spc="-10">
                <a:solidFill>
                  <a:srgbClr val="AFAFAF"/>
                </a:solidFill>
                <a:latin typeface="Arial MT"/>
                <a:cs typeface="Arial MT"/>
              </a:rPr>
              <a:t>de</a:t>
            </a:r>
            <a:r>
              <a:rPr dirty="0" sz="2050" spc="-13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8A8A8"/>
                </a:solidFill>
                <a:latin typeface="Arial MT"/>
                <a:cs typeface="Arial MT"/>
              </a:rPr>
              <a:t>retenção.</a:t>
            </a:r>
            <a:endParaRPr sz="2050">
              <a:latin typeface="Arial MT"/>
              <a:cs typeface="Arial MT"/>
            </a:endParaRPr>
          </a:p>
          <a:p>
            <a:pPr marL="483234" marR="5080" indent="-445770">
              <a:lnSpc>
                <a:spcPts val="2350"/>
              </a:lnSpc>
              <a:spcBef>
                <a:spcPts val="1855"/>
              </a:spcBef>
              <a:tabLst>
                <a:tab pos="484505" algn="l"/>
              </a:tabLst>
            </a:pPr>
            <a:r>
              <a:rPr dirty="0" sz="2050" spc="-25">
                <a:solidFill>
                  <a:srgbClr val="2DBAC8"/>
                </a:solidFill>
                <a:latin typeface="Arial MT"/>
                <a:cs typeface="Arial MT"/>
              </a:rPr>
              <a:t>^e</a:t>
            </a:r>
            <a:r>
              <a:rPr dirty="0" sz="2050">
                <a:solidFill>
                  <a:srgbClr val="2DBAC8"/>
                </a:solidFill>
                <a:latin typeface="Arial MT"/>
                <a:cs typeface="Arial MT"/>
              </a:rPr>
              <a:t>		</a:t>
            </a:r>
            <a:r>
              <a:rPr dirty="0" sz="2050">
                <a:solidFill>
                  <a:srgbClr val="B3B3B3"/>
                </a:solidFill>
                <a:latin typeface="Arial MT"/>
                <a:cs typeface="Arial MT"/>
              </a:rPr>
              <a:t>Automações:</a:t>
            </a:r>
            <a:r>
              <a:rPr dirty="0" sz="2050" spc="10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ACACAC"/>
                </a:solidFill>
                <a:latin typeface="Arial MT"/>
                <a:cs typeface="Arial MT"/>
              </a:rPr>
              <a:t>Otimizaçáo</a:t>
            </a:r>
            <a:r>
              <a:rPr dirty="0" sz="2050" spc="8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B5B5B5"/>
                </a:solidFill>
                <a:latin typeface="Arial MT"/>
                <a:cs typeface="Arial MT"/>
              </a:rPr>
              <a:t>constante</a:t>
            </a:r>
            <a:r>
              <a:rPr dirty="0" sz="2050" spc="-4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9AA7B6"/>
                </a:solidFill>
                <a:latin typeface="Arial MT"/>
                <a:cs typeface="Arial MT"/>
              </a:rPr>
              <a:t>com</a:t>
            </a:r>
            <a:r>
              <a:rPr dirty="0" sz="2050" spc="-75">
                <a:solidFill>
                  <a:srgbClr val="9AA7B6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AEAEAE"/>
                </a:solidFill>
                <a:latin typeface="Arial MT"/>
                <a:cs typeface="Arial MT"/>
              </a:rPr>
              <a:t>base</a:t>
            </a:r>
            <a:r>
              <a:rPr dirty="0" sz="2050" spc="-6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050" spc="-135">
                <a:solidFill>
                  <a:srgbClr val="999999"/>
                </a:solidFill>
                <a:latin typeface="Arial MT"/>
                <a:cs typeface="Arial MT"/>
              </a:rPr>
              <a:t>na</a:t>
            </a:r>
            <a:r>
              <a:rPr dirty="0" sz="2050" spc="5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B5B5B5"/>
                </a:solidFill>
                <a:latin typeface="Arial MT"/>
                <a:cs typeface="Arial MT"/>
              </a:rPr>
              <a:t>interação </a:t>
            </a:r>
            <a:r>
              <a:rPr dirty="0" sz="2050">
                <a:solidFill>
                  <a:srgbClr val="A1A1A1"/>
                </a:solidFill>
                <a:latin typeface="Arial MT"/>
                <a:cs typeface="Arial MT"/>
              </a:rPr>
              <a:t>dos</a:t>
            </a:r>
            <a:r>
              <a:rPr dirty="0" sz="2050" spc="-9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050" spc="-100" i="1">
                <a:solidFill>
                  <a:srgbClr val="ACACAC"/>
                </a:solidFill>
                <a:latin typeface="Arial"/>
                <a:cs typeface="Arial"/>
              </a:rPr>
              <a:t>usuá</a:t>
            </a:r>
            <a:r>
              <a:rPr dirty="0" sz="2050" spc="-229" i="1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2050" spc="-25" i="1">
                <a:solidFill>
                  <a:srgbClr val="A1A1A1"/>
                </a:solidFill>
                <a:latin typeface="Arial"/>
                <a:cs typeface="Arial"/>
              </a:rPr>
              <a:t>nos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706" y="8465711"/>
            <a:ext cx="20080605" cy="212090"/>
            <a:chOff x="15706" y="8465711"/>
            <a:chExt cx="20080605" cy="212090"/>
          </a:xfrm>
        </p:grpSpPr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76632" y="8528536"/>
              <a:ext cx="3777371" cy="14135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5706" y="8465711"/>
              <a:ext cx="20080605" cy="212090"/>
            </a:xfrm>
            <a:custGeom>
              <a:avLst/>
              <a:gdLst/>
              <a:ahLst/>
              <a:cxnLst/>
              <a:rect l="l" t="t" r="r" b="b"/>
              <a:pathLst>
                <a:path w="20080605" h="212090">
                  <a:moveTo>
                    <a:pt x="20080541" y="212035"/>
                  </a:moveTo>
                  <a:lnTo>
                    <a:pt x="0" y="212035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212035"/>
                  </a:lnTo>
                  <a:close/>
                </a:path>
              </a:pathLst>
            </a:custGeom>
            <a:solidFill>
              <a:srgbClr val="0711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805704" y="8420289"/>
            <a:ext cx="358647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6060"/>
                </a:solidFill>
                <a:latin typeface="Consolas"/>
                <a:cs typeface="Consolas"/>
              </a:rPr>
              <a:t>INTELIGÊGCIA</a:t>
            </a:r>
            <a:r>
              <a:rPr dirty="0" sz="1800" spc="-175">
                <a:solidFill>
                  <a:srgbClr val="00606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5464"/>
                </a:solidFill>
                <a:latin typeface="Consolas"/>
                <a:cs typeface="Consolas"/>
              </a:rPr>
              <a:t>DE</a:t>
            </a:r>
            <a:r>
              <a:rPr dirty="0" sz="1800" spc="-200">
                <a:solidFill>
                  <a:srgbClr val="005464"/>
                </a:solidFill>
                <a:latin typeface="Consolas"/>
                <a:cs typeface="Consolas"/>
              </a:rPr>
              <a:t> </a:t>
            </a:r>
            <a:r>
              <a:rPr dirty="0" sz="1800" spc="250">
                <a:solidFill>
                  <a:srgbClr val="00263A"/>
                </a:solidFill>
                <a:latin typeface="Consolas"/>
                <a:cs typeface="Consolas"/>
              </a:rPr>
              <a:t>DADOS</a:t>
            </a:r>
            <a:r>
              <a:rPr dirty="0" sz="1800" spc="-285">
                <a:solidFill>
                  <a:srgbClr val="00263A"/>
                </a:solidFill>
                <a:latin typeface="Consolas"/>
                <a:cs typeface="Consolas"/>
              </a:rPr>
              <a:t> </a:t>
            </a:r>
            <a:r>
              <a:rPr dirty="0" sz="1800" spc="250">
                <a:solidFill>
                  <a:srgbClr val="002133"/>
                </a:solidFill>
                <a:latin typeface="Consolas"/>
                <a:cs typeface="Consolas"/>
              </a:rPr>
              <a:t>TO</a:t>
            </a:r>
            <a:r>
              <a:rPr dirty="0" sz="1800" spc="-285">
                <a:solidFill>
                  <a:srgbClr val="002133"/>
                </a:solidFill>
                <a:latin typeface="Consolas"/>
                <a:cs typeface="Consolas"/>
              </a:rPr>
              <a:t> </a:t>
            </a:r>
            <a:r>
              <a:rPr dirty="0" sz="1800" spc="215">
                <a:solidFill>
                  <a:srgbClr val="003F3F"/>
                </a:solidFill>
                <a:latin typeface="Consolas"/>
                <a:cs typeface="Consolas"/>
              </a:rPr>
              <a:t>RH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pc="-875">
                <a:solidFill>
                  <a:srgbClr val="00F2FD"/>
                </a:solidFill>
              </a:rPr>
              <a:t>)</a:t>
            </a:r>
            <a:r>
              <a:rPr dirty="0" spc="395">
                <a:solidFill>
                  <a:srgbClr val="00F2FD"/>
                </a:solidFill>
              </a:rPr>
              <a:t> </a:t>
            </a:r>
            <a:r>
              <a:rPr dirty="0" spc="-470">
                <a:solidFill>
                  <a:srgbClr val="05EDFF"/>
                </a:solidFill>
              </a:rPr>
              <a:t>IMAGE</a:t>
            </a:r>
            <a:r>
              <a:rPr dirty="0" spc="509">
                <a:solidFill>
                  <a:srgbClr val="05EDFF"/>
                </a:solidFill>
              </a:rPr>
              <a:t> </a:t>
            </a:r>
            <a:r>
              <a:rPr dirty="0" spc="-745"/>
              <a:t>SOURCES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706" y="3848050"/>
            <a:ext cx="20080605" cy="808990"/>
            <a:chOff x="15706" y="3848050"/>
            <a:chExt cx="20080605" cy="8089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506" y="3863756"/>
              <a:ext cx="1413569" cy="78531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2156" y="4107204"/>
              <a:ext cx="376951" cy="54186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706" y="3848050"/>
              <a:ext cx="20080605" cy="808990"/>
            </a:xfrm>
            <a:custGeom>
              <a:avLst/>
              <a:gdLst/>
              <a:ahLst/>
              <a:cxnLst/>
              <a:rect l="l" t="t" r="r" b="b"/>
              <a:pathLst>
                <a:path w="20080605" h="808989">
                  <a:moveTo>
                    <a:pt x="20080541" y="808875"/>
                  </a:moveTo>
                  <a:lnTo>
                    <a:pt x="0" y="808875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808875"/>
                  </a:lnTo>
                  <a:close/>
                </a:path>
              </a:pathLst>
            </a:custGeom>
            <a:solidFill>
              <a:srgbClr val="080C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440135" y="3866108"/>
            <a:ext cx="12509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65">
                <a:solidFill>
                  <a:srgbClr val="646B7C"/>
                </a:solidFill>
                <a:latin typeface="Cambria"/>
                <a:cs typeface="Cambria"/>
              </a:rPr>
              <a:t>_.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91016" y="3866108"/>
            <a:ext cx="9334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65">
                <a:solidFill>
                  <a:srgbClr val="CDCDCD"/>
                </a:solidFill>
                <a:latin typeface="Cambria"/>
                <a:cs typeface="Cambria"/>
              </a:rPr>
              <a:t>"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135082" y="4240442"/>
            <a:ext cx="18986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260">
                <a:solidFill>
                  <a:srgbClr val="69727C"/>
                </a:solidFill>
                <a:latin typeface="Cambria"/>
                <a:cs typeface="Cambria"/>
              </a:rPr>
              <a:t>'</a:t>
            </a:r>
            <a:r>
              <a:rPr dirty="0" sz="2200" spc="300">
                <a:solidFill>
                  <a:srgbClr val="69727C"/>
                </a:solidFill>
                <a:latin typeface="Cambria"/>
                <a:cs typeface="Cambria"/>
              </a:rPr>
              <a:t> </a:t>
            </a:r>
            <a:r>
              <a:rPr dirty="0" sz="2200" spc="-17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50529" y="3775027"/>
            <a:ext cx="12693015" cy="82486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840"/>
              </a:spcBef>
            </a:pPr>
            <a:r>
              <a:rPr dirty="0" sz="1650">
                <a:solidFill>
                  <a:srgbClr val="BABABA"/>
                </a:solidFill>
                <a:latin typeface="Cambria"/>
                <a:cs typeface="Cambria"/>
              </a:rPr>
              <a:t>https://c </a:t>
            </a:r>
            <a:r>
              <a:rPr dirty="0" sz="1650">
                <a:solidFill>
                  <a:srgbClr val="B1B1B1"/>
                </a:solidFill>
                <a:latin typeface="Cambria"/>
                <a:cs typeface="Cambria"/>
              </a:rPr>
              <a:t>d</a:t>
            </a:r>
            <a:r>
              <a:rPr dirty="0" sz="1650" spc="-114">
                <a:solidFill>
                  <a:srgbClr val="B1B1B1"/>
                </a:solidFill>
                <a:latin typeface="Cambria"/>
                <a:cs typeface="Cambria"/>
              </a:rPr>
              <a:t> </a:t>
            </a:r>
            <a:r>
              <a:rPr dirty="0" sz="1650" spc="-55">
                <a:solidFill>
                  <a:srgbClr val="8C8C8C"/>
                </a:solidFill>
                <a:latin typeface="Cambria"/>
                <a:cs typeface="Cambria"/>
              </a:rPr>
              <a:t>n.</a:t>
            </a:r>
            <a:r>
              <a:rPr dirty="0" sz="1650" spc="-165">
                <a:solidFill>
                  <a:srgbClr val="8C8C8C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000818"/>
                </a:solidFill>
                <a:latin typeface="Cambria"/>
                <a:cs typeface="Cambria"/>
              </a:rPr>
              <a:t>d</a:t>
            </a:r>
            <a:r>
              <a:rPr dirty="0" sz="1650" spc="-114">
                <a:solidFill>
                  <a:srgbClr val="000818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A7A7A7"/>
                </a:solidFill>
                <a:latin typeface="Cambria"/>
                <a:cs typeface="Cambria"/>
              </a:rPr>
              <a:t>ribbble</a:t>
            </a:r>
            <a:r>
              <a:rPr dirty="0" sz="1650" spc="445">
                <a:solidFill>
                  <a:srgbClr val="A7A7A7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A3A3A3"/>
                </a:solidFill>
                <a:latin typeface="Cambria"/>
                <a:cs typeface="Cambria"/>
              </a:rPr>
              <a:t>co</a:t>
            </a:r>
            <a:r>
              <a:rPr dirty="0" sz="1650" spc="165">
                <a:solidFill>
                  <a:srgbClr val="A3A3A3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AFAFAF"/>
                </a:solidFill>
                <a:latin typeface="Cambria"/>
                <a:cs typeface="Cambria"/>
              </a:rPr>
              <a:t>m/userupIo</a:t>
            </a:r>
            <a:r>
              <a:rPr dirty="0" sz="1650" spc="60">
                <a:solidFill>
                  <a:srgbClr val="AFAFAF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B1B1B1"/>
                </a:solidFill>
                <a:latin typeface="Cambria"/>
                <a:cs typeface="Cambria"/>
              </a:rPr>
              <a:t>ad/4ó8óó12O/fl</a:t>
            </a:r>
            <a:r>
              <a:rPr dirty="0" sz="1650" spc="-105">
                <a:solidFill>
                  <a:srgbClr val="B1B1B1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ACACAC"/>
                </a:solidFill>
                <a:latin typeface="Cambria"/>
                <a:cs typeface="Cambria"/>
              </a:rPr>
              <a:t>le/c</a:t>
            </a:r>
            <a:r>
              <a:rPr dirty="0" sz="1650" spc="-80">
                <a:solidFill>
                  <a:srgbClr val="ACACAC"/>
                </a:solidFill>
                <a:latin typeface="Cambria"/>
                <a:cs typeface="Cambria"/>
              </a:rPr>
              <a:t> </a:t>
            </a:r>
            <a:r>
              <a:rPr dirty="0" sz="1650" spc="85">
                <a:solidFill>
                  <a:srgbClr val="000C1A"/>
                </a:solidFill>
                <a:latin typeface="Cambria"/>
                <a:cs typeface="Cambria"/>
              </a:rPr>
              <a:t>c</a:t>
            </a:r>
            <a:r>
              <a:rPr dirty="0" sz="1650" spc="-175">
                <a:solidFill>
                  <a:srgbClr val="000C1A"/>
                </a:solidFill>
                <a:latin typeface="Cambria"/>
                <a:cs typeface="Cambria"/>
              </a:rPr>
              <a:t> </a:t>
            </a:r>
            <a:r>
              <a:rPr dirty="0" sz="1650" spc="75">
                <a:solidFill>
                  <a:srgbClr val="93A0AF"/>
                </a:solidFill>
                <a:latin typeface="Cambria"/>
                <a:cs typeface="Cambria"/>
              </a:rPr>
              <a:t>2</a:t>
            </a:r>
            <a:r>
              <a:rPr dirty="0" sz="1650" spc="75">
                <a:solidFill>
                  <a:srgbClr val="A8A8A8"/>
                </a:solidFill>
                <a:latin typeface="Cambria"/>
                <a:cs typeface="Cambria"/>
              </a:rPr>
              <a:t>e888</a:t>
            </a:r>
            <a:r>
              <a:rPr dirty="0" sz="1650" spc="75">
                <a:solidFill>
                  <a:srgbClr val="AFAFAF"/>
                </a:solidFill>
                <a:latin typeface="Cambria"/>
                <a:cs typeface="Cambria"/>
              </a:rPr>
              <a:t>afd</a:t>
            </a:r>
            <a:r>
              <a:rPr dirty="0" sz="1650" spc="-105">
                <a:solidFill>
                  <a:srgbClr val="AFAFAF"/>
                </a:solidFill>
                <a:latin typeface="Cambria"/>
                <a:cs typeface="Cambria"/>
              </a:rPr>
              <a:t> </a:t>
            </a:r>
            <a:r>
              <a:rPr dirty="0" sz="1650" spc="85">
                <a:solidFill>
                  <a:srgbClr val="AEAEAE"/>
                </a:solidFill>
                <a:latin typeface="Cambria"/>
                <a:cs typeface="Cambria"/>
              </a:rPr>
              <a:t>óc</a:t>
            </a:r>
            <a:r>
              <a:rPr dirty="0" sz="1650" spc="-155">
                <a:solidFill>
                  <a:srgbClr val="AEAEAE"/>
                </a:solidFill>
                <a:latin typeface="Cambria"/>
                <a:cs typeface="Cambria"/>
              </a:rPr>
              <a:t> </a:t>
            </a:r>
            <a:r>
              <a:rPr dirty="0" sz="1650" spc="100">
                <a:solidFill>
                  <a:srgbClr val="ACACAC"/>
                </a:solidFill>
                <a:latin typeface="Cambria"/>
                <a:cs typeface="Cambria"/>
              </a:rPr>
              <a:t>0</a:t>
            </a:r>
            <a:r>
              <a:rPr dirty="0" sz="1650" spc="-114">
                <a:solidFill>
                  <a:srgbClr val="ACACAC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A8A8A8"/>
                </a:solidFill>
                <a:latin typeface="Cambria"/>
                <a:cs typeface="Cambria"/>
              </a:rPr>
              <a:t>3928298</a:t>
            </a:r>
            <a:r>
              <a:rPr dirty="0" sz="1650" spc="-100">
                <a:solidFill>
                  <a:srgbClr val="A8A8A8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A8A8A8"/>
                </a:solidFill>
                <a:latin typeface="Cambria"/>
                <a:cs typeface="Cambria"/>
              </a:rPr>
              <a:t>d</a:t>
            </a:r>
            <a:r>
              <a:rPr dirty="0" sz="1650" spc="-140">
                <a:solidFill>
                  <a:srgbClr val="A8A8A8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ACACAC"/>
                </a:solidFill>
                <a:latin typeface="Cambria"/>
                <a:cs typeface="Cambria"/>
              </a:rPr>
              <a:t>9d</a:t>
            </a:r>
            <a:r>
              <a:rPr dirty="0" sz="1650" spc="-110">
                <a:solidFill>
                  <a:srgbClr val="ACACAC"/>
                </a:solidFill>
                <a:latin typeface="Cambria"/>
                <a:cs typeface="Cambria"/>
              </a:rPr>
              <a:t> </a:t>
            </a:r>
            <a:r>
              <a:rPr dirty="0" sz="1650" spc="105">
                <a:solidFill>
                  <a:srgbClr val="AFAFAF"/>
                </a:solidFill>
                <a:latin typeface="Cambria"/>
                <a:cs typeface="Cambria"/>
              </a:rPr>
              <a:t>c</a:t>
            </a:r>
            <a:r>
              <a:rPr dirty="0" sz="1650" spc="105">
                <a:solidFill>
                  <a:srgbClr val="000313"/>
                </a:solidFill>
                <a:latin typeface="Cambria"/>
                <a:cs typeface="Cambria"/>
              </a:rPr>
              <a:t>3</a:t>
            </a:r>
            <a:r>
              <a:rPr dirty="0" sz="1650" spc="105">
                <a:solidFill>
                  <a:srgbClr val="AFAFAF"/>
                </a:solidFill>
                <a:latin typeface="Cambria"/>
                <a:cs typeface="Cambria"/>
              </a:rPr>
              <a:t>cl</a:t>
            </a:r>
            <a:r>
              <a:rPr dirty="0" sz="1650" spc="55">
                <a:solidFill>
                  <a:srgbClr val="AFAFAF"/>
                </a:solidFill>
                <a:latin typeface="Cambria"/>
                <a:cs typeface="Cambria"/>
              </a:rPr>
              <a:t> </a:t>
            </a:r>
            <a:r>
              <a:rPr dirty="0" sz="1650" spc="90">
                <a:solidFill>
                  <a:srgbClr val="A5A5A5"/>
                </a:solidFill>
                <a:latin typeface="Cambria"/>
                <a:cs typeface="Cambria"/>
              </a:rPr>
              <a:t>ab</a:t>
            </a:r>
            <a:r>
              <a:rPr dirty="0" sz="1650" spc="90">
                <a:solidFill>
                  <a:srgbClr val="AAAAAA"/>
                </a:solidFill>
                <a:latin typeface="Cambria"/>
                <a:cs typeface="Cambria"/>
              </a:rPr>
              <a:t>ó</a:t>
            </a:r>
            <a:r>
              <a:rPr dirty="0" sz="1650" spc="90">
                <a:solidFill>
                  <a:srgbClr val="97A3B8"/>
                </a:solidFill>
                <a:latin typeface="Cambria"/>
                <a:cs typeface="Cambria"/>
              </a:rPr>
              <a:t>2</a:t>
            </a:r>
            <a:r>
              <a:rPr dirty="0" sz="1650" spc="90">
                <a:solidFill>
                  <a:srgbClr val="AAAAAA"/>
                </a:solidFill>
                <a:latin typeface="Cambria"/>
                <a:cs typeface="Cambria"/>
              </a:rPr>
              <a:t>ó.</a:t>
            </a:r>
            <a:r>
              <a:rPr dirty="0" sz="1650" spc="-165">
                <a:solidFill>
                  <a:srgbClr val="AAAAAA"/>
                </a:solidFill>
                <a:latin typeface="Cambria"/>
                <a:cs typeface="Cambria"/>
              </a:rPr>
              <a:t> </a:t>
            </a:r>
            <a:r>
              <a:rPr dirty="0" sz="1650" spc="75">
                <a:solidFill>
                  <a:srgbClr val="B5B5B5"/>
                </a:solidFill>
                <a:latin typeface="Cambria"/>
                <a:cs typeface="Cambria"/>
              </a:rPr>
              <a:t>png*resize-</a:t>
            </a:r>
            <a:r>
              <a:rPr dirty="0" sz="1650" spc="55">
                <a:solidFill>
                  <a:srgbClr val="B5B5B5"/>
                </a:solidFill>
                <a:latin typeface="Cambria"/>
                <a:cs typeface="Cambria"/>
              </a:rPr>
              <a:t>752</a:t>
            </a:r>
            <a:r>
              <a:rPr dirty="0" sz="1650" spc="55">
                <a:solidFill>
                  <a:srgbClr val="9AA7B6"/>
                </a:solidFill>
                <a:latin typeface="Cambria"/>
                <a:cs typeface="Cambria"/>
              </a:rPr>
              <a:t>x</a:t>
            </a:r>
            <a:r>
              <a:rPr dirty="0" sz="1650" spc="-65">
                <a:solidFill>
                  <a:srgbClr val="9AA7B6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B6B6B6"/>
                </a:solidFill>
                <a:latin typeface="Cambria"/>
                <a:cs typeface="Cambria"/>
              </a:rPr>
              <a:t>&amp;vertic</a:t>
            </a:r>
            <a:r>
              <a:rPr dirty="0" sz="1650" spc="10">
                <a:solidFill>
                  <a:srgbClr val="B6B6B6"/>
                </a:solidFill>
                <a:latin typeface="Cambria"/>
                <a:cs typeface="Cambria"/>
              </a:rPr>
              <a:t> </a:t>
            </a:r>
            <a:r>
              <a:rPr dirty="0" sz="1650" spc="95">
                <a:solidFill>
                  <a:srgbClr val="AAAAAA"/>
                </a:solidFill>
                <a:latin typeface="Cambria"/>
                <a:cs typeface="Cambria"/>
              </a:rPr>
              <a:t>al-</a:t>
            </a:r>
            <a:r>
              <a:rPr dirty="0" sz="1650" spc="120">
                <a:solidFill>
                  <a:srgbClr val="AAAAAA"/>
                </a:solidFill>
                <a:latin typeface="Cambria"/>
                <a:cs typeface="Cambria"/>
              </a:rPr>
              <a:t>c</a:t>
            </a:r>
            <a:r>
              <a:rPr dirty="0" sz="1650" spc="-90">
                <a:solidFill>
                  <a:srgbClr val="AAAAAA"/>
                </a:solidFill>
                <a:latin typeface="Cambria"/>
                <a:cs typeface="Cambria"/>
              </a:rPr>
              <a:t> </a:t>
            </a:r>
            <a:r>
              <a:rPr dirty="0" sz="1650" spc="-10">
                <a:solidFill>
                  <a:srgbClr val="ACACAC"/>
                </a:solidFill>
                <a:latin typeface="Cambria"/>
                <a:cs typeface="Cambria"/>
              </a:rPr>
              <a:t>enter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200" spc="-10">
                <a:solidFill>
                  <a:srgbClr val="B1B1B1"/>
                </a:solidFill>
                <a:latin typeface="Cambria"/>
                <a:cs typeface="Cambria"/>
              </a:rPr>
              <a:t>Source: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706" y="5120263"/>
            <a:ext cx="20080605" cy="808990"/>
            <a:chOff x="15706" y="5120263"/>
            <a:chExt cx="20080605" cy="808990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6506" y="5135969"/>
              <a:ext cx="298420" cy="78531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24025" y="5434389"/>
              <a:ext cx="431924" cy="486896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1478" y="5520774"/>
              <a:ext cx="1123002" cy="40051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65893" y="5402976"/>
              <a:ext cx="204182" cy="35339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18263" y="5135969"/>
              <a:ext cx="588987" cy="384805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5706" y="5120263"/>
              <a:ext cx="20080605" cy="808990"/>
            </a:xfrm>
            <a:custGeom>
              <a:avLst/>
              <a:gdLst/>
              <a:ahLst/>
              <a:cxnLst/>
              <a:rect l="l" t="t" r="r" b="b"/>
              <a:pathLst>
                <a:path w="20080605" h="808989">
                  <a:moveTo>
                    <a:pt x="20080541" y="808875"/>
                  </a:moveTo>
                  <a:lnTo>
                    <a:pt x="0" y="808875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808875"/>
                  </a:lnTo>
                  <a:close/>
                </a:path>
              </a:pathLst>
            </a:custGeom>
            <a:solidFill>
              <a:srgbClr val="070E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050529" y="5047239"/>
            <a:ext cx="14804390" cy="82486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840"/>
              </a:spcBef>
            </a:pPr>
            <a:r>
              <a:rPr dirty="0" sz="1650">
                <a:solidFill>
                  <a:srgbClr val="ACACAC"/>
                </a:solidFill>
                <a:latin typeface="Cambria"/>
                <a:cs typeface="Cambria"/>
              </a:rPr>
              <a:t>https://www.micro</a:t>
            </a:r>
            <a:r>
              <a:rPr dirty="0" sz="1650">
                <a:solidFill>
                  <a:srgbClr val="00030F"/>
                </a:solidFill>
                <a:latin typeface="Cambria"/>
                <a:cs typeface="Cambria"/>
              </a:rPr>
              <a:t>s</a:t>
            </a:r>
            <a:r>
              <a:rPr dirty="0" sz="1650" spc="-145">
                <a:solidFill>
                  <a:srgbClr val="00030F"/>
                </a:solidFill>
                <a:latin typeface="Cambria"/>
                <a:cs typeface="Cambria"/>
              </a:rPr>
              <a:t> </a:t>
            </a:r>
            <a:r>
              <a:rPr dirty="0" sz="1650" spc="65">
                <a:solidFill>
                  <a:srgbClr val="A8A8A8"/>
                </a:solidFill>
                <a:latin typeface="Cambria"/>
                <a:cs typeface="Cambria"/>
              </a:rPr>
              <a:t>oft</a:t>
            </a:r>
            <a:r>
              <a:rPr dirty="0" sz="1650" spc="110">
                <a:solidFill>
                  <a:srgbClr val="A8A8A8"/>
                </a:solidFill>
                <a:latin typeface="Cambria"/>
                <a:cs typeface="Cambria"/>
              </a:rPr>
              <a:t>  </a:t>
            </a:r>
            <a:r>
              <a:rPr dirty="0" sz="1650" spc="175">
                <a:solidFill>
                  <a:srgbClr val="000811"/>
                </a:solidFill>
                <a:latin typeface="Cambria"/>
                <a:cs typeface="Cambria"/>
              </a:rPr>
              <a:t>c</a:t>
            </a:r>
            <a:r>
              <a:rPr dirty="0" sz="1650" spc="175">
                <a:solidFill>
                  <a:srgbClr val="A8A8A8"/>
                </a:solidFill>
                <a:latin typeface="Cambria"/>
                <a:cs typeface="Cambria"/>
              </a:rPr>
              <a:t>o</a:t>
            </a:r>
            <a:r>
              <a:rPr dirty="0" sz="1650" spc="-155">
                <a:solidFill>
                  <a:srgbClr val="A8A8A8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B1B1B1"/>
                </a:solidFill>
                <a:latin typeface="Cambria"/>
                <a:cs typeface="Cambria"/>
              </a:rPr>
              <a:t>m/en-us/micro</a:t>
            </a:r>
            <a:r>
              <a:rPr dirty="0" sz="1650" spc="140">
                <a:solidFill>
                  <a:srgbClr val="B1B1B1"/>
                </a:solidFill>
                <a:latin typeface="Cambria"/>
                <a:cs typeface="Cambria"/>
              </a:rPr>
              <a:t> </a:t>
            </a:r>
            <a:r>
              <a:rPr dirty="0" sz="1650" spc="-30">
                <a:solidFill>
                  <a:srgbClr val="A3A3A3"/>
                </a:solidFill>
                <a:latin typeface="Cambria"/>
                <a:cs typeface="Cambria"/>
              </a:rPr>
              <a:t>s</a:t>
            </a:r>
            <a:r>
              <a:rPr dirty="0" sz="1650" spc="-145">
                <a:solidFill>
                  <a:srgbClr val="A3A3A3"/>
                </a:solidFill>
                <a:latin typeface="Cambria"/>
                <a:cs typeface="Cambria"/>
              </a:rPr>
              <a:t> </a:t>
            </a:r>
            <a:r>
              <a:rPr dirty="0" sz="1650" spc="60">
                <a:solidFill>
                  <a:srgbClr val="ACACAC"/>
                </a:solidFill>
                <a:latin typeface="Cambria"/>
                <a:cs typeface="Cambria"/>
              </a:rPr>
              <a:t>oft-</a:t>
            </a:r>
            <a:r>
              <a:rPr dirty="0" sz="1650" spc="80">
                <a:solidFill>
                  <a:srgbClr val="ACACAC"/>
                </a:solidFill>
                <a:latin typeface="Cambria"/>
                <a:cs typeface="Cambria"/>
              </a:rPr>
              <a:t>3ó5/bla</a:t>
            </a:r>
            <a:r>
              <a:rPr dirty="0" sz="1650" spc="110">
                <a:solidFill>
                  <a:srgbClr val="ACACAC"/>
                </a:solidFill>
                <a:latin typeface="Cambria"/>
                <a:cs typeface="Cambria"/>
              </a:rPr>
              <a:t> </a:t>
            </a:r>
            <a:r>
              <a:rPr dirty="0" sz="1650" spc="55">
                <a:solidFill>
                  <a:srgbClr val="B6B6B6"/>
                </a:solidFill>
                <a:latin typeface="Cambria"/>
                <a:cs typeface="Cambria"/>
              </a:rPr>
              <a:t>g/wp-</a:t>
            </a:r>
            <a:r>
              <a:rPr dirty="0" sz="1650" spc="50">
                <a:solidFill>
                  <a:srgbClr val="B6B6B6"/>
                </a:solidFill>
                <a:latin typeface="Cambria"/>
                <a:cs typeface="Cambria"/>
              </a:rPr>
              <a:t>content/upIO</a:t>
            </a:r>
            <a:r>
              <a:rPr dirty="0" sz="1650" spc="-145">
                <a:solidFill>
                  <a:srgbClr val="B6B6B6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A8A8A8"/>
                </a:solidFill>
                <a:latin typeface="Cambria"/>
                <a:cs typeface="Cambria"/>
              </a:rPr>
              <a:t>ad</a:t>
            </a:r>
            <a:r>
              <a:rPr dirty="0" sz="1650" spc="-80">
                <a:solidFill>
                  <a:srgbClr val="A8A8A8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B1B1B1"/>
                </a:solidFill>
                <a:latin typeface="Cambria"/>
                <a:cs typeface="Cambria"/>
              </a:rPr>
              <a:t>s/sites/2/20</a:t>
            </a:r>
            <a:r>
              <a:rPr dirty="0" sz="1650" spc="30">
                <a:solidFill>
                  <a:srgbClr val="B1B1B1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AFAFAF"/>
                </a:solidFill>
                <a:latin typeface="Cambria"/>
                <a:cs typeface="Cambria"/>
              </a:rPr>
              <a:t>25/01/MS*T_</a:t>
            </a:r>
            <a:r>
              <a:rPr dirty="0" sz="1650" spc="130">
                <a:solidFill>
                  <a:srgbClr val="AFAFAF"/>
                </a:solidFill>
                <a:latin typeface="Cambria"/>
                <a:cs typeface="Cambria"/>
              </a:rPr>
              <a:t> </a:t>
            </a:r>
            <a:r>
              <a:rPr dirty="0" sz="1650" spc="70">
                <a:solidFill>
                  <a:srgbClr val="9CA8B5"/>
                </a:solidFill>
                <a:latin typeface="Cambria"/>
                <a:cs typeface="Cambria"/>
              </a:rPr>
              <a:t>M</a:t>
            </a:r>
            <a:r>
              <a:rPr dirty="0" sz="1650" spc="70">
                <a:solidFill>
                  <a:srgbClr val="B1B1B1"/>
                </a:solidFill>
                <a:latin typeface="Cambria"/>
                <a:cs typeface="Cambria"/>
              </a:rPr>
              <a:t>3ó5_</a:t>
            </a:r>
            <a:r>
              <a:rPr dirty="0" sz="1650" spc="60">
                <a:solidFill>
                  <a:srgbClr val="B1B1B1"/>
                </a:solidFill>
                <a:latin typeface="Cambria"/>
                <a:cs typeface="Cambria"/>
              </a:rPr>
              <a:t> </a:t>
            </a:r>
            <a:r>
              <a:rPr dirty="0" sz="1650" spc="105">
                <a:solidFill>
                  <a:srgbClr val="AAAAAA"/>
                </a:solidFill>
                <a:latin typeface="Cambria"/>
                <a:cs typeface="Cambria"/>
              </a:rPr>
              <a:t>Dec</a:t>
            </a:r>
            <a:r>
              <a:rPr dirty="0" sz="1650" spc="50">
                <a:solidFill>
                  <a:srgbClr val="AAAAAA"/>
                </a:solidFill>
                <a:latin typeface="Cambria"/>
                <a:cs typeface="Cambria"/>
              </a:rPr>
              <a:t> </a:t>
            </a:r>
            <a:r>
              <a:rPr dirty="0" sz="1650" spc="-60">
                <a:solidFill>
                  <a:srgbClr val="AAAAAA"/>
                </a:solidFill>
                <a:latin typeface="Cambria"/>
                <a:cs typeface="Cambria"/>
              </a:rPr>
              <a:t>_11_</a:t>
            </a:r>
            <a:r>
              <a:rPr dirty="0" sz="1650" spc="90">
                <a:solidFill>
                  <a:srgbClr val="AAAAAA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A8A8A8"/>
                </a:solidFill>
                <a:latin typeface="Cambria"/>
                <a:cs typeface="Cambria"/>
              </a:rPr>
              <a:t>Bla</a:t>
            </a:r>
            <a:r>
              <a:rPr dirty="0" sz="1650" spc="-30">
                <a:solidFill>
                  <a:srgbClr val="A8A8A8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B3B3B3"/>
                </a:solidFill>
                <a:latin typeface="Cambria"/>
                <a:cs typeface="Cambria"/>
              </a:rPr>
              <a:t>g</a:t>
            </a:r>
            <a:r>
              <a:rPr dirty="0" sz="1650" spc="55">
                <a:solidFill>
                  <a:srgbClr val="B3B3B3"/>
                </a:solidFill>
                <a:latin typeface="Cambria"/>
                <a:cs typeface="Cambria"/>
              </a:rPr>
              <a:t> </a:t>
            </a:r>
            <a:r>
              <a:rPr dirty="0" sz="1650" spc="55">
                <a:solidFill>
                  <a:srgbClr val="82879A"/>
                </a:solidFill>
                <a:latin typeface="Cambria"/>
                <a:cs typeface="Cambria"/>
              </a:rPr>
              <a:t>_</a:t>
            </a:r>
            <a:r>
              <a:rPr dirty="0" sz="1650" spc="25">
                <a:solidFill>
                  <a:srgbClr val="82879A"/>
                </a:solidFill>
                <a:latin typeface="Cambria"/>
                <a:cs typeface="Cambria"/>
              </a:rPr>
              <a:t> </a:t>
            </a:r>
            <a:r>
              <a:rPr dirty="0" sz="1650" spc="60">
                <a:solidFill>
                  <a:srgbClr val="AAAAAA"/>
                </a:solidFill>
                <a:latin typeface="Cambria"/>
                <a:cs typeface="Cambria"/>
              </a:rPr>
              <a:t>Re</a:t>
            </a:r>
            <a:r>
              <a:rPr dirty="0" sz="1650" spc="60">
                <a:solidFill>
                  <a:srgbClr val="B5B5B5"/>
                </a:solidFill>
                <a:latin typeface="Cambria"/>
                <a:cs typeface="Cambria"/>
              </a:rPr>
              <a:t>ques</a:t>
            </a:r>
            <a:r>
              <a:rPr dirty="0" sz="1650" spc="-114">
                <a:solidFill>
                  <a:srgbClr val="B5B5B5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A5A5A5"/>
                </a:solidFill>
                <a:latin typeface="Cambria"/>
                <a:cs typeface="Cambria"/>
              </a:rPr>
              <a:t>t</a:t>
            </a:r>
            <a:r>
              <a:rPr dirty="0" sz="1650">
                <a:solidFill>
                  <a:srgbClr val="ACACAC"/>
                </a:solidFill>
                <a:latin typeface="Cambria"/>
                <a:cs typeface="Cambria"/>
              </a:rPr>
              <a:t>7_</a:t>
            </a:r>
            <a:r>
              <a:rPr dirty="0" sz="1650" spc="-45">
                <a:solidFill>
                  <a:srgbClr val="ACACAC"/>
                </a:solidFill>
                <a:latin typeface="Cambria"/>
                <a:cs typeface="Cambria"/>
              </a:rPr>
              <a:t> </a:t>
            </a:r>
            <a:r>
              <a:rPr dirty="0" sz="1650" spc="-10">
                <a:solidFill>
                  <a:srgbClr val="B3B3B3"/>
                </a:solidFill>
                <a:latin typeface="Cambria"/>
                <a:cs typeface="Cambria"/>
              </a:rPr>
              <a:t>231211_vO1.jpg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200" spc="-10">
                <a:solidFill>
                  <a:srgbClr val="B5B5B5"/>
                </a:solidFill>
                <a:latin typeface="Cambria"/>
                <a:cs typeface="Cambria"/>
              </a:rPr>
              <a:t>Source: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5706" y="6392475"/>
            <a:ext cx="20080605" cy="808990"/>
            <a:chOff x="15706" y="6392475"/>
            <a:chExt cx="20080605" cy="808990"/>
          </a:xfrm>
        </p:grpSpPr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69053" y="6408182"/>
              <a:ext cx="801022" cy="785316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5706" y="6392475"/>
              <a:ext cx="20080605" cy="808990"/>
            </a:xfrm>
            <a:custGeom>
              <a:avLst/>
              <a:gdLst/>
              <a:ahLst/>
              <a:cxnLst/>
              <a:rect l="l" t="t" r="r" b="b"/>
              <a:pathLst>
                <a:path w="20080605" h="808990">
                  <a:moveTo>
                    <a:pt x="20080541" y="808875"/>
                  </a:moveTo>
                  <a:lnTo>
                    <a:pt x="0" y="808875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808875"/>
                  </a:lnTo>
                  <a:close/>
                </a:path>
              </a:pathLst>
            </a:custGeom>
            <a:solidFill>
              <a:srgbClr val="080F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349620" y="6410533"/>
            <a:ext cx="29083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40">
                <a:solidFill>
                  <a:srgbClr val="D6D6D6"/>
                </a:solidFill>
                <a:latin typeface="Arial MT"/>
                <a:cs typeface="Arial MT"/>
              </a:rPr>
              <a:t>IIdI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508644" y="6410533"/>
            <a:ext cx="8953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50">
                <a:solidFill>
                  <a:srgbClr val="89A1A7"/>
                </a:solidFill>
                <a:latin typeface="Arial MT"/>
                <a:cs typeface="Arial MT"/>
              </a:rPr>
              <a:t>„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616996" y="6351428"/>
            <a:ext cx="12564745" cy="79946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447165">
              <a:lnSpc>
                <a:spcPct val="100000"/>
              </a:lnSpc>
              <a:spcBef>
                <a:spcPts val="590"/>
              </a:spcBef>
            </a:pPr>
            <a:r>
              <a:rPr dirty="0" sz="1650" spc="55">
                <a:solidFill>
                  <a:srgbClr val="AAAAAA"/>
                </a:solidFill>
                <a:latin typeface="Arial MT"/>
                <a:cs typeface="Arial MT"/>
              </a:rPr>
              <a:t>https</a:t>
            </a:r>
            <a:r>
              <a:rPr dirty="0" sz="1650" spc="39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650" spc="60">
                <a:solidFill>
                  <a:srgbClr val="A1A1A1"/>
                </a:solidFill>
                <a:latin typeface="Arial MT"/>
                <a:cs typeface="Arial MT"/>
              </a:rPr>
              <a:t>//we</a:t>
            </a:r>
            <a:r>
              <a:rPr dirty="0" sz="1650" spc="60">
                <a:solidFill>
                  <a:srgbClr val="AFAFAF"/>
                </a:solidFill>
                <a:latin typeface="Arial MT"/>
                <a:cs typeface="Arial MT"/>
              </a:rPr>
              <a:t>blanc</a:t>
            </a:r>
            <a:r>
              <a:rPr dirty="0" sz="1650" spc="-7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A5A5A5"/>
                </a:solidFill>
                <a:latin typeface="Arial MT"/>
                <a:cs typeface="Arial MT"/>
              </a:rPr>
              <a:t>e-online</a:t>
            </a:r>
            <a:r>
              <a:rPr dirty="0" sz="1650" spc="37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1650" spc="65">
                <a:solidFill>
                  <a:srgbClr val="B1B1B1"/>
                </a:solidFill>
                <a:latin typeface="Arial MT"/>
                <a:cs typeface="Arial MT"/>
              </a:rPr>
              <a:t>co</a:t>
            </a:r>
            <a:r>
              <a:rPr dirty="0" sz="1650" spc="-26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1650" spc="114">
                <a:solidFill>
                  <a:srgbClr val="AAAAAA"/>
                </a:solidFill>
                <a:latin typeface="Arial MT"/>
                <a:cs typeface="Arial MT"/>
              </a:rPr>
              <a:t>m/wp-</a:t>
            </a:r>
            <a:r>
              <a:rPr dirty="0" sz="1650" spc="105">
                <a:solidFill>
                  <a:srgbClr val="AAAAAA"/>
                </a:solidFill>
                <a:latin typeface="Arial MT"/>
                <a:cs typeface="Arial MT"/>
              </a:rPr>
              <a:t>c</a:t>
            </a:r>
            <a:r>
              <a:rPr dirty="0" sz="1650" spc="-9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650" spc="60">
                <a:solidFill>
                  <a:srgbClr val="B5B5B5"/>
                </a:solidFill>
                <a:latin typeface="Arial MT"/>
                <a:cs typeface="Arial MT"/>
              </a:rPr>
              <a:t>ontent/up</a:t>
            </a:r>
            <a:r>
              <a:rPr dirty="0" sz="1650" spc="-229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9E9E9E"/>
                </a:solidFill>
                <a:latin typeface="Arial MT"/>
                <a:cs typeface="Arial MT"/>
              </a:rPr>
              <a:t>la</a:t>
            </a:r>
            <a:r>
              <a:rPr dirty="0" sz="1650" spc="-22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B1B1B1"/>
                </a:solidFill>
                <a:latin typeface="Arial MT"/>
                <a:cs typeface="Arial MT"/>
              </a:rPr>
              <a:t>ad</a:t>
            </a:r>
            <a:r>
              <a:rPr dirty="0" sz="1650" spc="-254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1650" spc="110">
                <a:solidFill>
                  <a:srgbClr val="AEAEAE"/>
                </a:solidFill>
                <a:latin typeface="Arial MT"/>
                <a:cs typeface="Arial MT"/>
              </a:rPr>
              <a:t>s/20</a:t>
            </a:r>
            <a:r>
              <a:rPr dirty="0" sz="1650" spc="-19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1650" spc="45">
                <a:solidFill>
                  <a:srgbClr val="AEAEAE"/>
                </a:solidFill>
                <a:latin typeface="Arial MT"/>
                <a:cs typeface="Arial MT"/>
              </a:rPr>
              <a:t>25/01/transfo</a:t>
            </a:r>
            <a:r>
              <a:rPr dirty="0" sz="1650" spc="-6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9A9A9A"/>
                </a:solidFill>
                <a:latin typeface="Arial MT"/>
                <a:cs typeface="Arial MT"/>
              </a:rPr>
              <a:t>rming</a:t>
            </a:r>
            <a:r>
              <a:rPr dirty="0" sz="1650" spc="-185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B3B3B3"/>
                </a:solidFill>
                <a:latin typeface="Arial MT"/>
                <a:cs typeface="Arial MT"/>
              </a:rPr>
              <a:t>-insig</a:t>
            </a:r>
            <a:r>
              <a:rPr dirty="0" sz="1650" spc="-28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1650" spc="50">
                <a:solidFill>
                  <a:srgbClr val="B3B3B3"/>
                </a:solidFill>
                <a:latin typeface="Arial MT"/>
                <a:cs typeface="Arial MT"/>
              </a:rPr>
              <a:t>hts-</a:t>
            </a:r>
            <a:r>
              <a:rPr dirty="0" sz="1650">
                <a:solidFill>
                  <a:srgbClr val="B3B3B3"/>
                </a:solidFill>
                <a:latin typeface="Arial MT"/>
                <a:cs typeface="Arial MT"/>
              </a:rPr>
              <a:t>ai-in-</a:t>
            </a:r>
            <a:r>
              <a:rPr dirty="0" sz="1650" spc="70">
                <a:solidFill>
                  <a:srgbClr val="B3B3B3"/>
                </a:solidFill>
                <a:latin typeface="Arial MT"/>
                <a:cs typeface="Arial MT"/>
              </a:rPr>
              <a:t>d</a:t>
            </a:r>
            <a:r>
              <a:rPr dirty="0" sz="1650" spc="-17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B3B3B3"/>
                </a:solidFill>
                <a:latin typeface="Arial MT"/>
                <a:cs typeface="Arial MT"/>
              </a:rPr>
              <a:t>ata-vis</a:t>
            </a:r>
            <a:r>
              <a:rPr dirty="0" sz="1650" spc="-21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BFBFBF"/>
                </a:solidFill>
                <a:latin typeface="Arial MT"/>
                <a:cs typeface="Arial MT"/>
              </a:rPr>
              <a:t>ualization</a:t>
            </a:r>
            <a:r>
              <a:rPr dirty="0" sz="1650" spc="29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1650" spc="60">
                <a:solidFill>
                  <a:srgbClr val="A3A3A3"/>
                </a:solidFill>
                <a:latin typeface="Arial MT"/>
                <a:cs typeface="Arial MT"/>
              </a:rPr>
              <a:t>webp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668655" algn="l"/>
                <a:tab pos="1433195" algn="l"/>
              </a:tabLst>
            </a:pPr>
            <a:r>
              <a:rPr dirty="0" sz="2450" spc="-25">
                <a:solidFill>
                  <a:srgbClr val="D6D6D6"/>
                </a:solidFill>
                <a:latin typeface="Courier New"/>
                <a:cs typeface="Courier New"/>
              </a:rPr>
              <a:t>j7</a:t>
            </a:r>
            <a:r>
              <a:rPr dirty="0" sz="2450">
                <a:solidFill>
                  <a:srgbClr val="D6D6D6"/>
                </a:solidFill>
                <a:latin typeface="Courier New"/>
                <a:cs typeface="Courier New"/>
              </a:rPr>
              <a:t>	</a:t>
            </a:r>
            <a:r>
              <a:rPr dirty="0" sz="2450" spc="-680">
                <a:solidFill>
                  <a:srgbClr val="466670"/>
                </a:solidFill>
                <a:latin typeface="Courier New"/>
                <a:cs typeface="Courier New"/>
              </a:rPr>
              <a:t>.’</a:t>
            </a:r>
            <a:r>
              <a:rPr dirty="0" sz="2450">
                <a:solidFill>
                  <a:srgbClr val="466670"/>
                </a:solidFill>
                <a:latin typeface="Courier New"/>
                <a:cs typeface="Courier New"/>
              </a:rPr>
              <a:t>	</a:t>
            </a:r>
            <a:r>
              <a:rPr dirty="0" sz="2450" spc="-270">
                <a:solidFill>
                  <a:srgbClr val="AFAFAF"/>
                </a:solidFill>
                <a:latin typeface="Courier New"/>
                <a:cs typeface="Courier New"/>
              </a:rPr>
              <a:t>Souce:</a:t>
            </a:r>
            <a:endParaRPr sz="2450">
              <a:latin typeface="Courier New"/>
              <a:cs typeface="Courier New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5706" y="7727513"/>
            <a:ext cx="20080605" cy="934719"/>
            <a:chOff x="15706" y="7727513"/>
            <a:chExt cx="20080605" cy="934719"/>
          </a:xfrm>
        </p:grpSpPr>
        <p:pic>
          <p:nvPicPr>
            <p:cNvPr id="26" name="object 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56506" y="7821751"/>
              <a:ext cx="1413569" cy="785316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5706" y="7727513"/>
              <a:ext cx="20080605" cy="934719"/>
            </a:xfrm>
            <a:custGeom>
              <a:avLst/>
              <a:gdLst/>
              <a:ahLst/>
              <a:cxnLst/>
              <a:rect l="l" t="t" r="r" b="b"/>
              <a:pathLst>
                <a:path w="20080605" h="934720">
                  <a:moveTo>
                    <a:pt x="20080541" y="934526"/>
                  </a:moveTo>
                  <a:lnTo>
                    <a:pt x="0" y="934526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934526"/>
                  </a:lnTo>
                  <a:close/>
                </a:path>
              </a:pathLst>
            </a:custGeom>
            <a:solidFill>
              <a:srgbClr val="0811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920217" y="8355500"/>
            <a:ext cx="116839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50">
                <a:solidFill>
                  <a:srgbClr val="7282A3"/>
                </a:solidFill>
                <a:latin typeface="Cambria"/>
                <a:cs typeface="Cambria"/>
              </a:rPr>
              <a:t>-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331507" y="7611413"/>
            <a:ext cx="16494125" cy="1103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27075">
              <a:lnSpc>
                <a:spcPct val="114500"/>
              </a:lnSpc>
              <a:spcBef>
                <a:spcPts val="100"/>
              </a:spcBef>
              <a:tabLst>
                <a:tab pos="285115" algn="l"/>
                <a:tab pos="732790" algn="l"/>
              </a:tabLst>
            </a:pPr>
            <a:r>
              <a:rPr dirty="0" sz="1800" spc="-60">
                <a:solidFill>
                  <a:srgbClr val="A7A7A7"/>
                </a:solidFill>
                <a:latin typeface="Cambria"/>
                <a:cs typeface="Cambria"/>
              </a:rPr>
              <a:t>https://wo</a:t>
            </a:r>
            <a:r>
              <a:rPr dirty="0" sz="1800" spc="-25">
                <a:solidFill>
                  <a:srgbClr val="A7A7A7"/>
                </a:solidFill>
                <a:latin typeface="Cambria"/>
                <a:cs typeface="Cambria"/>
              </a:rPr>
              <a:t> </a:t>
            </a:r>
            <a:r>
              <a:rPr dirty="0" sz="1800" spc="-120">
                <a:solidFill>
                  <a:srgbClr val="ACACAC"/>
                </a:solidFill>
                <a:latin typeface="Cambria"/>
                <a:cs typeface="Cambria"/>
              </a:rPr>
              <a:t>rkhub.</a:t>
            </a:r>
            <a:r>
              <a:rPr dirty="0" sz="1800" spc="-95">
                <a:solidFill>
                  <a:srgbClr val="ACACAC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AFAFAF"/>
                </a:solidFill>
                <a:latin typeface="Cambria"/>
                <a:cs typeface="Cambria"/>
              </a:rPr>
              <a:t>ai/wp-</a:t>
            </a:r>
            <a:r>
              <a:rPr dirty="0" sz="1800" spc="-25">
                <a:solidFill>
                  <a:srgbClr val="AFAFAF"/>
                </a:solidFill>
                <a:latin typeface="Cambria"/>
                <a:cs typeface="Cambria"/>
              </a:rPr>
              <a:t>content/up</a:t>
            </a:r>
            <a:r>
              <a:rPr dirty="0" sz="1800" spc="-25">
                <a:solidFill>
                  <a:srgbClr val="B1B1B1"/>
                </a:solidFill>
                <a:latin typeface="Cambria"/>
                <a:cs typeface="Cambria"/>
              </a:rPr>
              <a:t>la</a:t>
            </a:r>
            <a:r>
              <a:rPr dirty="0" sz="1800" spc="-145">
                <a:solidFill>
                  <a:srgbClr val="B1B1B1"/>
                </a:solidFill>
                <a:latin typeface="Cambria"/>
                <a:cs typeface="Cambria"/>
              </a:rPr>
              <a:t> </a:t>
            </a:r>
            <a:r>
              <a:rPr dirty="0" sz="1800" spc="-75">
                <a:solidFill>
                  <a:srgbClr val="A3A3A3"/>
                </a:solidFill>
                <a:latin typeface="Cambria"/>
                <a:cs typeface="Cambria"/>
              </a:rPr>
              <a:t>ad</a:t>
            </a:r>
            <a:r>
              <a:rPr dirty="0" sz="1800" spc="-150">
                <a:solidFill>
                  <a:srgbClr val="A3A3A3"/>
                </a:solidFill>
                <a:latin typeface="Cambria"/>
                <a:cs typeface="Cambria"/>
              </a:rPr>
              <a:t> </a:t>
            </a:r>
            <a:r>
              <a:rPr dirty="0" sz="1800" spc="-35">
                <a:solidFill>
                  <a:srgbClr val="AAAAAA"/>
                </a:solidFill>
                <a:latin typeface="Cambria"/>
                <a:cs typeface="Cambria"/>
              </a:rPr>
              <a:t>s/2O24/0</a:t>
            </a:r>
            <a:r>
              <a:rPr dirty="0" sz="1800" spc="-190">
                <a:solidFill>
                  <a:srgbClr val="AAAAAA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B3B3B3"/>
                </a:solidFill>
                <a:latin typeface="Cambria"/>
                <a:cs typeface="Cambria"/>
              </a:rPr>
              <a:t>9/A-</a:t>
            </a:r>
            <a:r>
              <a:rPr dirty="0" sz="1800" spc="-60">
                <a:solidFill>
                  <a:srgbClr val="B3B3B3"/>
                </a:solidFill>
                <a:latin typeface="Cambria"/>
                <a:cs typeface="Cambria"/>
              </a:rPr>
              <a:t>mo</a:t>
            </a:r>
            <a:r>
              <a:rPr dirty="0" sz="1800" spc="-120">
                <a:solidFill>
                  <a:srgbClr val="B3B3B3"/>
                </a:solidFill>
                <a:latin typeface="Cambria"/>
                <a:cs typeface="Cambria"/>
              </a:rPr>
              <a:t> </a:t>
            </a:r>
            <a:r>
              <a:rPr dirty="0" sz="1800" spc="-70">
                <a:solidFill>
                  <a:srgbClr val="AEAEAE"/>
                </a:solidFill>
                <a:latin typeface="Cambria"/>
                <a:cs typeface="Cambria"/>
              </a:rPr>
              <a:t>d</a:t>
            </a:r>
            <a:r>
              <a:rPr dirty="0" sz="1800" spc="-190">
                <a:solidFill>
                  <a:srgbClr val="AEAEAE"/>
                </a:solidFill>
                <a:latin typeface="Cambria"/>
                <a:cs typeface="Cambria"/>
              </a:rPr>
              <a:t> </a:t>
            </a:r>
            <a:r>
              <a:rPr dirty="0" sz="1800" spc="190">
                <a:solidFill>
                  <a:srgbClr val="AAAAAA"/>
                </a:solidFill>
                <a:latin typeface="Cambria"/>
                <a:cs typeface="Cambria"/>
              </a:rPr>
              <a:t>em-</a:t>
            </a:r>
            <a:r>
              <a:rPr dirty="0" sz="1800" spc="145">
                <a:solidFill>
                  <a:srgbClr val="AAAAAA"/>
                </a:solidFill>
                <a:latin typeface="Cambria"/>
                <a:cs typeface="Cambria"/>
              </a:rPr>
              <a:t>of</a:t>
            </a:r>
            <a:r>
              <a:rPr dirty="0" sz="1800" spc="100">
                <a:solidFill>
                  <a:srgbClr val="AAAAAA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B3B3B3"/>
                </a:solidFill>
                <a:latin typeface="Cambria"/>
                <a:cs typeface="Cambria"/>
              </a:rPr>
              <a:t>ce-</a:t>
            </a:r>
            <a:r>
              <a:rPr dirty="0" sz="1800" spc="-55">
                <a:solidFill>
                  <a:srgbClr val="B3B3B3"/>
                </a:solidFill>
                <a:latin typeface="Cambria"/>
                <a:cs typeface="Cambria"/>
              </a:rPr>
              <a:t>with-</a:t>
            </a:r>
            <a:r>
              <a:rPr dirty="0" sz="1800" spc="-50">
                <a:solidFill>
                  <a:srgbClr val="B3B3B3"/>
                </a:solidFill>
                <a:latin typeface="Cambria"/>
                <a:cs typeface="Cambria"/>
              </a:rPr>
              <a:t>AI-</a:t>
            </a:r>
            <a:r>
              <a:rPr dirty="0" sz="1800" spc="-60">
                <a:solidFill>
                  <a:srgbClr val="B3B3B3"/>
                </a:solidFill>
                <a:latin typeface="Cambria"/>
                <a:cs typeface="Cambria"/>
              </a:rPr>
              <a:t>hOIO</a:t>
            </a:r>
            <a:r>
              <a:rPr dirty="0" sz="1800" spc="-200">
                <a:solidFill>
                  <a:srgbClr val="B3B3B3"/>
                </a:solidFill>
                <a:latin typeface="Cambria"/>
                <a:cs typeface="Cambria"/>
              </a:rPr>
              <a:t> </a:t>
            </a:r>
            <a:r>
              <a:rPr dirty="0" sz="1800" spc="-45">
                <a:solidFill>
                  <a:srgbClr val="A8A8A8"/>
                </a:solidFill>
                <a:latin typeface="Cambria"/>
                <a:cs typeface="Cambria"/>
              </a:rPr>
              <a:t>g</a:t>
            </a:r>
            <a:r>
              <a:rPr dirty="0" sz="1800" spc="-130">
                <a:solidFill>
                  <a:srgbClr val="A8A8A8"/>
                </a:solidFill>
                <a:latin typeface="Cambria"/>
                <a:cs typeface="Cambria"/>
              </a:rPr>
              <a:t> </a:t>
            </a:r>
            <a:r>
              <a:rPr dirty="0" sz="1800" spc="-95">
                <a:solidFill>
                  <a:srgbClr val="A5A5A5"/>
                </a:solidFill>
                <a:latin typeface="Cambria"/>
                <a:cs typeface="Cambria"/>
              </a:rPr>
              <a:t>raphic</a:t>
            </a:r>
            <a:r>
              <a:rPr dirty="0" sz="1800" spc="-110">
                <a:solidFill>
                  <a:srgbClr val="A5A5A5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ACACAC"/>
                </a:solidFill>
                <a:latin typeface="Cambria"/>
                <a:cs typeface="Cambria"/>
              </a:rPr>
              <a:t>-as</a:t>
            </a:r>
            <a:r>
              <a:rPr dirty="0" sz="1800" spc="-210">
                <a:solidFill>
                  <a:srgbClr val="ACACAC"/>
                </a:solidFill>
                <a:latin typeface="Cambria"/>
                <a:cs typeface="Cambria"/>
              </a:rPr>
              <a:t> </a:t>
            </a:r>
            <a:r>
              <a:rPr dirty="0" sz="1800" spc="-40">
                <a:solidFill>
                  <a:srgbClr val="B5B5B5"/>
                </a:solidFill>
                <a:latin typeface="Cambria"/>
                <a:cs typeface="Cambria"/>
              </a:rPr>
              <a:t>sistants-</a:t>
            </a:r>
            <a:r>
              <a:rPr dirty="0" sz="1800" spc="-20">
                <a:solidFill>
                  <a:srgbClr val="B5B5B5"/>
                </a:solidFill>
                <a:latin typeface="Cambria"/>
                <a:cs typeface="Cambria"/>
              </a:rPr>
              <a:t>hand</a:t>
            </a:r>
            <a:r>
              <a:rPr dirty="0" sz="1800" spc="95">
                <a:solidFill>
                  <a:srgbClr val="B5B5B5"/>
                </a:solidFill>
                <a:latin typeface="Cambria"/>
                <a:cs typeface="Cambria"/>
              </a:rPr>
              <a:t> </a:t>
            </a:r>
            <a:r>
              <a:rPr dirty="0" sz="1800" spc="-125">
                <a:solidFill>
                  <a:srgbClr val="999999"/>
                </a:solidFill>
                <a:latin typeface="Cambria"/>
                <a:cs typeface="Cambria"/>
              </a:rPr>
              <a:t>ling</a:t>
            </a:r>
            <a:r>
              <a:rPr dirty="0" sz="1800" spc="-110">
                <a:solidFill>
                  <a:srgbClr val="999999"/>
                </a:solidFill>
                <a:latin typeface="Cambria"/>
                <a:cs typeface="Cambria"/>
              </a:rPr>
              <a:t> </a:t>
            </a:r>
            <a:r>
              <a:rPr dirty="0" sz="1800" spc="-10">
                <a:solidFill>
                  <a:srgbClr val="ACACAC"/>
                </a:solidFill>
                <a:latin typeface="Cambria"/>
                <a:cs typeface="Cambria"/>
              </a:rPr>
              <a:t>-emails-</a:t>
            </a:r>
            <a:r>
              <a:rPr dirty="0" sz="1800">
                <a:solidFill>
                  <a:srgbClr val="ACACAC"/>
                </a:solidFill>
                <a:latin typeface="Cambria"/>
                <a:cs typeface="Cambria"/>
              </a:rPr>
              <a:t>d </a:t>
            </a:r>
            <a:r>
              <a:rPr dirty="0" sz="1800" spc="-40">
                <a:solidFill>
                  <a:srgbClr val="ACACAC"/>
                </a:solidFill>
                <a:latin typeface="Cambria"/>
                <a:cs typeface="Cambria"/>
              </a:rPr>
              <a:t>ata-</a:t>
            </a:r>
            <a:r>
              <a:rPr dirty="0" sz="1800" spc="-50">
                <a:solidFill>
                  <a:srgbClr val="ACACAC"/>
                </a:solidFill>
                <a:latin typeface="Cambria"/>
                <a:cs typeface="Cambria"/>
              </a:rPr>
              <a:t>and</a:t>
            </a:r>
            <a:r>
              <a:rPr dirty="0" sz="1800" spc="-65">
                <a:solidFill>
                  <a:srgbClr val="ACACAC"/>
                </a:solidFill>
                <a:latin typeface="Cambria"/>
                <a:cs typeface="Cambria"/>
              </a:rPr>
              <a:t> </a:t>
            </a:r>
            <a:r>
              <a:rPr dirty="0" sz="1800" spc="-35">
                <a:solidFill>
                  <a:srgbClr val="AAAAAA"/>
                </a:solidFill>
                <a:latin typeface="Cambria"/>
                <a:cs typeface="Cambria"/>
              </a:rPr>
              <a:t>-</a:t>
            </a:r>
            <a:r>
              <a:rPr dirty="0" sz="1800">
                <a:solidFill>
                  <a:srgbClr val="AAAAAA"/>
                </a:solidFill>
                <a:latin typeface="Cambria"/>
                <a:cs typeface="Cambria"/>
              </a:rPr>
              <a:t>c</a:t>
            </a:r>
            <a:r>
              <a:rPr dirty="0" sz="1800" spc="85">
                <a:solidFill>
                  <a:srgbClr val="AAAAAA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A8A8A8"/>
                </a:solidFill>
                <a:latin typeface="Cambria"/>
                <a:cs typeface="Cambria"/>
              </a:rPr>
              <a:t>usto</a:t>
            </a:r>
            <a:r>
              <a:rPr dirty="0" sz="1800" spc="-204">
                <a:solidFill>
                  <a:srgbClr val="A8A8A8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AAAAAA"/>
                </a:solidFill>
                <a:latin typeface="Cambria"/>
                <a:cs typeface="Cambria"/>
              </a:rPr>
              <a:t>mer-</a:t>
            </a:r>
            <a:r>
              <a:rPr dirty="0" sz="1800" spc="-40">
                <a:solidFill>
                  <a:srgbClr val="AAAAAA"/>
                </a:solidFill>
                <a:latin typeface="Cambria"/>
                <a:cs typeface="Cambria"/>
              </a:rPr>
              <a:t>s</a:t>
            </a:r>
            <a:r>
              <a:rPr dirty="0" sz="1800" spc="-95">
                <a:solidFill>
                  <a:srgbClr val="AAAAAA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ACACAC"/>
                </a:solidFill>
                <a:latin typeface="Cambria"/>
                <a:cs typeface="Cambria"/>
              </a:rPr>
              <a:t>up</a:t>
            </a:r>
            <a:r>
              <a:rPr dirty="0" sz="1800">
                <a:solidFill>
                  <a:srgbClr val="A8A8A8"/>
                </a:solidFill>
                <a:latin typeface="Cambria"/>
                <a:cs typeface="Cambria"/>
              </a:rPr>
              <a:t>pa</a:t>
            </a:r>
            <a:r>
              <a:rPr dirty="0" sz="1800" spc="-150">
                <a:solidFill>
                  <a:srgbClr val="A8A8A8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B1B1B1"/>
                </a:solidFill>
                <a:latin typeface="Cambria"/>
                <a:cs typeface="Cambria"/>
              </a:rPr>
              <a:t>rt-</a:t>
            </a:r>
            <a:r>
              <a:rPr dirty="0" sz="1800" spc="-55">
                <a:solidFill>
                  <a:srgbClr val="B1B1B1"/>
                </a:solidFill>
                <a:latin typeface="Cambria"/>
                <a:cs typeface="Cambria"/>
              </a:rPr>
              <a:t>simultaneo</a:t>
            </a:r>
            <a:r>
              <a:rPr dirty="0" sz="1800" spc="20">
                <a:solidFill>
                  <a:srgbClr val="B1B1B1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ACACAC"/>
                </a:solidFill>
                <a:latin typeface="Cambria"/>
                <a:cs typeface="Cambria"/>
              </a:rPr>
              <a:t>us</a:t>
            </a:r>
            <a:r>
              <a:rPr dirty="0" sz="1800" spc="500">
                <a:solidFill>
                  <a:srgbClr val="ACACAC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AAAAAA"/>
                </a:solidFill>
                <a:latin typeface="Cambria"/>
                <a:cs typeface="Cambria"/>
              </a:rPr>
              <a:t>‘</a:t>
            </a:r>
            <a:r>
              <a:rPr dirty="0" sz="1800">
                <a:solidFill>
                  <a:srgbClr val="AAAAAA"/>
                </a:solidFill>
                <a:latin typeface="Cambria"/>
                <a:cs typeface="Cambria"/>
              </a:rPr>
              <a:t>	</a:t>
            </a:r>
            <a:r>
              <a:rPr dirty="0" sz="1800" spc="-50">
                <a:solidFill>
                  <a:srgbClr val="001623"/>
                </a:solidFill>
                <a:latin typeface="Cambria"/>
                <a:cs typeface="Cambria"/>
              </a:rPr>
              <a:t>!</a:t>
            </a:r>
            <a:r>
              <a:rPr dirty="0" sz="1800">
                <a:solidFill>
                  <a:srgbClr val="001623"/>
                </a:solidFill>
                <a:latin typeface="Cambria"/>
                <a:cs typeface="Cambria"/>
              </a:rPr>
              <a:t>	</a:t>
            </a:r>
            <a:r>
              <a:rPr dirty="0" sz="1800" spc="-40">
                <a:solidFill>
                  <a:srgbClr val="AFAFAF"/>
                </a:solidFill>
                <a:latin typeface="Cambria"/>
                <a:cs typeface="Cambria"/>
              </a:rPr>
              <a:t>Iy-futuristic-</a:t>
            </a:r>
            <a:r>
              <a:rPr dirty="0" sz="1800" spc="-45">
                <a:solidFill>
                  <a:srgbClr val="AFAFAF"/>
                </a:solidFill>
                <a:latin typeface="Cambria"/>
                <a:cs typeface="Cambria"/>
              </a:rPr>
              <a:t>but-</a:t>
            </a:r>
            <a:r>
              <a:rPr dirty="0" sz="1800" spc="-20">
                <a:solidFill>
                  <a:srgbClr val="AFAFAF"/>
                </a:solidFill>
                <a:latin typeface="Cambria"/>
                <a:cs typeface="Cambria"/>
              </a:rPr>
              <a:t>realistic-</a:t>
            </a:r>
            <a:r>
              <a:rPr dirty="0" sz="1800" spc="-25">
                <a:solidFill>
                  <a:srgbClr val="AFAFAF"/>
                </a:solidFill>
                <a:latin typeface="Cambria"/>
                <a:cs typeface="Cambria"/>
              </a:rPr>
              <a:t>style-</a:t>
            </a:r>
            <a:r>
              <a:rPr dirty="0" sz="1800" spc="-30">
                <a:solidFill>
                  <a:srgbClr val="AFAFAF"/>
                </a:solidFill>
                <a:latin typeface="Cambria"/>
                <a:cs typeface="Cambria"/>
              </a:rPr>
              <a:t>10</a:t>
            </a:r>
            <a:r>
              <a:rPr dirty="0" sz="1800" spc="-100">
                <a:solidFill>
                  <a:srgbClr val="AFAFA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99A8B8"/>
                </a:solidFill>
                <a:latin typeface="Cambria"/>
                <a:cs typeface="Cambria"/>
              </a:rPr>
              <a:t>24.</a:t>
            </a:r>
            <a:r>
              <a:rPr dirty="0" sz="1800" spc="360">
                <a:solidFill>
                  <a:srgbClr val="99A8B8"/>
                </a:solidFill>
                <a:latin typeface="Cambria"/>
                <a:cs typeface="Cambria"/>
              </a:rPr>
              <a:t> </a:t>
            </a:r>
            <a:r>
              <a:rPr dirty="0" sz="1800" spc="-10">
                <a:solidFill>
                  <a:srgbClr val="ACACAC"/>
                </a:solidFill>
                <a:latin typeface="Cambria"/>
                <a:cs typeface="Cambria"/>
              </a:rPr>
              <a:t>ROI.webp</a:t>
            </a:r>
            <a:endParaRPr sz="1800">
              <a:latin typeface="Cambria"/>
              <a:cs typeface="Cambria"/>
            </a:endParaRPr>
          </a:p>
          <a:p>
            <a:pPr marL="731520">
              <a:lnSpc>
                <a:spcPct val="100000"/>
              </a:lnSpc>
              <a:spcBef>
                <a:spcPts val="900"/>
              </a:spcBef>
            </a:pPr>
            <a:r>
              <a:rPr dirty="0" sz="2200" spc="-10">
                <a:solidFill>
                  <a:srgbClr val="ACACAC"/>
                </a:solidFill>
                <a:latin typeface="Cambria"/>
                <a:cs typeface="Cambria"/>
              </a:rPr>
              <a:t>Source: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2026-05-27T18:18:13Z</dcterms:created>
  <dcterms:modified xsi:type="dcterms:W3CDTF">2026-05-27T18:18:13Z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2026-05-27T00:00:00Z</vt:filetime>
  </property>
  <property fmtid="{D5CDD505-2E9C-101B-9397-08002B2CF9AE}" pid="3" name="LastSaved">
    <vt:filetime>2026-05-27T00:00:00Z</vt:filetime>
  </property>
</Properties>
</file>